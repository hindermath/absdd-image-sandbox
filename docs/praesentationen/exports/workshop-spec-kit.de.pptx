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de72ab025db432f" /><Relationship Type="http://schemas.openxmlformats.org/officeDocument/2006/relationships/extended-properties" Target="/docProps/app.xml" Id="Re786cc3173454e61" /><Relationship Type="http://schemas.openxmlformats.org/officeDocument/2006/relationships/officeDocument" Target="/ppt/presentation.xml" Id="Rfc554583550244b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f3e369ccfd3478e"/>
  </p:sldMasterIdLst>
  <p:notesMasterIdLst>
    <p:notesMasterId xmlns:r="http://schemas.openxmlformats.org/officeDocument/2006/relationships" r:id="R350d9082af8a428a"/>
  </p:notesMasterIdLst>
  <p:sldIdLst>
    <p:sldId xmlns:r="http://schemas.openxmlformats.org/officeDocument/2006/relationships" id="256" r:id="R03e0d80d8875428c"/>
    <p:sldId xmlns:r="http://schemas.openxmlformats.org/officeDocument/2006/relationships" id="257" r:id="R7cb6f77e09754206"/>
    <p:sldId xmlns:r="http://schemas.openxmlformats.org/officeDocument/2006/relationships" id="258" r:id="Red37dec51bbf46c7"/>
    <p:sldId xmlns:r="http://schemas.openxmlformats.org/officeDocument/2006/relationships" id="259" r:id="R4bb485a558864361"/>
    <p:sldId xmlns:r="http://schemas.openxmlformats.org/officeDocument/2006/relationships" id="260" r:id="R5d65efc7c7054f70"/>
    <p:sldId xmlns:r="http://schemas.openxmlformats.org/officeDocument/2006/relationships" id="261" r:id="R0ffde6f6609d4d15"/>
    <p:sldId xmlns:r="http://schemas.openxmlformats.org/officeDocument/2006/relationships" id="262" r:id="R5c46a369ad3b467f"/>
    <p:sldId xmlns:r="http://schemas.openxmlformats.org/officeDocument/2006/relationships" id="263" r:id="R93c879f14f004dc2"/>
    <p:sldId xmlns:r="http://schemas.openxmlformats.org/officeDocument/2006/relationships" id="264" r:id="Rf83ecd2c87524779"/>
    <p:sldId xmlns:r="http://schemas.openxmlformats.org/officeDocument/2006/relationships" id="265" r:id="R57863658dcbf47f8"/>
    <p:sldId xmlns:r="http://schemas.openxmlformats.org/officeDocument/2006/relationships" id="266" r:id="Rc1c930c5661542fd"/>
    <p:sldId xmlns:r="http://schemas.openxmlformats.org/officeDocument/2006/relationships" id="267" r:id="R49c2fcc3ee7349da"/>
    <p:sldId xmlns:r="http://schemas.openxmlformats.org/officeDocument/2006/relationships" id="268" r:id="R99c5d72ad5ad4902"/>
    <p:sldId xmlns:r="http://schemas.openxmlformats.org/officeDocument/2006/relationships" id="269" r:id="R12596331a334452b"/>
    <p:sldId xmlns:r="http://schemas.openxmlformats.org/officeDocument/2006/relationships" id="270" r:id="Re53fa2b45dcc4f0f"/>
    <p:sldId xmlns:r="http://schemas.openxmlformats.org/officeDocument/2006/relationships" id="271" r:id="R0f06ada011534f71"/>
    <p:sldId xmlns:r="http://schemas.openxmlformats.org/officeDocument/2006/relationships" id="272" r:id="R88ce7a0d28554d71"/>
    <p:sldId xmlns:r="http://schemas.openxmlformats.org/officeDocument/2006/relationships" id="273" r:id="R2949cd327a314ba5"/>
    <p:sldId xmlns:r="http://schemas.openxmlformats.org/officeDocument/2006/relationships" id="274" r:id="Rc3c139b0daef42c8"/>
    <p:sldId xmlns:r="http://schemas.openxmlformats.org/officeDocument/2006/relationships" id="275" r:id="R865bc5a6c48a4c03"/>
    <p:sldId xmlns:r="http://schemas.openxmlformats.org/officeDocument/2006/relationships" id="276" r:id="R8ef0eff46a5e4989"/>
    <p:sldId xmlns:r="http://schemas.openxmlformats.org/officeDocument/2006/relationships" id="277" r:id="R9a2388ee24e94e2c"/>
    <p:sldId xmlns:r="http://schemas.openxmlformats.org/officeDocument/2006/relationships" id="278" r:id="R198ddf77684d4e1c"/>
    <p:sldId xmlns:r="http://schemas.openxmlformats.org/officeDocument/2006/relationships" id="279" r:id="R7f77b70e16c1461c"/>
    <p:sldId xmlns:r="http://schemas.openxmlformats.org/officeDocument/2006/relationships" id="280" r:id="R4d631b319f8b4e2e"/>
    <p:sldId xmlns:r="http://schemas.openxmlformats.org/officeDocument/2006/relationships" id="281" r:id="R0ff724da3fa941a6"/>
    <p:sldId xmlns:r="http://schemas.openxmlformats.org/officeDocument/2006/relationships" id="282" r:id="Re8e15b459875413f"/>
    <p:sldId xmlns:r="http://schemas.openxmlformats.org/officeDocument/2006/relationships" id="283" r:id="R2b6cceda1298403c"/>
    <p:sldId xmlns:r="http://schemas.openxmlformats.org/officeDocument/2006/relationships" id="284" r:id="R7c49946215624f5c"/>
    <p:sldId xmlns:r="http://schemas.openxmlformats.org/officeDocument/2006/relationships" id="285" r:id="R79d9ad284c2d4a31"/>
    <p:sldId xmlns:r="http://schemas.openxmlformats.org/officeDocument/2006/relationships" id="286" r:id="Rb90a71828d9a4de6"/>
    <p:sldId xmlns:r="http://schemas.openxmlformats.org/officeDocument/2006/relationships" id="287" r:id="Ra484add61bb4407f"/>
    <p:sldId xmlns:r="http://schemas.openxmlformats.org/officeDocument/2006/relationships" id="288" r:id="R961f847ca1524c86"/>
    <p:sldId xmlns:r="http://schemas.openxmlformats.org/officeDocument/2006/relationships" id="289" r:id="Rb1ff1ea8822742c9"/>
    <p:sldId xmlns:r="http://schemas.openxmlformats.org/officeDocument/2006/relationships" id="290" r:id="R36db14d2041f4dec"/>
    <p:sldId xmlns:r="http://schemas.openxmlformats.org/officeDocument/2006/relationships" id="291" r:id="R10c126eae207450f"/>
    <p:sldId xmlns:r="http://schemas.openxmlformats.org/officeDocument/2006/relationships" id="292" r:id="R6cebac8938e14c00"/>
    <p:sldId xmlns:r="http://schemas.openxmlformats.org/officeDocument/2006/relationships" id="293" r:id="R0aa0de66d5144e2a"/>
    <p:sldId xmlns:r="http://schemas.openxmlformats.org/officeDocument/2006/relationships" id="294" r:id="R678650f7a98443a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62f61f7c577414a" /><Relationship Type="http://schemas.openxmlformats.org/officeDocument/2006/relationships/slideMaster" Target="/ppt/slideMasters/slideMaster1.xml" Id="R4f3e369ccfd3478e" /><Relationship Type="http://schemas.openxmlformats.org/officeDocument/2006/relationships/notesMaster" Target="/ppt/notesMasters/notesMaster1.xml" Id="R350d9082af8a428a" /><Relationship Type="http://schemas.openxmlformats.org/officeDocument/2006/relationships/presProps" Target="/ppt/presProps.xml" Id="Rd3dd7c0c0c1d48d1" /><Relationship Type="http://schemas.openxmlformats.org/officeDocument/2006/relationships/tableStyles" Target="/ppt/tableStyles.xml" Id="R878fc1d7e387400e" /><Relationship Type="http://schemas.openxmlformats.org/officeDocument/2006/relationships/slide" Target="/ppt/slides/slide1.xml" Id="R03e0d80d8875428c" /><Relationship Type="http://schemas.openxmlformats.org/officeDocument/2006/relationships/slide" Target="/ppt/slides/slide2.xml" Id="R7cb6f77e09754206" /><Relationship Type="http://schemas.openxmlformats.org/officeDocument/2006/relationships/slide" Target="/ppt/slides/slide3.xml" Id="Red37dec51bbf46c7" /><Relationship Type="http://schemas.openxmlformats.org/officeDocument/2006/relationships/slide" Target="/ppt/slides/slide4.xml" Id="R4bb485a558864361" /><Relationship Type="http://schemas.openxmlformats.org/officeDocument/2006/relationships/slide" Target="/ppt/slides/slide5.xml" Id="R5d65efc7c7054f70" /><Relationship Type="http://schemas.openxmlformats.org/officeDocument/2006/relationships/slide" Target="/ppt/slides/slide6.xml" Id="R0ffde6f6609d4d15" /><Relationship Type="http://schemas.openxmlformats.org/officeDocument/2006/relationships/slide" Target="/ppt/slides/slide7.xml" Id="R5c46a369ad3b467f" /><Relationship Type="http://schemas.openxmlformats.org/officeDocument/2006/relationships/slide" Target="/ppt/slides/slide8.xml" Id="R93c879f14f004dc2" /><Relationship Type="http://schemas.openxmlformats.org/officeDocument/2006/relationships/slide" Target="/ppt/slides/slide9.xml" Id="Rf83ecd2c87524779" /><Relationship Type="http://schemas.openxmlformats.org/officeDocument/2006/relationships/slide" Target="/ppt/slides/slide10.xml" Id="R57863658dcbf47f8" /><Relationship Type="http://schemas.openxmlformats.org/officeDocument/2006/relationships/slide" Target="/ppt/slides/slide11.xml" Id="Rc1c930c5661542fd" /><Relationship Type="http://schemas.openxmlformats.org/officeDocument/2006/relationships/slide" Target="/ppt/slides/slide12.xml" Id="R49c2fcc3ee7349da" /><Relationship Type="http://schemas.openxmlformats.org/officeDocument/2006/relationships/slide" Target="/ppt/slides/slide13.xml" Id="R99c5d72ad5ad4902" /><Relationship Type="http://schemas.openxmlformats.org/officeDocument/2006/relationships/slide" Target="/ppt/slides/slide14.xml" Id="R12596331a334452b" /><Relationship Type="http://schemas.openxmlformats.org/officeDocument/2006/relationships/slide" Target="/ppt/slides/slide15.xml" Id="Re53fa2b45dcc4f0f" /><Relationship Type="http://schemas.openxmlformats.org/officeDocument/2006/relationships/slide" Target="/ppt/slides/slide16.xml" Id="R0f06ada011534f71" /><Relationship Type="http://schemas.openxmlformats.org/officeDocument/2006/relationships/slide" Target="/ppt/slides/slide17.xml" Id="R88ce7a0d28554d71" /><Relationship Type="http://schemas.openxmlformats.org/officeDocument/2006/relationships/slide" Target="/ppt/slides/slide18.xml" Id="R2949cd327a314ba5" /><Relationship Type="http://schemas.openxmlformats.org/officeDocument/2006/relationships/slide" Target="/ppt/slides/slide19.xml" Id="Rc3c139b0daef42c8" /><Relationship Type="http://schemas.openxmlformats.org/officeDocument/2006/relationships/slide" Target="/ppt/slides/slide20.xml" Id="R865bc5a6c48a4c03" /><Relationship Type="http://schemas.openxmlformats.org/officeDocument/2006/relationships/slide" Target="/ppt/slides/slide21.xml" Id="R8ef0eff46a5e4989" /><Relationship Type="http://schemas.openxmlformats.org/officeDocument/2006/relationships/slide" Target="/ppt/slides/slide22.xml" Id="R9a2388ee24e94e2c" /><Relationship Type="http://schemas.openxmlformats.org/officeDocument/2006/relationships/slide" Target="/ppt/slides/slide23.xml" Id="R198ddf77684d4e1c" /><Relationship Type="http://schemas.openxmlformats.org/officeDocument/2006/relationships/slide" Target="/ppt/slides/slide24.xml" Id="R7f77b70e16c1461c" /><Relationship Type="http://schemas.openxmlformats.org/officeDocument/2006/relationships/slide" Target="/ppt/slides/slide25.xml" Id="R4d631b319f8b4e2e" /><Relationship Type="http://schemas.openxmlformats.org/officeDocument/2006/relationships/slide" Target="/ppt/slides/slide26.xml" Id="R0ff724da3fa941a6" /><Relationship Type="http://schemas.openxmlformats.org/officeDocument/2006/relationships/slide" Target="/ppt/slides/slide27.xml" Id="Re8e15b459875413f" /><Relationship Type="http://schemas.openxmlformats.org/officeDocument/2006/relationships/slide" Target="/ppt/slides/slide28.xml" Id="R2b6cceda1298403c" /><Relationship Type="http://schemas.openxmlformats.org/officeDocument/2006/relationships/slide" Target="/ppt/slides/slide29.xml" Id="R7c49946215624f5c" /><Relationship Type="http://schemas.openxmlformats.org/officeDocument/2006/relationships/slide" Target="/ppt/slides/slide30.xml" Id="R79d9ad284c2d4a31" /><Relationship Type="http://schemas.openxmlformats.org/officeDocument/2006/relationships/slide" Target="/ppt/slides/slide31.xml" Id="Rb90a71828d9a4de6" /><Relationship Type="http://schemas.openxmlformats.org/officeDocument/2006/relationships/slide" Target="/ppt/slides/slide32.xml" Id="Ra484add61bb4407f" /><Relationship Type="http://schemas.openxmlformats.org/officeDocument/2006/relationships/slide" Target="/ppt/slides/slide33.xml" Id="R961f847ca1524c86" /><Relationship Type="http://schemas.openxmlformats.org/officeDocument/2006/relationships/slide" Target="/ppt/slides/slide34.xml" Id="Rb1ff1ea8822742c9" /><Relationship Type="http://schemas.openxmlformats.org/officeDocument/2006/relationships/slide" Target="/ppt/slides/slide35.xml" Id="R36db14d2041f4dec" /><Relationship Type="http://schemas.openxmlformats.org/officeDocument/2006/relationships/slide" Target="/ppt/slides/slide36.xml" Id="R10c126eae207450f" /><Relationship Type="http://schemas.openxmlformats.org/officeDocument/2006/relationships/slide" Target="/ppt/slides/slide37.xml" Id="R6cebac8938e14c00" /><Relationship Type="http://schemas.openxmlformats.org/officeDocument/2006/relationships/slide" Target="/ppt/slides/slide38.xml" Id="R0aa0de66d5144e2a" /><Relationship Type="http://schemas.openxmlformats.org/officeDocument/2006/relationships/slide" Target="/ppt/slides/slide39.xml" Id="R678650f7a98443a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6367bd9906a409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686d4dca4ce4f43" /><Relationship Type="http://schemas.openxmlformats.org/officeDocument/2006/relationships/notesMaster" Target="/ppt/notesMasters/notesMaster1.xml" Id="R3db7990dede84ed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28c0297f3a14b7a" /><Relationship Type="http://schemas.openxmlformats.org/officeDocument/2006/relationships/notesMaster" Target="/ppt/notesMasters/notesMaster1.xml" Id="Ra69e5a8d8d8a442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987e2ca38f141be" /><Relationship Type="http://schemas.openxmlformats.org/officeDocument/2006/relationships/notesMaster" Target="/ppt/notesMasters/notesMaster1.xml" Id="R17d25228f85f463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6da8829950a431d" /><Relationship Type="http://schemas.openxmlformats.org/officeDocument/2006/relationships/notesMaster" Target="/ppt/notesMasters/notesMaster1.xml" Id="R82069a3e62b34b5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bb555a0cc0c4ea8" /><Relationship Type="http://schemas.openxmlformats.org/officeDocument/2006/relationships/notesMaster" Target="/ppt/notesMasters/notesMaster1.xml" Id="Ra07b299bc490473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44a789c53f84554" /><Relationship Type="http://schemas.openxmlformats.org/officeDocument/2006/relationships/notesMaster" Target="/ppt/notesMasters/notesMaster1.xml" Id="R4a6dbc1a95014e6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ba2ff1d3ee74dfe" /><Relationship Type="http://schemas.openxmlformats.org/officeDocument/2006/relationships/notesMaster" Target="/ppt/notesMasters/notesMaster1.xml" Id="R79363c7dbbc04a8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43428bf775048ce" /><Relationship Type="http://schemas.openxmlformats.org/officeDocument/2006/relationships/notesMaster" Target="/ppt/notesMasters/notesMaster1.xml" Id="R8e81c85b411d44b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88eaf59da314196" /><Relationship Type="http://schemas.openxmlformats.org/officeDocument/2006/relationships/notesMaster" Target="/ppt/notesMasters/notesMaster1.xml" Id="R48d4ba3c2d94430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358115e05ed4d2b" /><Relationship Type="http://schemas.openxmlformats.org/officeDocument/2006/relationships/notesMaster" Target="/ppt/notesMasters/notesMaster1.xml" Id="R505b6c4f2ca2448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2fc625e6cef406e" /><Relationship Type="http://schemas.openxmlformats.org/officeDocument/2006/relationships/notesMaster" Target="/ppt/notesMasters/notesMaster1.xml" Id="R448500c09a59434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98a4231e1e24e35" /><Relationship Type="http://schemas.openxmlformats.org/officeDocument/2006/relationships/notesMaster" Target="/ppt/notesMasters/notesMaster1.xml" Id="Rb3b30a1bc69e4088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468a82cc8ef4c0e" /><Relationship Type="http://schemas.openxmlformats.org/officeDocument/2006/relationships/notesMaster" Target="/ppt/notesMasters/notesMaster1.xml" Id="R8a79591ce10f451c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d8cd5d13002e40e1" /><Relationship Type="http://schemas.openxmlformats.org/officeDocument/2006/relationships/notesMaster" Target="/ppt/notesMasters/notesMaster1.xml" Id="Rb23ddb072311400a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1de1b17d8f084251" /><Relationship Type="http://schemas.openxmlformats.org/officeDocument/2006/relationships/notesMaster" Target="/ppt/notesMasters/notesMaster1.xml" Id="Re3d6d4a9243d41eb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820eae28e9914754" /><Relationship Type="http://schemas.openxmlformats.org/officeDocument/2006/relationships/notesMaster" Target="/ppt/notesMasters/notesMaster1.xml" Id="R35f8cddc6213477d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ccee1ac569774287" /><Relationship Type="http://schemas.openxmlformats.org/officeDocument/2006/relationships/notesMaster" Target="/ppt/notesMasters/notesMaster1.xml" Id="Rc9a1803b632243f6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d1b4946c6f144ad1" /><Relationship Type="http://schemas.openxmlformats.org/officeDocument/2006/relationships/notesMaster" Target="/ppt/notesMasters/notesMaster1.xml" Id="R17472c177b614a43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553a8b1ba18543ce" /><Relationship Type="http://schemas.openxmlformats.org/officeDocument/2006/relationships/notesMaster" Target="/ppt/notesMasters/notesMaster1.xml" Id="Ref4843fe0eb246bc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076ce8febac74fce" /><Relationship Type="http://schemas.openxmlformats.org/officeDocument/2006/relationships/notesMaster" Target="/ppt/notesMasters/notesMaster1.xml" Id="Rbb872bfbd35249bd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40c61b1c369446bd" /><Relationship Type="http://schemas.openxmlformats.org/officeDocument/2006/relationships/notesMaster" Target="/ppt/notesMasters/notesMaster1.xml" Id="Rbc94f1e9e9fe4ba6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9900bf62867f4327" /><Relationship Type="http://schemas.openxmlformats.org/officeDocument/2006/relationships/notesMaster" Target="/ppt/notesMasters/notesMaster1.xml" Id="R45f8e3eee57041e4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9475f8f2375c4c7d" /><Relationship Type="http://schemas.openxmlformats.org/officeDocument/2006/relationships/notesMaster" Target="/ppt/notesMasters/notesMaster1.xml" Id="R4840994f1dab4b61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e9e306f371bf43d0" /><Relationship Type="http://schemas.openxmlformats.org/officeDocument/2006/relationships/notesMaster" Target="/ppt/notesMasters/notesMaster1.xml" Id="R0a5df13b98024ae3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3f86d80e69424d7a" /><Relationship Type="http://schemas.openxmlformats.org/officeDocument/2006/relationships/notesMaster" Target="/ppt/notesMasters/notesMaster1.xml" Id="R485a14ed8f3a4e38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a609e0294a0542c8" /><Relationship Type="http://schemas.openxmlformats.org/officeDocument/2006/relationships/notesMaster" Target="/ppt/notesMasters/notesMaster1.xml" Id="Rbd9448f64a104afd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4e58d21729694ccd" /><Relationship Type="http://schemas.openxmlformats.org/officeDocument/2006/relationships/notesMaster" Target="/ppt/notesMasters/notesMaster1.xml" Id="R808d0b9181c440a9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c599cb5051af4819" /><Relationship Type="http://schemas.openxmlformats.org/officeDocument/2006/relationships/notesMaster" Target="/ppt/notesMasters/notesMaster1.xml" Id="R6dd31cb369934dbe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c4a58cf61c404584" /><Relationship Type="http://schemas.openxmlformats.org/officeDocument/2006/relationships/notesMaster" Target="/ppt/notesMasters/notesMaster1.xml" Id="R735060508bd34cdc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c627b63fe87c4e10" /><Relationship Type="http://schemas.openxmlformats.org/officeDocument/2006/relationships/notesMaster" Target="/ppt/notesMasters/notesMaster1.xml" Id="R68f9fea42a5a49dc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8f009b180d3c4e6b" /><Relationship Type="http://schemas.openxmlformats.org/officeDocument/2006/relationships/notesMaster" Target="/ppt/notesMasters/notesMaster1.xml" Id="Raa11732a44644348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9498cd76343f475e" /><Relationship Type="http://schemas.openxmlformats.org/officeDocument/2006/relationships/notesMaster" Target="/ppt/notesMasters/notesMaster1.xml" Id="R1b1d1f05053c4a35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1f108bc2637147da" /><Relationship Type="http://schemas.openxmlformats.org/officeDocument/2006/relationships/notesMaster" Target="/ppt/notesMasters/notesMaster1.xml" Id="Rf341f714c9c845d7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9bf11b5da8384a13" /><Relationship Type="http://schemas.openxmlformats.org/officeDocument/2006/relationships/notesMaster" Target="/ppt/notesMasters/notesMaster1.xml" Id="R127ef826bec04a2a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2ca94222e0904d5d" /><Relationship Type="http://schemas.openxmlformats.org/officeDocument/2006/relationships/notesMaster" Target="/ppt/notesMasters/notesMaster1.xml" Id="R4e1f78cd8172438e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41096a89bfb94ef3" /><Relationship Type="http://schemas.openxmlformats.org/officeDocument/2006/relationships/notesMaster" Target="/ppt/notesMasters/notesMaster1.xml" Id="R36fa7533ecd24c5b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e3de7e54c9d2449b" /><Relationship Type="http://schemas.openxmlformats.org/officeDocument/2006/relationships/notesMaster" Target="/ppt/notesMasters/notesMaster1.xml" Id="Rfa287a0ead5e4a1b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29c55685684543c8" /><Relationship Type="http://schemas.openxmlformats.org/officeDocument/2006/relationships/notesMaster" Target="/ppt/notesMasters/notesMaster1.xml" Id="R00369d9e8faa4276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dbb48a09ec5d4911" /><Relationship Type="http://schemas.openxmlformats.org/officeDocument/2006/relationships/notesMaster" Target="/ppt/notesMasters/notesMaster1.xml" Id="Rc8f7884193994ac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W01</a:t>
            </a:r>
          </a:p>
          <a:p xmlns:a="http://schemas.openxmlformats.org/drawingml/2006/main">
            <a:r>
              <a:t>KI bedeutet künstliche Intelligenz. Ein Container ist eine begrenzte</a:t>
            </a:r>
          </a:p>
          <a:p xmlns:a="http://schemas.openxmlformats.org/drawingml/2006/main">
            <a:r>
              <a:t>Arbeitsumgebung, keine vollständige Sicherheitsgarantie. Dieser Workshop</a:t>
            </a:r>
          </a:p>
          <a:p xmlns:a="http://schemas.openxmlformats.org/drawingml/2006/main">
            <a:r>
              <a:t>setzt eine durch die Lernbegleitung vorbereitete Umgebung voraus. Die</a:t>
            </a:r>
          </a:p>
          <a:p xmlns:a="http://schemas.openxmlformats.org/drawingml/2006/main">
            <a:r>
              <a:t>vier IT-Ausbildungsberufe und alle vier Fachrichtungen der</a:t>
            </a:r>
          </a:p>
          <a:p xmlns:a="http://schemas.openxmlformats.org/drawingml/2006/main">
            <a:r>
              <a:t>Fachinformatik können denselben Einstieg nutzen. Die praktischen</a:t>
            </a:r>
          </a:p>
          <a:p xmlns:a="http://schemas.openxmlformats.org/drawingml/2006/main">
            <a:r>
              <a:t>Aufgaben dürfen nur innerhalb der jeweils genehmigten Grenzen ausgeführt</a:t>
            </a:r>
          </a:p>
          <a:p xmlns:a="http://schemas.openxmlformats.org/drawingml/2006/main">
            <a:r>
              <a:t>werden.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W02</a:t>
            </a:r>
          </a:p>
          <a:p xmlns:a="http://schemas.openxmlformats.org/drawingml/2006/main">
            <a:r>
              <a:t>Spec Kit gliedert einen Arbeitsauftrag in Anforderungen, Planung und</a:t>
            </a:r>
          </a:p>
          <a:p xmlns:a="http://schemas.openxmlformats.org/drawingml/2006/main">
            <a:r>
              <a:t>Aufgaben. Ein Review ist eine bewusste Prüfung durch eine andere Person</a:t>
            </a:r>
          </a:p>
          <a:p xmlns:a="http://schemas.openxmlformats.org/drawingml/2006/main">
            <a:r>
              <a:t>oder einen dafür beauftragten Agenten. Heute werden diese Schritte</a:t>
            </a:r>
          </a:p>
          <a:p xmlns:a="http://schemas.openxmlformats.org/drawingml/2006/main">
            <a:r>
              <a:t>erklärt, nicht automatisch genehmigt. Nach jeder Phase darf die Gruppe</a:t>
            </a:r>
          </a:p>
          <a:p xmlns:a="http://schemas.openxmlformats.org/drawingml/2006/main">
            <a:r>
              <a:t>pausieren. Details stehen im Lernendenindex und in der FAQ dieses</a:t>
            </a:r>
          </a:p>
          <a:p xmlns:a="http://schemas.openxmlformats.org/drawingml/2006/main">
            <a:r>
              <a:t>Repositories.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W03</a:t>
            </a:r>
          </a:p>
          <a:p xmlns:a="http://schemas.openxmlformats.org/drawingml/2006/main">
            <a:r>
              <a:t>Ein beschreibbarer Mount erlaubt Änderungen und Löschungen auch auf dem</a:t>
            </a:r>
          </a:p>
          <a:p xmlns:a="http://schemas.openxmlformats.org/drawingml/2006/main">
            <a:r>
              <a:t>Host. Ein Volume ist dagegen ein von Podman verwalteter dauerhafter</a:t>
            </a:r>
          </a:p>
          <a:p xmlns:a="http://schemas.openxmlformats.org/drawingml/2006/main">
            <a:r>
              <a:t>Datenspeicher. Beides ist keine Datensicherung. Desktop-IDE und</a:t>
            </a:r>
          </a:p>
          <a:p xmlns:a="http://schemas.openxmlformats.org/drawingml/2006/main">
            <a:r>
              <a:t>Desktop-Agenten sind nicht automatisch mit der CLI im Container</a:t>
            </a:r>
          </a:p>
          <a:p xmlns:a="http://schemas.openxmlformats.org/drawingml/2006/main">
            <a:r>
              <a:t>verbunden. Textalternative zum Schaubild: Der Host stellt einen</a:t>
            </a:r>
          </a:p>
          <a:p xmlns:a="http://schemas.openxmlformats.org/drawingml/2006/main">
            <a:r>
              <a:t>ausgewählten Projektordner bereit; der Container greift über den Mount</a:t>
            </a:r>
          </a:p>
          <a:p xmlns:a="http://schemas.openxmlformats.org/drawingml/2006/main">
            <a:r>
              <a:t>darauf zu; Agentenzustände liegen in getrennten Volumes.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W04</a:t>
            </a:r>
          </a:p>
          <a:p xmlns:a="http://schemas.openxmlformats.org/drawingml/2006/main">
            <a:r>
              <a:t>Ort: Host im Sandbox-Checkout, Bash oder PowerShell 7. podman info soll</a:t>
            </a:r>
          </a:p>
          <a:p xmlns:a="http://schemas.openxmlformats.org/drawingml/2006/main">
            <a:r>
              <a:t>antworten; config prüft die Compose-Datei ohne Build oder Start.</a:t>
            </a:r>
          </a:p>
          <a:p xmlns:a="http://schemas.openxmlformats.org/drawingml/2006/main">
            <a:r>
              <a:t>Rootless bedeutet Betrieb ohne Root-Rechte auf dem jeweiligen</a:t>
            </a:r>
          </a:p>
          <a:p xmlns:a="http://schemas.openxmlformats.org/drawingml/2006/main">
            <a:r>
              <a:t>Linux-System. Windows und Ubuntu/WSL2 verwenden getrennte</a:t>
            </a:r>
          </a:p>
          <a:p xmlns:a="http://schemas.openxmlformats.org/drawingml/2006/main">
            <a:r>
              <a:t>Podman-Laufzeiten. Ein ARM64-Erfolg beweist keine AMD64-Abnahme; WSL2</a:t>
            </a:r>
          </a:p>
          <a:p xmlns:a="http://schemas.openxmlformats.org/drawingml/2006/main">
            <a:r>
              <a:t>ist kein Nachweis nativer Linux-Hardware. Fehlerhilfe:</a:t>
            </a:r>
          </a:p>
          <a:p xmlns:a="http://schemas.openxmlformats.org/drawingml/2006/main">
            <a:r>
              <a:t>docs/fuer-lernende/installation.md und troubleshooting.md.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W05</a:t>
            </a:r>
          </a:p>
          <a:p xmlns:a="http://schemas.openxmlformats.org/drawingml/2006/main">
            <a:r>
              <a:t>Ort: Host im eigenen Projekt-Checkout. Ein Fork erhält die Beziehung und</a:t>
            </a:r>
          </a:p>
          <a:p xmlns:a="http://schemas.openxmlformats.org/drawingml/2006/main">
            <a:r>
              <a:t>Historie der Referenz und bleibt Standard. Ein Template erzeugt eine</a:t>
            </a:r>
          </a:p>
          <a:p xmlns:a="http://schemas.openxmlformats.org/drawingml/2006/main">
            <a:r>
              <a:t>unabhängige Historie; das zusätzliche Profil ist vorbereitet, noch nicht</a:t>
            </a:r>
          </a:p>
          <a:p xmlns:a="http://schemas.openxmlformats.org/drawingml/2006/main">
            <a:r>
              <a:t>aktiviert. Ein Remote-Name erzeugt keine gemeinsame Historie: keine</a:t>
            </a:r>
          </a:p>
          <a:p xmlns:a="http://schemas.openxmlformats.org/drawingml/2006/main">
            <a:r>
              <a:t>pauschalen Upstream- oder Unrelated-History-Merges. Kopierte Freigaben,</a:t>
            </a:r>
          </a:p>
          <a:p xmlns:a="http://schemas.openxmlformats.org/drawingml/2006/main">
            <a:r>
              <a:t>Statistiken und Run-States sind nur Referenzkontext. Für SysInfo/Web</a:t>
            </a:r>
          </a:p>
          <a:p xmlns:a="http://schemas.openxmlformats.org/drawingml/2006/main">
            <a:r>
              <a:t>weiterhin ein leeres Produktrepo und genau ein Lernpaket nutzen, nicht</a:t>
            </a:r>
          </a:p>
          <a:p xmlns:a="http://schemas.openxmlformats.org/drawingml/2006/main">
            <a:r>
              <a:t>die gesamte Sandbox. Die Home-Baseline bleibt separat. Die Befehle</a:t>
            </a:r>
          </a:p>
          <a:p xmlns:a="http://schemas.openxmlformats.org/drawingml/2006/main">
            <a:r>
              <a:t>ändern nichts, können aber private URLs zeigen; Ausgaben vor Weitergabe</a:t>
            </a:r>
          </a:p>
          <a:p xmlns:a="http://schemas.openxmlformats.org/drawingml/2006/main">
            <a:r>
              <a:t>bereinigen. GitLab, Codeberg, Forgejo und institutionelle Systeme</a:t>
            </a:r>
          </a:p>
          <a:p xmlns:a="http://schemas.openxmlformats.org/drawingml/2006/main">
            <a:r>
              <a:t>bleiben möglich. Commit/Push bleiben getrennte Entscheidungen. Details:</a:t>
            </a:r>
          </a:p>
          <a:p xmlns:a="http://schemas.openxmlformats.org/drawingml/2006/main">
            <a:r>
              <a:t>docs/fuer-lernende/template-profil.md.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W06</a:t>
            </a:r>
          </a:p>
          <a:p xmlns:a="http://schemas.openxmlformats.org/drawingml/2006/main">
            <a:r>
              <a:t>Ort: Host im Sandbox-Checkout, Bash. PowerShell-Alternative: if (-not</a:t>
            </a:r>
          </a:p>
          <a:p xmlns:a="http://schemas.openxmlformats.org/drawingml/2006/main">
            <a:r>
              <a:t>(Test-Path -LiteralPath .env)) { Copy-Item .env.example .env };</a:t>
            </a:r>
          </a:p>
          <a:p xmlns:a="http://schemas.openxmlformats.org/drawingml/2006/main">
            <a:r>
              <a:t>entsprechend für opencode.env. Unter Windows lokale Dateirechte über die</a:t>
            </a:r>
          </a:p>
          <a:p xmlns:a="http://schemas.openxmlformats.org/drawingml/2006/main">
            <a:r>
              <a:t>Dateisystem-Berechtigungen schützen; chmod ist dort keine allgemeine</a:t>
            </a:r>
          </a:p>
          <a:p xmlns:a="http://schemas.openxmlformats.org/drawingml/2006/main">
            <a:r>
              <a:t>ACL-Anweisung. Erwartung: vorhandene Dateien bleiben unverändert. .env</a:t>
            </a:r>
          </a:p>
          <a:p xmlns:a="http://schemas.openxmlformats.org/drawingml/2006/main">
            <a:r>
              <a:t>wird nicht in das Image eingebaut. Neue Mounts brauchen eine</a:t>
            </a:r>
          </a:p>
          <a:p xmlns:a="http://schemas.openxmlformats.org/drawingml/2006/main">
            <a:r>
              <a:t>kontrollierte Container-Neuerstellung, nicht zwingend einen</a:t>
            </a:r>
          </a:p>
          <a:p xmlns:a="http://schemas.openxmlformats.org/drawingml/2006/main">
            <a:r>
              <a:t>Image-Neubau. Details: installation.md und faq.md.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W07</a:t>
            </a:r>
          </a:p>
          <a:p xmlns:a="http://schemas.openxmlformats.org/drawingml/2006/main">
            <a:r>
              <a:t>Der erste Befehl läuft auf dem Host, die folgenden in der geöffneten</a:t>
            </a:r>
          </a:p>
          <a:p xmlns:a="http://schemas.openxmlformats.org/drawingml/2006/main">
            <a:r>
              <a:t>Container-Shell. Erwartung: adedev, UID ungleich 0 und die</a:t>
            </a:r>
          </a:p>
          <a:p xmlns:a="http://schemas.openxmlformats.org/drawingml/2006/main">
            <a:r>
              <a:t>Hello-Ausgabe. Für C#, Java, Go, Rust oder Swift die jeweilige</a:t>
            </a:r>
          </a:p>
          <a:p xmlns:a="http://schemas.openxmlformats.org/drawingml/2006/main">
            <a:r>
              <a:t>Toolchain-Anleitung verwenden. Eine IDE auf dem Host darf Dateien</a:t>
            </a:r>
          </a:p>
          <a:p xmlns:a="http://schemas.openxmlformats.org/drawingml/2006/main">
            <a:r>
              <a:t>bearbeiten; Compiler müssen nicht zusätzlich auf dem Host installiert</a:t>
            </a:r>
          </a:p>
          <a:p xmlns:a="http://schemas.openxmlformats.org/drawingml/2006/main">
            <a:r>
              <a:t>sein. Die Anleitung behauptet weder perfekte Isolation noch einen</a:t>
            </a:r>
          </a:p>
          <a:p xmlns:a="http://schemas.openxmlformats.org/drawingml/2006/main">
            <a:r>
              <a:t>bestandenen Windows-/Linux-Test. Fehlerhilfe: erste-schritte.md.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W08</a:t>
            </a:r>
          </a:p>
          <a:p xmlns:a="http://schemas.openxmlformats.org/drawingml/2006/main">
            <a:r>
              <a:t>Eine Agent-CLI ist ein Kommandozeilenprogramm, das einen KI-Agenten</a:t>
            </a:r>
          </a:p>
          <a:p xmlns:a="http://schemas.openxmlformats.org/drawingml/2006/main">
            <a:r>
              <a:t>ausführt. Ihre Installation ist keine Provider-, Modell- oder</a:t>
            </a:r>
          </a:p>
          <a:p xmlns:a="http://schemas.openxmlformats.org/drawingml/2006/main">
            <a:r>
              <a:t>Datenfreigabe. OpenCode 2 hat in dieser Sandbox ausdrücklich offene</a:t>
            </a:r>
          </a:p>
          <a:p xmlns:a="http://schemas.openxmlformats.org/drawingml/2006/main">
            <a:r>
              <a:t>Kontroll- und Audit-Nachprüfungen. Für praktische Aufgaben nur einen</a:t>
            </a:r>
          </a:p>
          <a:p xmlns:a="http://schemas.openxmlformats.org/drawingml/2006/main">
            <a:r>
              <a:t>projektspezifisch freigegebenen Agenten verwenden. Der Prompt-Dispatcher</a:t>
            </a:r>
          </a:p>
          <a:p xmlns:a="http://schemas.openxmlformats.org/drawingml/2006/main">
            <a:r>
              <a:t>unterstützt Einzelaufträge, umgeht aber weder Anmeldung noch Freigaben.</a:t>
            </a:r>
          </a:p>
          <a:p xmlns:a="http://schemas.openxmlformats.org/drawingml/2006/main">
            <a:r>
              <a:t>Siehe agenten-und-spec-kit.md und agent-prompt.md.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W09</a:t>
            </a:r>
          </a:p>
          <a:p xmlns:a="http://schemas.openxmlformats.org/drawingml/2006/main">
            <a:r>
              <a:t>Ort: Chat eines freigegebenen Agenten im Anwendungsprojekt, nicht in der</a:t>
            </a:r>
          </a:p>
          <a:p xmlns:a="http://schemas.openxmlformats.org/drawingml/2006/main">
            <a:r>
              <a:t>Shell. /init ist kein universeller Agentenbefehl. Vor einer Änderung die</a:t>
            </a:r>
          </a:p>
          <a:p xmlns:a="http://schemas.openxmlformats.org/drawingml/2006/main">
            <a:r>
              <a:t>bestehenden Dateien lesen; in einem bestehenden Projekt keine Regeln</a:t>
            </a:r>
          </a:p>
          <a:p xmlns:a="http://schemas.openxmlformats.org/drawingml/2006/main">
            <a:r>
              <a:t>pauschal ersetzen. In dieser Sandbox werden gemeinsame Agent-Regeln auf</a:t>
            </a:r>
          </a:p>
          <a:p xmlns:a="http://schemas.openxmlformats.org/drawingml/2006/main">
            <a:r>
              <a:t>fünf Flächen synchron gepflegt. Ein Anwendungsprojekt bestimmt seine</a:t>
            </a:r>
          </a:p>
          <a:p xmlns:a="http://schemas.openxmlformats.org/drawingml/2006/main">
            <a:r>
              <a:t>eigenen gepflegten Flächen.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W10</a:t>
            </a:r>
          </a:p>
          <a:p xmlns:a="http://schemas.openxmlformats.org/drawingml/2006/main">
            <a:r>
              <a:t>Ort: Container-Bash im vorbereiteten Anwendungsprojekt. Erwartung:</a:t>
            </a:r>
          </a:p>
          <a:p xmlns:a="http://schemas.openxmlformats.org/drawingml/2006/main">
            <a:r>
              <a:t>CLI-Version und verfügbare Werkzeuge werden angezeigt. Initialisierung</a:t>
            </a:r>
          </a:p>
          <a:p xmlns:a="http://schemas.openxmlformats.org/drawingml/2006/main">
            <a:r>
              <a:t>schreibt Projektartefakte und ist deshalb ein gesondert genehmigter</a:t>
            </a:r>
          </a:p>
          <a:p xmlns:a="http://schemas.openxmlformats.org/drawingml/2006/main">
            <a:r>
              <a:t>Schritt. Bei vorhandenen Dateien zuerst Diff, Sicherung und Zweck</a:t>
            </a:r>
          </a:p>
          <a:p xmlns:a="http://schemas.openxmlformats.org/drawingml/2006/main">
            <a:r>
              <a:t>klären. Linux-Skripte passen zum Container; PowerShell ist zusätzlich</a:t>
            </a:r>
          </a:p>
          <a:p xmlns:a="http://schemas.openxmlformats.org/drawingml/2006/main">
            <a:r>
              <a:t>installiert, aber nicht mit dem Windows-Host zu verwechseln. Die</a:t>
            </a:r>
          </a:p>
          <a:p xmlns:a="http://schemas.openxmlformats.org/drawingml/2006/main">
            <a:r>
              <a:t>gepinnte Version steht im Dockerfile. Kein Initialisierungsbefehl wird</a:t>
            </a:r>
          </a:p>
          <a:p xmlns:a="http://schemas.openxmlformats.org/drawingml/2006/main">
            <a:r>
              <a:t>durch das bloße Lesen der Folie ausgeführt.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W11</a:t>
            </a:r>
          </a:p>
          <a:p xmlns:a="http://schemas.openxmlformats.org/drawingml/2006/main">
            <a:r>
              <a:t>Beispiele im Agenten-Chat: Codex $speckit-analyze; OpenCode</a:t>
            </a:r>
          </a:p>
          <a:p xmlns:a="http://schemas.openxmlformats.org/drawingml/2006/main">
            <a:r>
              <a:t>/speckit.analyze; Claude Code, Antigravity und Copilot je nach</a:t>
            </a:r>
          </a:p>
          <a:p xmlns:a="http://schemas.openxmlformats.org/drawingml/2006/main">
            <a:r>
              <a:t>installierter Skill-Integration /speckit-analyze. Dies sind</a:t>
            </a:r>
          </a:p>
          <a:p xmlns:a="http://schemas.openxmlformats.org/drawingml/2006/main">
            <a:r>
              <a:t>Integrationsbeispiele, keine aktuelle Freigabe aller Agenten. Die</a:t>
            </a:r>
          </a:p>
          <a:p xmlns:a="http://schemas.openxmlformats.org/drawingml/2006/main">
            <a:r>
              <a:t>folgenden Prompts verwenden Codex-Schreibweise. In einer anderen</a:t>
            </a:r>
          </a:p>
          <a:p xmlns:a="http://schemas.openxmlformats.org/drawingml/2006/main">
            <a:r>
              <a:t>Integration nur den Aufruf anpassen; Auftrag und Sicherheitsgrenzen</a:t>
            </a:r>
          </a:p>
          <a:p xmlns:a="http://schemas.openxmlformats.org/drawingml/2006/main">
            <a:r>
              <a:t>erhalten. Unterstützte CLI-Schlüssel und tatsächlich erzeugte Dateien</a:t>
            </a:r>
          </a:p>
          <a:p xmlns:a="http://schemas.openxmlformats.org/drawingml/2006/main">
            <a:r>
              <a:t>vor einer Live-Demo prüfen.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W12</a:t>
            </a:r>
          </a:p>
          <a:p xmlns:a="http://schemas.openxmlformats.org/drawingml/2006/main">
            <a:r>
              <a:t>Ort: Container-Bash im initialisierten Anwendungsprojekt. Erwartung:</a:t>
            </a:r>
          </a:p>
          <a:p xmlns:a="http://schemas.openxmlformats.org/drawingml/2006/main">
            <a:r>
              <a:t>Liste installierter Presets und bestehender Änderungen. Die</a:t>
            </a:r>
          </a:p>
          <a:p xmlns:a="http://schemas.openxmlformats.org/drawingml/2006/main">
            <a:r>
              <a:t>Repository-Matrizen sind geprüfte Quellen für Versionen, Prioritäten und</a:t>
            </a:r>
          </a:p>
          <a:p xmlns:a="http://schemas.openxmlformats.org/drawingml/2006/main">
            <a:r>
              <a:t>Archive. Nicht still auf latest wechseln. Eine neue Version kann</a:t>
            </a:r>
          </a:p>
          <a:p xmlns:a="http://schemas.openxmlformats.org/drawingml/2006/main">
            <a:r>
              <a:t>Nachweise und Quellenbindungen ändern. Die Lernbegleitung entscheidet</a:t>
            </a:r>
          </a:p>
          <a:p xmlns:a="http://schemas.openxmlformats.org/drawingml/2006/main">
            <a:r>
              <a:t>über anwendbare Profile und Installationsrechte.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W13</a:t>
            </a:r>
          </a:p>
          <a:p xmlns:a="http://schemas.openxmlformats.org/drawingml/2006/main">
            <a:r>
              <a:t>Die sechs Bereiche sind der fachliche Einstieg. Das hiesige</a:t>
            </a:r>
          </a:p>
          <a:p xmlns:a="http://schemas.openxmlformats.org/drawingml/2006/main">
            <a:r>
              <a:t>Standardprofil enthält acht Pakete: zusätzlich Autonomous Run und</a:t>
            </a:r>
          </a:p>
          <a:p xmlns:a="http://schemas.openxmlformats.org/drawingml/2006/main">
            <a:r>
              <a:t>Parallel Autonomous Run. Ihre Installation erteilt keine autonome</a:t>
            </a:r>
          </a:p>
          <a:p xmlns:a="http://schemas.openxmlformats.org/drawingml/2006/main">
            <a:r>
              <a:t>Ausführungsbefugnis. Für den Workshop vorhandene, genehmigte Profile</a:t>
            </a:r>
          </a:p>
          <a:p xmlns:a="http://schemas.openxmlformats.org/drawingml/2006/main">
            <a:r>
              <a:t>bevorzugen. Die vollständige lokale Pilotmatrix enthält 14 Pakete; sie</a:t>
            </a:r>
          </a:p>
          <a:p xmlns:a="http://schemas.openxmlformats.org/drawingml/2006/main">
            <a:r>
              <a:t>ist nicht pauschal für jedes Lernendenprojekt vorgeschrieben.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W14</a:t>
            </a:r>
          </a:p>
          <a:p xmlns:a="http://schemas.openxmlformats.org/drawingml/2006/main">
            <a:r>
              <a:t>Ein Secret ist eine vertrauliche Zugangsinformation. Eine Lieferkette</a:t>
            </a:r>
          </a:p>
          <a:p xmlns:a="http://schemas.openxmlformats.org/drawingml/2006/main">
            <a:r>
              <a:t>umfasst Quellen, Pakete und Buildschritte. Ein Architekturentscheid</a:t>
            </a:r>
          </a:p>
          <a:p xmlns:a="http://schemas.openxmlformats.org/drawingml/2006/main">
            <a:r>
              <a:t>erklärt eine bewusste technische Wahl mit Alternativen und Folgen.</a:t>
            </a:r>
          </a:p>
          <a:p xmlns:a="http://schemas.openxmlformats.org/drawingml/2006/main">
            <a:r>
              <a:t>Beispiel: Projektordner wird gemountet, das gesamte Host-Home nicht.</a:t>
            </a:r>
          </a:p>
          <a:p xmlns:a="http://schemas.openxmlformats.org/drawingml/2006/main">
            <a:r>
              <a:t>Eine SBOM ist ein Komponentenverzeichnis; sie beweist nicht, dass ein</a:t>
            </a:r>
          </a:p>
          <a:p xmlns:a="http://schemas.openxmlformats.org/drawingml/2006/main">
            <a:r>
              <a:t>Image frei von Schwachstellen oder genehmigt ist.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W15</a:t>
            </a:r>
          </a:p>
          <a:p xmlns:a="http://schemas.openxmlformats.org/drawingml/2006/main">
            <a:r>
              <a:t>iSAQB bezeichnet eine Architektur-Prüfbasis; für den Einstieg genügt</a:t>
            </a:r>
          </a:p>
          <a:p xmlns:a="http://schemas.openxmlformats.org/drawingml/2006/main">
            <a:r>
              <a:t>eine nachvollziehbare Beschreibung von Bausteinen und Entscheidungen.</a:t>
            </a:r>
          </a:p>
          <a:p xmlns:a="http://schemas.openxmlformats.org/drawingml/2006/main">
            <a:r>
              <a:t>A11Y ist eine Kurzform für Accessibility, also Barrierefreiheit. WCAG</a:t>
            </a:r>
          </a:p>
          <a:p xmlns:a="http://schemas.openxmlformats.org/drawingml/2006/main">
            <a:r>
              <a:t>2.2 AA ist ein Prüfziel für anwendbare Kriterien, keine automatische</a:t>
            </a:r>
          </a:p>
          <a:p xmlns:a="http://schemas.openxmlformats.org/drawingml/2006/main">
            <a:r>
              <a:t>Eigenschaft dieser Präsentation. Tastatur, Screenreader, Lesereihenfolge</a:t>
            </a:r>
          </a:p>
          <a:p xmlns:a="http://schemas.openxmlformats.org/drawingml/2006/main">
            <a:r>
              <a:t>und Verständlichkeit mit Menschen prüfen. CEFR B2 beschreibt unser</a:t>
            </a:r>
          </a:p>
          <a:p xmlns:a="http://schemas.openxmlformats.org/drawingml/2006/main">
            <a:r>
              <a:t>Sprachziel.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W16</a:t>
            </a:r>
          </a:p>
          <a:p xmlns:a="http://schemas.openxmlformats.org/drawingml/2006/main">
            <a:r>
              <a:t>Parity bedeutet hier inhaltliche Übereinstimmung, nicht identische</a:t>
            </a:r>
          </a:p>
          <a:p xmlns:a="http://schemas.openxmlformats.org/drawingml/2006/main">
            <a:r>
              <a:t>Software auf allen Plattformen. Bash- und PowerShell-Varianten können</a:t>
            </a:r>
          </a:p>
          <a:p xmlns:a="http://schemas.openxmlformats.org/drawingml/2006/main">
            <a:r>
              <a:t>auf demselben Host getestet werden; das ist kein nativer</a:t>
            </a:r>
          </a:p>
          <a:p xmlns:a="http://schemas.openxmlformats.org/drawingml/2006/main">
            <a:r>
              <a:t>Windows-Nachweis. Fehlende Tests bleiben Open mit Owner, nächstem</a:t>
            </a:r>
          </a:p>
          <a:p xmlns:a="http://schemas.openxmlformats.org/drawingml/2006/main">
            <a:r>
              <a:t>Schritt und Anlass zur Neubewertung. Der Container bleibt Linux, auch</a:t>
            </a:r>
          </a:p>
          <a:p xmlns:a="http://schemas.openxmlformats.org/drawingml/2006/main">
            <a:r>
              <a:t>wenn PowerShell darin läuft.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W17</a:t>
            </a:r>
          </a:p>
          <a:p xmlns:a="http://schemas.openxmlformats.org/drawingml/2006/main">
            <a:r>
              <a:t>Ort: Container-Bash im Anwendungsprojekt; /ade-dev-sandbox ist der</a:t>
            </a:r>
          </a:p>
          <a:p xmlns:a="http://schemas.openxmlformats.org/drawingml/2006/main">
            <a:r>
              <a:t>vorhandene Repository-Mount. Erwartung: Vorschau, keine Installation.</a:t>
            </a:r>
          </a:p>
          <a:p xmlns:a="http://schemas.openxmlformats.org/drawingml/2006/main">
            <a:r>
              <a:t>Vorhandene lokale Ergänzungen und Versionen sichern. Das Weglassen von</a:t>
            </a:r>
          </a:p>
          <a:p xmlns:a="http://schemas.openxmlformats.org/drawingml/2006/main">
            <a:r>
              <a:t>--dry-run ist ein schreibender Schritt und braucht einen eigenen</a:t>
            </a:r>
          </a:p>
          <a:p xmlns:a="http://schemas.openxmlformats.org/drawingml/2006/main">
            <a:r>
              <a:t>Auftrag. Skriptoptionen nicht mit Werkzeugen anderer</a:t>
            </a:r>
          </a:p>
          <a:p xmlns:a="http://schemas.openxmlformats.org/drawingml/2006/main">
            <a:r>
              <a:t>Sandbox-Repositories vermischen. Bei fehlendem Mount die Lernbegleitung</a:t>
            </a:r>
          </a:p>
          <a:p xmlns:a="http://schemas.openxmlformats.org/drawingml/2006/main">
            <a:r>
              <a:t>fragen, keinen fremden Installer herunterladen.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W18</a:t>
            </a:r>
          </a:p>
          <a:p xmlns:a="http://schemas.openxmlformats.org/drawingml/2006/main">
            <a:r>
              <a:t>Die Matrixnamen stehen unter scripts/config/. Das 14er-Profil ist</a:t>
            </a:r>
          </a:p>
          <a:p xmlns:a="http://schemas.openxmlformats.org/drawingml/2006/main">
            <a:r>
              <a:t>ausdrücklich ein optionales Statistics-Pilotprofil. Keine Modelle in</a:t>
            </a:r>
          </a:p>
          <a:p xmlns:a="http://schemas.openxmlformats.org/drawingml/2006/main">
            <a:r>
              <a:t>Feature-Specs festschreiben und keine Provider- oder Plattformfreigabe</a:t>
            </a:r>
          </a:p>
          <a:p xmlns:a="http://schemas.openxmlformats.org/drawingml/2006/main">
            <a:r>
              <a:t>aus einer Preset-Installation ableiten. Vor Auswahl Zweck,</a:t>
            </a:r>
          </a:p>
          <a:p xmlns:a="http://schemas.openxmlformats.org/drawingml/2006/main">
            <a:r>
              <a:t>Voraussetzungen und Auswirkungen mit der Lernbegleitung prüfen.</a:t>
            </a:r>
          </a:p>
          <a:p xmlns:a="http://schemas.openxmlformats.org/drawingml/2006/main">
            <a:r>
              <a:t>Assurance-Paketversion und Evidence-Schema sind verschiedene</a:t>
            </a:r>
          </a:p>
          <a:p xmlns:a="http://schemas.openxmlformats.org/drawingml/2006/main">
            <a:r>
              <a:t>Versionsangaben.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W19</a:t>
            </a:r>
          </a:p>
          <a:p xmlns:a="http://schemas.openxmlformats.org/drawingml/2006/main">
            <a:r>
              <a:t>Ort: Container-Bash im Projekt. --check-only prüft die ausgewählte</a:t>
            </a:r>
          </a:p>
          <a:p xmlns:a="http://schemas.openxmlformats.org/drawingml/2006/main">
            <a:r>
              <a:t>Matrix ohne Schreibabsicht. Das Beispiel verwendet das Standardprofil</a:t>
            </a:r>
          </a:p>
          <a:p xmlns:a="http://schemas.openxmlformats.org/drawingml/2006/main">
            <a:r>
              <a:t>mit acht Paketen; für ein anderes genehmigtes Profil --preset-config</a:t>
            </a:r>
          </a:p>
          <a:p xmlns:a="http://schemas.openxmlformats.org/drawingml/2006/main">
            <a:r>
              <a:t>ausdrücklich angeben. Ein Fehler wird nicht durch --force beseitigt.</a:t>
            </a:r>
          </a:p>
          <a:p xmlns:a="http://schemas.openxmlformats.org/drawingml/2006/main">
            <a:r>
              <a:t>Prüfung, technische Erfüllung und menschliche Freigabe sind getrennte</a:t>
            </a:r>
          </a:p>
          <a:p xmlns:a="http://schemas.openxmlformats.org/drawingml/2006/main">
            <a:r>
              <a:t>Zustände.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W20</a:t>
            </a:r>
          </a:p>
          <a:p xmlns:a="http://schemas.openxmlformats.org/drawingml/2006/main">
            <a:r>
              <a:t>Ein Intake ist eine Anforderungsdatei vor dem eigentlichen Feature-Lauf.</a:t>
            </a:r>
          </a:p>
          <a:p xmlns:a="http://schemas.openxmlformats.org/drawingml/2006/main">
            <a:r>
              <a:t>Ein Receipt hält ihre Herkunft und Quellenbindungen fest; ein Hash ist</a:t>
            </a:r>
          </a:p>
          <a:p xmlns:a="http://schemas.openxmlformats.org/drawingml/2006/main">
            <a:r>
              <a:t>eine Prüfsumme für den Inhalt. Eine Änderung gebundener Quellen kann ein</a:t>
            </a:r>
          </a:p>
          <a:p xmlns:a="http://schemas.openxmlformats.org/drawingml/2006/main">
            <a:r>
              <a:t>neues Update und Review erfordern. Bestehende Intake-IDs erhalten,</a:t>
            </a:r>
          </a:p>
          <a:p xmlns:a="http://schemas.openxmlformats.org/drawingml/2006/main">
            <a:r>
              <a:t>Vorzustände archivieren und Quellen nicht nur zum Bestehen eines</a:t>
            </a:r>
          </a:p>
          <a:p xmlns:a="http://schemas.openxmlformats.org/drawingml/2006/main">
            <a:r>
              <a:t>Validators austauschen. Im Workshop ein neues, ausdrücklich abgegrenztes</a:t>
            </a:r>
          </a:p>
          <a:p xmlns:a="http://schemas.openxmlformats.org/drawingml/2006/main">
            <a:r>
              <a:t>Beispiel verwenden, nicht die aktiven Sandbox-Intakes ausführen.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W21</a:t>
            </a:r>
          </a:p>
          <a:p xmlns:a="http://schemas.openxmlformats.org/drawingml/2006/main">
            <a:r>
              <a:t>Eine Intake-Reihe ordnet mehrere Aufträge durch Abhängigkeiten. Das</a:t>
            </a:r>
          </a:p>
          <a:p xmlns:a="http://schemas.openxmlformats.org/drawingml/2006/main">
            <a:r>
              <a:t>maschinenlesbare Manifest ist maßgeblich; Text und Diagramm erklären</a:t>
            </a:r>
          </a:p>
          <a:p xmlns:a="http://schemas.openxmlformats.org/drawingml/2006/main">
            <a:r>
              <a:t>denselben Zustand. Ein unabhängiges Review prüft Inhalte, nicht nur</a:t>
            </a:r>
          </a:p>
          <a:p xmlns:a="http://schemas.openxmlformats.org/drawingml/2006/main">
            <a:r>
              <a:t>Hashes. Ein erfolgreiches Anforderungen-Review ist keine technische</a:t>
            </a:r>
          </a:p>
          <a:p xmlns:a="http://schemas.openxmlformats.org/drawingml/2006/main">
            <a:r>
              <a:t>Sandbox-, Rechts-, Datenschutz-, Provider- oder Release-Freigabe. Die</a:t>
            </a:r>
          </a:p>
          <a:p xmlns:a="http://schemas.openxmlformats.org/drawingml/2006/main">
            <a:r>
              <a:t>aktive Sandbox-Reihe bleibt von diesem Workshop unberührt.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W22</a:t>
            </a:r>
          </a:p>
          <a:p xmlns:a="http://schemas.openxmlformats.org/drawingml/2006/main">
            <a:r>
              <a:t>Autonomous Run steuert einen ausdrücklich beauftragten Lauf; Parallel</a:t>
            </a:r>
          </a:p>
          <a:p xmlns:a="http://schemas.openxmlformats.org/drawingml/2006/main">
            <a:r>
              <a:t>Autonomous Run koordiniert getrennte Läufe. Beides ist keine pauschale</a:t>
            </a:r>
          </a:p>
          <a:p xmlns:a="http://schemas.openxmlformats.org/drawingml/2006/main">
            <a:r>
              <a:t>Erlaubnis. Secrets, formelle Freigaben und Plattformregeln bleiben</a:t>
            </a:r>
          </a:p>
          <a:p xmlns:a="http://schemas.openxmlformats.org/drawingml/2006/main">
            <a:r>
              <a:t>menschliche Aufgaben. Ein Abbruchgrund muss verständlich gemeldet</a:t>
            </a:r>
          </a:p>
          <a:p xmlns:a="http://schemas.openxmlformats.org/drawingml/2006/main">
            <a:r>
              <a:t>werden. Modellnamen gehören nicht in reproduzierbare spec.md-, plan.md-</a:t>
            </a:r>
          </a:p>
          <a:p xmlns:a="http://schemas.openxmlformats.org/drawingml/2006/main">
            <a:r>
              <a:t>oder tasks.md-Artefakte.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W23</a:t>
            </a:r>
          </a:p>
          <a:p xmlns:a="http://schemas.openxmlformats.org/drawingml/2006/main">
            <a:r>
              <a:t>Ein Follow-up ist der nächste geplante Schritt; ein Trigger ist der</a:t>
            </a:r>
          </a:p>
          <a:p xmlns:a="http://schemas.openxmlformats.org/drawingml/2006/main">
            <a:r>
              <a:t>Anlass für erneute Prüfung. Erfolgreiche PDF-Erzeugung beweist keine</a:t>
            </a:r>
          </a:p>
          <a:p xmlns:a="http://schemas.openxmlformats.org/drawingml/2006/main">
            <a:r>
              <a:t>PDF-Barrierefreiheit. Eine SBOM beweist keine Schwachstellenfreiheit.</a:t>
            </a:r>
          </a:p>
          <a:p xmlns:a="http://schemas.openxmlformats.org/drawingml/2006/main">
            <a:r>
              <a:t>Projektstatistiken beschreiben dokumentierte Lieferaktivität, keine</a:t>
            </a:r>
          </a:p>
          <a:p xmlns:a="http://schemas.openxmlformats.org/drawingml/2006/main">
            <a:r>
              <a:t>Arbeitszeit oder persönliche Produktivität. Das optionale Pilotprofil</a:t>
            </a:r>
          </a:p>
          <a:p xmlns:a="http://schemas.openxmlformats.org/drawingml/2006/main">
            <a:r>
              <a:t>nicht ohne Projektentscheidung installieren.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W24</a:t>
            </a:r>
          </a:p>
          <a:p xmlns:a="http://schemas.openxmlformats.org/drawingml/2006/main">
            <a:r>
              <a:t>Ort: Container-Bash im Anwendungsprojekt. git diff zeigt keine</a:t>
            </a:r>
          </a:p>
          <a:p xmlns:a="http://schemas.openxmlformats.org/drawingml/2006/main">
            <a:r>
              <a:t>ungetrackten Dateien; deshalb zusätzlich git status und neue Dateien</a:t>
            </a:r>
          </a:p>
          <a:p xmlns:a="http://schemas.openxmlformats.org/drawingml/2006/main">
            <a:r>
              <a:t>lesen. Vor Updates Sicherung und Auswirkungen klären. Der eingebettete</a:t>
            </a:r>
          </a:p>
          <a:p xmlns:a="http://schemas.openxmlformats.org/drawingml/2006/main">
            <a:r>
              <a:t>Home-Baseline-Stand ist schreibgeschützt; er ist kein Ziel für</a:t>
            </a:r>
          </a:p>
          <a:p xmlns:a="http://schemas.openxmlformats.org/drawingml/2006/main">
            <a:r>
              <a:t>Workshop-Änderungen. Kein Home-Sync läuft automatisch. Außerhalb dieser</a:t>
            </a:r>
          </a:p>
          <a:p xmlns:a="http://schemas.openxmlformats.org/drawingml/2006/main">
            <a:r>
              <a:t>Sandbox unterscheiden sich Installer und Host-Berechtigungen; hierfür</a:t>
            </a:r>
          </a:p>
          <a:p xmlns:a="http://schemas.openxmlformats.org/drawingml/2006/main">
            <a:r>
              <a:t>gibt es keinen stillen Fallback.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W25</a:t>
            </a:r>
          </a:p>
          <a:p xmlns:a="http://schemas.openxmlformats.org/drawingml/2006/main">
            <a:r>
              <a:t>Möglicher Auftrag: Ein Konsolenprogramm zeigt drei festgelegte</a:t>
            </a:r>
          </a:p>
          <a:p xmlns:a="http://schemas.openxmlformats.org/drawingml/2006/main">
            <a:r>
              <a:t>Beispielwerte und unterstützt deutsche sowie englische Beschriftungen.</a:t>
            </a:r>
          </a:p>
          <a:p xmlns:a="http://schemas.openxmlformats.org/drawingml/2006/main">
            <a:r>
              <a:t>Fehlerfälle und Erfolgskriterien werden vor der Implementierung</a:t>
            </a:r>
          </a:p>
          <a:p xmlns:a="http://schemas.openxmlformats.org/drawingml/2006/main">
            <a:r>
              <a:t>beschrieben. C#/.NET, Java, Go, Rust, Python und Swift sind alternative</a:t>
            </a:r>
          </a:p>
          <a:p xmlns:a="http://schemas.openxmlformats.org/drawingml/2006/main">
            <a:r>
              <a:t>Toolchains, nicht alle gleichzeitig verpflichtend. Python und PowerShell</a:t>
            </a:r>
          </a:p>
          <a:p xmlns:a="http://schemas.openxmlformats.org/drawingml/2006/main">
            <a:r>
              <a:t>ergänzen die Skriptgrundlagen. Keine echten API-Schlüssel oder</a:t>
            </a:r>
          </a:p>
          <a:p xmlns:a="http://schemas.openxmlformats.org/drawingml/2006/main">
            <a:r>
              <a:t>Provideraufrufe für dieses Beispiel nötig.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W26</a:t>
            </a:r>
          </a:p>
          <a:p xmlns:a="http://schemas.openxmlformats.org/drawingml/2006/main">
            <a:r>
              <a:t>Ort: Agenten-Chat im separat genehmigten Anwendungsprojekt. MUST</a:t>
            </a:r>
          </a:p>
          <a:p xmlns:a="http://schemas.openxmlformats.org/drawingml/2006/main">
            <a:r>
              <a:t>bedeutet verbindlich, SHOULD begründete Empfehlung und MAY erlaubte</a:t>
            </a:r>
          </a:p>
          <a:p xmlns:a="http://schemas.openxmlformats.org/drawingml/2006/main">
            <a:r>
              <a:t>Option. Eine geänderte Verfassung kann abhängige Artefakte betreffen;</a:t>
            </a:r>
          </a:p>
          <a:p xmlns:a="http://schemas.openxmlformats.org/drawingml/2006/main">
            <a:r>
              <a:t>diese Auswirkungen müssen sichtbar werden. Der Aufruf startet keine</a:t>
            </a:r>
          </a:p>
          <a:p xmlns:a="http://schemas.openxmlformats.org/drawingml/2006/main">
            <a:r>
              <a:t>Änderung an der Verfassung des Sandbox-Repositories. Jede konkrete</a:t>
            </a:r>
          </a:p>
          <a:p xmlns:a="http://schemas.openxmlformats.org/drawingml/2006/main">
            <a:r>
              <a:t>Änderung anschließend menschlich lesen und entscheiden.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W27</a:t>
            </a:r>
          </a:p>
          <a:p xmlns:a="http://schemas.openxmlformats.org/drawingml/2006/main">
            <a:r>
              <a:t>Ein funktionales Requirement beschreibt gewünschtes Verhalten; ein</a:t>
            </a:r>
          </a:p>
          <a:p xmlns:a="http://schemas.openxmlformats.org/drawingml/2006/main">
            <a:r>
              <a:t>Akzeptanzkriterium zeigt, woran es überprüfbar erfüllt wäre. Eine User</a:t>
            </a:r>
          </a:p>
          <a:p xmlns:a="http://schemas.openxmlformats.org/drawingml/2006/main">
            <a:r>
              <a:t>Story erklärt Bedarf aus Sicht einer Person. Diese Begriffe vorlesen und</a:t>
            </a:r>
          </a:p>
          <a:p xmlns:a="http://schemas.openxmlformats.org/drawingml/2006/main">
            <a:r>
              <a:t>an einem kleinen Beispiel erläutern. Vorgegebene Lastenhefte als</a:t>
            </a:r>
          </a:p>
          <a:p xmlns:a="http://schemas.openxmlformats.org/drawingml/2006/main">
            <a:r>
              <a:t>verbindliche Eingabe benennen, nicht durch spontan erfundene</a:t>
            </a:r>
          </a:p>
          <a:p xmlns:a="http://schemas.openxmlformats.org/drawingml/2006/main">
            <a:r>
              <a:t>Anforderungen ersetzen. Aktive Sandbox-Spezifikationen bleiben</a:t>
            </a:r>
          </a:p>
          <a:p xmlns:a="http://schemas.openxmlformats.org/drawingml/2006/main">
            <a:r>
              <a:t>unberührt.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W28</a:t>
            </a:r>
          </a:p>
          <a:p xmlns:a="http://schemas.openxmlformats.org/drawingml/2006/main">
            <a:r>
              <a:t>Beispiele für wichtige Entscheidungen: Welche Daten dürfen angezeigt</a:t>
            </a:r>
          </a:p>
          <a:p xmlns:a="http://schemas.openxmlformats.org/drawingml/2006/main">
            <a:r>
              <a:t>werden? Was passiert bei einer unbekannten Sprache? Keine Rückfrage nur</a:t>
            </a:r>
          </a:p>
          <a:p xmlns:a="http://schemas.openxmlformats.org/drawingml/2006/main">
            <a:r>
              <a:t>zur persönlichen Wortwahl stellen. Technische Details können in die</a:t>
            </a:r>
          </a:p>
          <a:p xmlns:a="http://schemas.openxmlformats.org/drawingml/2006/main">
            <a:r>
              <a:t>Planung gehören. Ein weiterer Durchgang ist nur nötig, wenn neue</a:t>
            </a:r>
          </a:p>
          <a:p xmlns:a="http://schemas.openxmlformats.org/drawingml/2006/main">
            <a:r>
              <a:t>entscheidungsrelevante Fragen sichtbar sind; keine Wiederholung bis zu</a:t>
            </a:r>
          </a:p>
          <a:p xmlns:a="http://schemas.openxmlformats.org/drawingml/2006/main">
            <a:r>
              <a:t>einer beliebigen grünen Behauptung.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W29</a:t>
            </a:r>
          </a:p>
          <a:p xmlns:a="http://schemas.openxmlformats.org/drawingml/2006/main">
            <a:r>
              <a:t>Deferred heißt bewusst zurückgestellt. Das ist kein erledigter Punkt.</a:t>
            </a:r>
          </a:p>
          <a:p xmlns:a="http://schemas.openxmlformats.org/drawingml/2006/main">
            <a:r>
              <a:t>Beispiel: konkrete interne Dateiaufteilung später planen; erlaubte Daten</a:t>
            </a:r>
          </a:p>
          <a:p xmlns:a="http://schemas.openxmlformats.org/drawingml/2006/main">
            <a:r>
              <a:t>bereits vor der Planung entscheiden. Für Open-Punkte Owner, Follow-up</a:t>
            </a:r>
          </a:p>
          <a:p xmlns:a="http://schemas.openxmlformats.org/drawingml/2006/main">
            <a:r>
              <a:t>und Re-Evaluation-Trigger nennen. Eine Person ohne Spezialkenntnisse</a:t>
            </a:r>
          </a:p>
          <a:p xmlns:a="http://schemas.openxmlformats.org/drawingml/2006/main">
            <a:r>
              <a:t>muss verstehen können, was bis zur Entscheidung nicht ausgeführt werden</a:t>
            </a:r>
          </a:p>
          <a:p xmlns:a="http://schemas.openxmlformats.org/drawingml/2006/main">
            <a:r>
              <a:t>darf.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W30</a:t>
            </a:r>
          </a:p>
          <a:p xmlns:a="http://schemas.openxmlformats.org/drawingml/2006/main">
            <a:r>
              <a:t>Ein Plan beschreibt das Wie: Bausteine, Schnittstellen, Datenfluss,</a:t>
            </a:r>
          </a:p>
          <a:p xmlns:a="http://schemas.openxmlformats.org/drawingml/2006/main">
            <a:r>
              <a:t>Fehlerfälle und Nachweise. Keine Datenbank oder API erfinden, wenn das</a:t>
            </a:r>
          </a:p>
          <a:p xmlns:a="http://schemas.openxmlformats.org/drawingml/2006/main">
            <a:r>
              <a:t>Beispiel keine braucht. N/A heißt nicht anwendbar und braucht eine kurze</a:t>
            </a:r>
          </a:p>
          <a:p xmlns:a="http://schemas.openxmlformats.org/drawingml/2006/main">
            <a:r>
              <a:t>Begründung. Geplante Tests sind noch keine bestandenen Tests. Security-,</a:t>
            </a:r>
          </a:p>
          <a:p xmlns:a="http://schemas.openxmlformats.org/drawingml/2006/main">
            <a:r>
              <a:t>Architecture-, iSAQB-, A11Y-, Cross-Platform- und Agent-Parity-Punkte</a:t>
            </a:r>
          </a:p>
          <a:p xmlns:a="http://schemas.openxmlformats.org/drawingml/2006/main">
            <a:r>
              <a:t>nach Anwendbarkeit prüfen.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W31</a:t>
            </a:r>
          </a:p>
          <a:p xmlns:a="http://schemas.openxmlformats.org/drawingml/2006/main">
            <a:r>
              <a:t>Beispiel: Ist die Sprache bei unbekannter Auswahl eindeutig festgelegt?</a:t>
            </a:r>
          </a:p>
          <a:p xmlns:a="http://schemas.openxmlformats.org/drawingml/2006/main">
            <a:r>
              <a:t>Der Durchführungshinweis nennt die zu lesende Textstelle und erkennbare</a:t>
            </a:r>
          </a:p>
          <a:p xmlns:a="http://schemas.openxmlformats.org/drawingml/2006/main">
            <a:r>
              <a:t>Qualitätsmerkmale. Die Frage lautet nicht: Funktioniert die</a:t>
            </a:r>
          </a:p>
          <a:p xmlns:a="http://schemas.openxmlformats.org/drawingml/2006/main">
            <a:r>
              <a:t>Sprachumschaltung? Das wäre ein späterer Funktionstest. Fehlende</a:t>
            </a:r>
          </a:p>
          <a:p xmlns:a="http://schemas.openxmlformats.org/drawingml/2006/main">
            <a:r>
              <a:t>Anforderungen als Lücke benennen und Änderungen ausdrücklich</a:t>
            </a:r>
          </a:p>
          <a:p xmlns:a="http://schemas.openxmlformats.org/drawingml/2006/main">
            <a:r>
              <a:t>beauftragen, nicht als automatische Remediation verstecken.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W32</a:t>
            </a:r>
          </a:p>
          <a:p xmlns:a="http://schemas.openxmlformats.org/drawingml/2006/main">
            <a:r>
              <a:t>MVP bezeichnet die kleinste sinnvoll prüfbare erste Ausbaustufe.</a:t>
            </a:r>
          </a:p>
          <a:p xmlns:a="http://schemas.openxmlformats.org/drawingml/2006/main">
            <a:r>
              <a:t>User-Story-Aufgaben erhalten die vereinbarten Story-IDs. Ein [P] ist</a:t>
            </a:r>
          </a:p>
          <a:p xmlns:a="http://schemas.openxmlformats.org/drawingml/2006/main">
            <a:r>
              <a:t>kein Auftrag, weitere Agenten ohne Erlaubnis zu starten.</a:t>
            </a:r>
          </a:p>
          <a:p xmlns:a="http://schemas.openxmlformats.org/drawingml/2006/main">
            <a:r>
              <a:t>TDD-Testaufgaben nur dort planen, wo passende Produktlogik und ein</a:t>
            </a:r>
          </a:p>
          <a:p xmlns:a="http://schemas.openxmlformats.org/drawingml/2006/main">
            <a:r>
              <a:t>tatsächlicher Testweg existieren; Dokumentationsarbeit nicht mit</a:t>
            </a:r>
          </a:p>
          <a:p xmlns:a="http://schemas.openxmlformats.org/drawingml/2006/main">
            <a:r>
              <a:t>erfundenen Runtime-Tests aufblähen.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W33</a:t>
            </a:r>
          </a:p>
          <a:p xmlns:a="http://schemas.openxmlformats.org/drawingml/2006/main">
            <a:r>
              <a:t>Traceability bedeutet nachvollziehbare Zuordnung zwischen Anforderung,</a:t>
            </a:r>
          </a:p>
          <a:p xmlns:a="http://schemas.openxmlformats.org/drawingml/2006/main">
            <a:r>
              <a:t>Aufgabe und späterem Nachweis. Eine Analyse darf keine Freigaben</a:t>
            </a:r>
          </a:p>
          <a:p xmlns:a="http://schemas.openxmlformats.org/drawingml/2006/main">
            <a:r>
              <a:t>behaupten und keine vorhandenen Findings ohne Begründung verschwinden</a:t>
            </a:r>
          </a:p>
          <a:p xmlns:a="http://schemas.openxmlformats.org/drawingml/2006/main">
            <a:r>
              <a:t>lassen. Eine aktuelle Analyse ist keine technische Plattformabnahme. Für</a:t>
            </a:r>
          </a:p>
          <a:p xmlns:a="http://schemas.openxmlformats.org/drawingml/2006/main">
            <a:r>
              <a:t>einen neuen Stand dieselben Prüfziele verwenden; einen historischen</a:t>
            </a:r>
          </a:p>
          <a:p xmlns:a="http://schemas.openxmlformats.org/drawingml/2006/main">
            <a:r>
              <a:t>Vergleich nur mit belegbarer Voranalyse behaupten.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W34</a:t>
            </a:r>
          </a:p>
          <a:p xmlns:a="http://schemas.openxmlformats.org/drawingml/2006/main">
            <a:r>
              <a:t>Es gibt keine feste Zahl von Analyze-Wiederholungen und keinen Auftrag,</a:t>
            </a:r>
          </a:p>
          <a:p xmlns:a="http://schemas.openxmlformats.org/drawingml/2006/main">
            <a:r>
              <a:t>sich zu Tode zu prüfen. Ein fokussierter Lauf, konkrete Korrektur und</a:t>
            </a:r>
          </a:p>
          <a:p xmlns:a="http://schemas.openxmlformats.org/drawingml/2006/main">
            <a:r>
              <a:t>gezielte Nachprüfung reichen, wenn keine relevanten Blocker übrig</a:t>
            </a:r>
          </a:p>
          <a:p xmlns:a="http://schemas.openxmlformats.org/drawingml/2006/main">
            <a:r>
              <a:t>bleiben. Verfassungs-MUST-Verstöße und bestätigte schwere Findings nicht</a:t>
            </a:r>
          </a:p>
          <a:p xmlns:a="http://schemas.openxmlformats.org/drawingml/2006/main">
            <a:r>
              <a:t>durch geschönte Statuswerte umgehen. Menschliche Risikofreigaben nicht</a:t>
            </a:r>
          </a:p>
          <a:p xmlns:a="http://schemas.openxmlformats.org/drawingml/2006/main">
            <a:r>
              <a:t>ersetzen.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W35</a:t>
            </a:r>
          </a:p>
          <a:p xmlns:a="http://schemas.openxmlformats.org/drawingml/2006/main">
            <a:r>
              <a:t>Der Beispielauftrag muss zum tatsächlichen Projekt passen. Projekttests</a:t>
            </a:r>
          </a:p>
          <a:p xmlns:a="http://schemas.openxmlformats.org/drawingml/2006/main">
            <a:r>
              <a:t>und ein Sandbox-Image-Build sind verschiedene Aktionen. Eine frische</a:t>
            </a:r>
          </a:p>
          <a:p xmlns:a="http://schemas.openxmlformats.org/drawingml/2006/main">
            <a:r>
              <a:t>Agentensitzung kann helfen, muss aber Repo-Regeln, aktuelle Artefakte</a:t>
            </a:r>
          </a:p>
          <a:p xmlns:a="http://schemas.openxmlformats.org/drawingml/2006/main">
            <a:r>
              <a:t>und nachweisbare Entscheidungen erneut lesen; nicht blind einen komplett</a:t>
            </a:r>
          </a:p>
          <a:p xmlns:a="http://schemas.openxmlformats.org/drawingml/2006/main">
            <a:r>
              <a:t>leeren Kontext verlangen. Für lange Läufe Fortschritt und Stop-Regeln</a:t>
            </a:r>
          </a:p>
          <a:p xmlns:a="http://schemas.openxmlformats.org/drawingml/2006/main">
            <a:r>
              <a:t>festlegen. Nicht unbeaufsichtigt sensible Aufgaben laufen lassen.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W36</a:t>
            </a:r>
          </a:p>
          <a:p xmlns:a="http://schemas.openxmlformats.org/drawingml/2006/main">
            <a:r>
              <a:t>Ort: Container-Shell im Anwendungsprojekt. Erwartung: nachvollziehbarer</a:t>
            </a:r>
          </a:p>
          <a:p xmlns:a="http://schemas.openxmlformats.org/drawingml/2006/main">
            <a:r>
              <a:t>Diff und sichtbare neue Dateien. Ein erfolgreicher Smoke-Test ist ein</a:t>
            </a:r>
          </a:p>
          <a:p xmlns:a="http://schemas.openxmlformats.org/drawingml/2006/main">
            <a:r>
              <a:t>kleiner Funktionstest, keine vollständige Sicherheits- oder</a:t>
            </a:r>
          </a:p>
          <a:p xmlns:a="http://schemas.openxmlformats.org/drawingml/2006/main">
            <a:r>
              <a:t>Barrierefreiheitsabnahme. Persistente Agentenzustände können</a:t>
            </a:r>
          </a:p>
          <a:p xmlns:a="http://schemas.openxmlformats.org/drawingml/2006/main">
            <a:r>
              <a:t>Zugangsdaten enthalten; nicht ins Repository kopieren. SBOMs und</a:t>
            </a:r>
          </a:p>
          <a:p xmlns:a="http://schemas.openxmlformats.org/drawingml/2006/main">
            <a:r>
              <a:t>Auditnachweise nach dem vorgesehenen Prozess behandeln.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W37</a:t>
            </a:r>
          </a:p>
          <a:p xmlns:a="http://schemas.openxmlformats.org/drawingml/2006/main">
            <a:r>
              <a:t>Voraussetzung: Terminal wieder im Sandbox-Checkout auf dem Host.</a:t>
            </a:r>
          </a:p>
          <a:p xmlns:a="http://schemas.openxmlformats.org/drawingml/2006/main">
            <a:r>
              <a:t>Erwartung: erfolgreicher Metadatenexport vor compose down; Volumes</a:t>
            </a:r>
          </a:p>
          <a:p xmlns:a="http://schemas.openxmlformats.org/drawingml/2006/main">
            <a:r>
              <a:t>bleiben erhalten. Bei Exportfehler stoppen, nicht direkt down als</a:t>
            </a:r>
          </a:p>
          <a:p xmlns:a="http://schemas.openxmlformats.org/drawingml/2006/main">
            <a:r>
              <a:t>Umgehung verwenden. Nie -v oder -Volumes als normale Stoppoption</a:t>
            </a:r>
          </a:p>
          <a:p xmlns:a="http://schemas.openxmlformats.org/drawingml/2006/main">
            <a:r>
              <a:t>hinzufügen: diese Optionen können Agentendaten und Anmeldungen löschen.</a:t>
            </a:r>
          </a:p>
          <a:p xmlns:a="http://schemas.openxmlformats.org/drawingml/2006/main">
            <a:r>
              <a:t>OpenCode-2-Dateimetadaten beweisen keine vollständige Sitzungsabdeckung.</a:t>
            </a:r>
          </a:p>
          <a:p xmlns:a="http://schemas.openxmlformats.org/drawingml/2006/main">
            <a:r>
              <a:t>Ein Machine-Stopp ist eine separate Hostaktion. Details: alltag.md.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W38</a:t>
            </a:r>
          </a:p>
          <a:p xmlns:a="http://schemas.openxmlformats.org/drawingml/2006/main">
            <a:r>
              <a:t>Weitere Begriffe: MSL bezeichnet hier die sechs Sprachpfade; das ist</a:t>
            </a:r>
          </a:p>
          <a:p xmlns:a="http://schemas.openxmlformats.org/drawingml/2006/main">
            <a:r>
              <a:t>keine Garantie, dass jeder Code sicher ist. STRIDE ist eine Methode zur</a:t>
            </a:r>
          </a:p>
          <a:p xmlns:a="http://schemas.openxmlformats.org/drawingml/2006/main">
            <a:r>
              <a:t>Bedrohungsanalyse. CIA benennt Vertraulichkeit, Integrität und</a:t>
            </a:r>
          </a:p>
          <a:p xmlns:a="http://schemas.openxmlformats.org/drawingml/2006/main">
            <a:r>
              <a:t>Verfügbarkeit. SBOM ist ein Komponentenverzeichnis; VEX beschreibt</a:t>
            </a:r>
          </a:p>
          <a:p xmlns:a="http://schemas.openxmlformats.org/drawingml/2006/main">
            <a:r>
              <a:t>begründete Schwachstellen-Aussagen; SLSA betrachtet</a:t>
            </a:r>
          </a:p>
          <a:p xmlns:a="http://schemas.openxmlformats.org/drawingml/2006/main">
            <a:r>
              <a:t>Lieferkettennachweise. Nicht alles ist für jedes Projekt anwendbar. Das</a:t>
            </a:r>
          </a:p>
          <a:p xmlns:a="http://schemas.openxmlformats.org/drawingml/2006/main">
            <a:r>
              <a:t>Glossar der Lernenden-Dokumentation erklärt Details.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W39</a:t>
            </a:r>
          </a:p>
          <a:p xmlns:a="http://schemas.openxmlformats.org/drawingml/2006/main">
            <a:r>
              <a:t>Materialien: docs/fuer-lernende/README.md, lernwege.md, installation.md,</a:t>
            </a:r>
          </a:p>
          <a:p xmlns:a="http://schemas.openxmlformats.org/drawingml/2006/main">
            <a:r>
              <a:t>agenten-und-spec-kit.md und alltag.md; aktuelle Sicherheitsgrenzen</a:t>
            </a:r>
          </a:p>
          <a:p xmlns:a="http://schemas.openxmlformats.org/drawingml/2006/main">
            <a:r>
              <a:t>stehen in docs/security/toolchain-followups-2026-10-25.md. Die folgende</a:t>
            </a:r>
          </a:p>
          <a:p xmlns:a="http://schemas.openxmlformats.org/drawingml/2006/main">
            <a:r>
              <a:t>Profilmatrix in dieser Markdown-Quelle und den Sprecherhinweisen wird</a:t>
            </a:r>
          </a:p>
          <a:p xmlns:a="http://schemas.openxmlformats.org/drawingml/2006/main">
            <a:r>
              <a:t>aus der vorhandenen lokalen Konfiguration übernommen. Sie zeigt einen</a:t>
            </a:r>
          </a:p>
          <a:p xmlns:a="http://schemas.openxmlformats.org/drawingml/2006/main">
            <a:r>
              <a:t>dokumentierten Stand, keine Aufforderung zur Installation aller Pakete.</a:t>
            </a:r>
          </a:p>
          <a:p xmlns:a="http://schemas.openxmlformats.org/drawingml/2006/main">
            <a:r>
              <a:t>Keine institutionellen Zugänge oder fremden Präsentationsvorlagen nötig.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Lokaler Pilotstand, keine Installationsfreigabe: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  Preset                                    Version   Priority</a:t>
            </a:r>
          </a:p>
          <a:p xmlns:a="http://schemas.openxmlformats.org/drawingml/2006/main">
            <a:r>
              <a:t>  ----------------------------------------- --------- ----------</a:t>
            </a:r>
          </a:p>
          <a:p xmlns:a="http://schemas.openxmlformats.org/drawingml/2006/main">
            <a:r>
              <a:t>  security-governance                       v0.7.4    10</a:t>
            </a:r>
          </a:p>
          <a:p xmlns:a="http://schemas.openxmlformats.org/drawingml/2006/main">
            <a:r>
              <a:t>  secure-development-assurance-governance   v0.1.8    15</a:t>
            </a:r>
          </a:p>
          <a:p xmlns:a="http://schemas.openxmlformats.org/drawingml/2006/main">
            <a:r>
              <a:t>  architecture-governance                   v0.6.5    20</a:t>
            </a:r>
          </a:p>
          <a:p xmlns:a="http://schemas.openxmlformats.org/drawingml/2006/main">
            <a:r>
              <a:t>  isaqb-architecture-governance             v0.2.5    30</a:t>
            </a:r>
          </a:p>
          <a:p xmlns:a="http://schemas.openxmlformats.org/drawingml/2006/main">
            <a:r>
              <a:t>  a11y-governance                           v0.4.6    40</a:t>
            </a:r>
          </a:p>
          <a:p xmlns:a="http://schemas.openxmlformats.org/drawingml/2006/main">
            <a:r>
              <a:t>  cross-platform-governance                 v0.2.5    50</a:t>
            </a:r>
          </a:p>
          <a:p xmlns:a="http://schemas.openxmlformats.org/drawingml/2006/main">
            <a:r>
              <a:t>  agent-parity-governance                   v0.4.5    60</a:t>
            </a:r>
          </a:p>
          <a:p xmlns:a="http://schemas.openxmlformats.org/drawingml/2006/main">
            <a:r>
              <a:t>  model-routing-governance                  v0.1.7    61</a:t>
            </a:r>
          </a:p>
          <a:p xmlns:a="http://schemas.openxmlformats.org/drawingml/2006/main">
            <a:r>
              <a:t>  intake-authoring-governance               v0.3.10   64</a:t>
            </a:r>
          </a:p>
          <a:p xmlns:a="http://schemas.openxmlformats.org/drawingml/2006/main">
            <a:r>
              <a:t>  intake-review-governance                  v0.2.7    65</a:t>
            </a:r>
          </a:p>
          <a:p xmlns:a="http://schemas.openxmlformats.org/drawingml/2006/main">
            <a:r>
              <a:t>  intake-sequencing-governance              v0.2.11   66</a:t>
            </a:r>
          </a:p>
          <a:p xmlns:a="http://schemas.openxmlformats.org/drawingml/2006/main">
            <a:r>
              <a:t>  autonomous-run-governance                 v0.4.7    70</a:t>
            </a:r>
          </a:p>
          <a:p xmlns:a="http://schemas.openxmlformats.org/drawingml/2006/main">
            <a:r>
              <a:t>  parallel-autonomous-run-governance        v0.2.9    80</a:t>
            </a:r>
          </a:p>
          <a:p xmlns:a="http://schemas.openxmlformats.org/drawingml/2006/main">
            <a:r>
              <a:t>  project-statistics-governance             v0.1.3    90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https://github.com/hindermath/absdd-image-sandbox</a:t>
            </a:r>
          </a:p>
          <a:p xmlns:a="http://schemas.openxmlformats.org/drawingml/2006/main">
            <a:r>
              <a:t>https://github.com/github/spec-kit/tree/v1.2.3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df803b52ee04612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608b8dd4cf9422c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2fd401ba57d4c39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3c29c2662ea405e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df8e8d96197495c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4c48db17370496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48DBD02-242B-4EFC-A5C9-B0B53F47257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690E5097-ABC9-4C6B-AE6F-0173A9C0C6F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3A9AD2AF-935B-4BCD-B113-930E7F42D88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B999A5B-A56C-4D9F-9862-5A7C1BB6560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FF04D69C-1E17-4AC6-809F-98B2693CB1D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84AFD6E5-36B3-479E-A3A2-A51F568F8C7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BCF9462-939B-4761-98A2-5BE22FC534B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18D9AC2E-6961-4FA4-A32D-EA55DB60F8EF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78E9789-0DC4-47E2-9995-8345CA7CA45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FF7D770-D5EC-47D3-90F4-E0F10AB4E91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c6b97492dd3484e" /><Relationship Type="http://schemas.openxmlformats.org/officeDocument/2006/relationships/slideLayout" Target="/ppt/slideLayouts/slideLayout1.xml" Id="R737c0bcaa42c4bd1" /><Relationship Type="http://schemas.openxmlformats.org/officeDocument/2006/relationships/slideLayout" Target="/ppt/slideLayouts/slideLayout2.xml" Id="R3afaa15296674695" /><Relationship Type="http://schemas.openxmlformats.org/officeDocument/2006/relationships/slideLayout" Target="/ppt/slideLayouts/slideLayout3.xml" Id="Rffdfcd6c5c294624" /><Relationship Type="http://schemas.openxmlformats.org/officeDocument/2006/relationships/slideLayout" Target="/ppt/slideLayouts/slideLayout4.xml" Id="Rb9810bc07c73458f" /><Relationship Type="http://schemas.openxmlformats.org/officeDocument/2006/relationships/slideLayout" Target="/ppt/slideLayouts/slideLayout5.xml" Id="R599d91e42c3d47ad" /><Relationship Type="http://schemas.openxmlformats.org/officeDocument/2006/relationships/slideLayout" Target="/ppt/slideLayouts/slideLayout6.xml" Id="R170ff87c3c88450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37c0bcaa42c4bd1"/>
    <p:sldLayoutId xmlns:r="http://schemas.openxmlformats.org/officeDocument/2006/relationships" id="2147483650" r:id="R3afaa15296674695"/>
    <p:sldLayoutId xmlns:r="http://schemas.openxmlformats.org/officeDocument/2006/relationships" id="2147483651" r:id="Rffdfcd6c5c294624"/>
    <p:sldLayoutId xmlns:r="http://schemas.openxmlformats.org/officeDocument/2006/relationships" id="2147483652" r:id="Rb9810bc07c73458f"/>
    <p:sldLayoutId xmlns:r="http://schemas.openxmlformats.org/officeDocument/2006/relationships" id="2147483653" r:id="R599d91e42c3d47ad"/>
    <p:sldLayoutId xmlns:r="http://schemas.openxmlformats.org/officeDocument/2006/relationships" id="2147483654" r:id="R170ff87c3c88450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199bca20b1944f3" /><Relationship Type="http://schemas.openxmlformats.org/officeDocument/2006/relationships/notesSlide" Target="/ppt/notesSlides/notesSlide1.xml" Id="R714b5b5b5c004b9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3adae0e2f0b4bea" /><Relationship Type="http://schemas.openxmlformats.org/officeDocument/2006/relationships/notesSlide" Target="/ppt/notesSlides/notesSlide2.xml" Id="R409e2fdffe3b452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729c36fa50b46c6" /><Relationship Type="http://schemas.openxmlformats.org/officeDocument/2006/relationships/notesSlide" Target="/ppt/notesSlides/notesSlide3.xml" Id="R525d4f406cf448f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8b0c73edef74123" /><Relationship Type="http://schemas.openxmlformats.org/officeDocument/2006/relationships/notesSlide" Target="/ppt/notesSlides/notesSlide4.xml" Id="Rcdc32989a97d48a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83d1d6cc44647dd" /><Relationship Type="http://schemas.openxmlformats.org/officeDocument/2006/relationships/notesSlide" Target="/ppt/notesSlides/notesSlide5.xml" Id="Rbcc4da4d0379439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9f92d4197b9428d" /><Relationship Type="http://schemas.openxmlformats.org/officeDocument/2006/relationships/notesSlide" Target="/ppt/notesSlides/notesSlide6.xml" Id="Rdce70a16f29946a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d1fa7ab57f340e1" /><Relationship Type="http://schemas.openxmlformats.org/officeDocument/2006/relationships/notesSlide" Target="/ppt/notesSlides/notesSlide7.xml" Id="Ree63158dd23c4ea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97a9c2107a34fbb" /><Relationship Type="http://schemas.openxmlformats.org/officeDocument/2006/relationships/notesSlide" Target="/ppt/notesSlides/notesSlide8.xml" Id="Ree1024cae5a4463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6a4b495c8d946e2" /><Relationship Type="http://schemas.openxmlformats.org/officeDocument/2006/relationships/notesSlide" Target="/ppt/notesSlides/notesSlide9.xml" Id="Ra9bc93ed909841c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9bf25c276e24d4a" /><Relationship Type="http://schemas.openxmlformats.org/officeDocument/2006/relationships/notesSlide" Target="/ppt/notesSlides/notesSlide10.xml" Id="R87125defcac1487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273e82a3ccc4b6a" /><Relationship Type="http://schemas.openxmlformats.org/officeDocument/2006/relationships/notesSlide" Target="/ppt/notesSlides/notesSlide11.xml" Id="R1612ec935ad74b4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e48417b95934550" /><Relationship Type="http://schemas.openxmlformats.org/officeDocument/2006/relationships/notesSlide" Target="/ppt/notesSlides/notesSlide12.xml" Id="R3bcdea18b84f4a25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e409117a7bf48b6" /><Relationship Type="http://schemas.openxmlformats.org/officeDocument/2006/relationships/notesSlide" Target="/ppt/notesSlides/notesSlide13.xml" Id="Rbcc5a53609f5460c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22852d1d07241f9" /><Relationship Type="http://schemas.openxmlformats.org/officeDocument/2006/relationships/notesSlide" Target="/ppt/notesSlides/notesSlide14.xml" Id="Rfb9cba7da6e1488f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0f14fcfeb8f48a6" /><Relationship Type="http://schemas.openxmlformats.org/officeDocument/2006/relationships/notesSlide" Target="/ppt/notesSlides/notesSlide15.xml" Id="R9a86c46335ce4740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0b62a7cbdc342e5" /><Relationship Type="http://schemas.openxmlformats.org/officeDocument/2006/relationships/notesSlide" Target="/ppt/notesSlides/notesSlide16.xml" Id="R69b0bb8eb7004c0b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a2e2719ece34265" /><Relationship Type="http://schemas.openxmlformats.org/officeDocument/2006/relationships/notesSlide" Target="/ppt/notesSlides/notesSlide17.xml" Id="Rdedd67bf5a0c460d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11f3d79eb4f4c49" /><Relationship Type="http://schemas.openxmlformats.org/officeDocument/2006/relationships/notesSlide" Target="/ppt/notesSlides/notesSlide18.xml" Id="Re509784faf84467c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e62749908684eaa" /><Relationship Type="http://schemas.openxmlformats.org/officeDocument/2006/relationships/notesSlide" Target="/ppt/notesSlides/notesSlide19.xml" Id="Ra447c1433b1a498b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fb35e13186e4b77" /><Relationship Type="http://schemas.openxmlformats.org/officeDocument/2006/relationships/notesSlide" Target="/ppt/notesSlides/notesSlide20.xml" Id="R10970079050b4440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6d5f513f7d148b9" /><Relationship Type="http://schemas.openxmlformats.org/officeDocument/2006/relationships/notesSlide" Target="/ppt/notesSlides/notesSlide21.xml" Id="Rfb18cb3d45714b67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7a4606327254f85" /><Relationship Type="http://schemas.openxmlformats.org/officeDocument/2006/relationships/notesSlide" Target="/ppt/notesSlides/notesSlide22.xml" Id="R1dd1a6d90ae5417b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b805d3f4dcb4051" /><Relationship Type="http://schemas.openxmlformats.org/officeDocument/2006/relationships/notesSlide" Target="/ppt/notesSlides/notesSlide23.xml" Id="Rd1522299e68c4127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e3581e3776946ce" /><Relationship Type="http://schemas.openxmlformats.org/officeDocument/2006/relationships/notesSlide" Target="/ppt/notesSlides/notesSlide24.xml" Id="Rb69cee90da754965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df08f320c5c4ecb" /><Relationship Type="http://schemas.openxmlformats.org/officeDocument/2006/relationships/notesSlide" Target="/ppt/notesSlides/notesSlide25.xml" Id="Rbfc51f8d1578418b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827ae38fe434a69" /><Relationship Type="http://schemas.openxmlformats.org/officeDocument/2006/relationships/notesSlide" Target="/ppt/notesSlides/notesSlide26.xml" Id="R29ab8f2a1c79466a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ef93a3a04b54678" /><Relationship Type="http://schemas.openxmlformats.org/officeDocument/2006/relationships/notesSlide" Target="/ppt/notesSlides/notesSlide27.xml" Id="R560e9f878ffc4de2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9c2ac4a3f4c49c0" /><Relationship Type="http://schemas.openxmlformats.org/officeDocument/2006/relationships/notesSlide" Target="/ppt/notesSlides/notesSlide28.xml" Id="Ra28a0e842c364926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b87b7e481574845" /><Relationship Type="http://schemas.openxmlformats.org/officeDocument/2006/relationships/notesSlide" Target="/ppt/notesSlides/notesSlide29.xml" Id="Rbba8555ad46b40ef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9f5c3bfa9464986" /><Relationship Type="http://schemas.openxmlformats.org/officeDocument/2006/relationships/notesSlide" Target="/ppt/notesSlides/notesSlide30.xml" Id="R4075bcff0f5e463c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1d1014acbf04236" /><Relationship Type="http://schemas.openxmlformats.org/officeDocument/2006/relationships/notesSlide" Target="/ppt/notesSlides/notesSlide31.xml" Id="Rb0fb515c7bdb48a1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ff6ced0286f4171" /><Relationship Type="http://schemas.openxmlformats.org/officeDocument/2006/relationships/notesSlide" Target="/ppt/notesSlides/notesSlide32.xml" Id="Rb4a37ba138c841b5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0d7522446524e1a" /><Relationship Type="http://schemas.openxmlformats.org/officeDocument/2006/relationships/notesSlide" Target="/ppt/notesSlides/notesSlide33.xml" Id="Rbee4388939c1422a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4aa8b0d71f84d6f" /><Relationship Type="http://schemas.openxmlformats.org/officeDocument/2006/relationships/notesSlide" Target="/ppt/notesSlides/notesSlide34.xml" Id="R56386854128a4883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1fd5202cd794134" /><Relationship Type="http://schemas.openxmlformats.org/officeDocument/2006/relationships/notesSlide" Target="/ppt/notesSlides/notesSlide35.xml" Id="R4920aeb1b4694b2d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7dddb68e6a740a8" /><Relationship Type="http://schemas.openxmlformats.org/officeDocument/2006/relationships/notesSlide" Target="/ppt/notesSlides/notesSlide36.xml" Id="R6ab000ee32904c45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e49a0e636bc45f8" /><Relationship Type="http://schemas.openxmlformats.org/officeDocument/2006/relationships/notesSlide" Target="/ppt/notesSlides/notesSlide37.xml" Id="R99322c36074b4223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57970faea664502" /><Relationship Type="http://schemas.openxmlformats.org/officeDocument/2006/relationships/notesSlide" Target="/ppt/notesSlides/notesSlide38.xml" Id="R788266da523f4c3f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682676548a548d4" /><Relationship Type="http://schemas.openxmlformats.org/officeDocument/2006/relationships/notesSlide" Target="/ppt/notesSlides/notesSlide39.xml" Id="Re99bc5a838ff44b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83C358-6412-4E26-AD58-4C15CDCC5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9650"/>
            <a:ext cx="952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B65"/>
          </a:solidFill>
          <a:ln xmlns:a="http://schemas.openxmlformats.org/drawingml/2006/main">
            <a:noFill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B70A9A13-79B7-4ADA-B7D2-655552191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76375"/>
            <a:ext cx="10972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57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defPPr>
            <a:lvl1pPr>
              <a:defRPr sz="57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1pPr>
            <a:lvl2pPr>
              <a:defRPr sz="57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2pPr>
            <a:lvl3pPr>
              <a:defRPr sz="57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3pPr>
            <a:lvl4pPr>
              <a:defRPr sz="57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4pPr>
            <a:lvl5pPr>
              <a:defRPr sz="57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5pPr>
            <a:lvl6pPr>
              <a:defRPr sz="57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6pPr>
            <a:lvl7pPr>
              <a:defRPr sz="57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7pPr>
            <a:lvl8pPr>
              <a:defRPr sz="57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8pPr>
            <a:lvl9pPr>
              <a:defRPr sz="57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57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pPr>
            <a:r>
              <a:rPr sz="5700" b="1">
                <a:solidFill>
                  <a:srgbClr val="182626"/>
                </a:solidFill>
                <a:latin typeface="Arial"/>
                <a:ea typeface="Arial"/>
                <a:cs typeface="Arial"/>
              </a:rPr>
              <a:t>absdd-image-sandbox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B853AC9E-5080-40FA-996E-D4882708F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52750"/>
            <a:ext cx="1038225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55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defPPr>
            <a:lvl1pPr>
              <a:defRPr sz="255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1pPr>
            <a:lvl2pPr>
              <a:defRPr sz="255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2pPr>
            <a:lvl3pPr>
              <a:defRPr sz="255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3pPr>
            <a:lvl4pPr>
              <a:defRPr sz="255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4pPr>
            <a:lvl5pPr>
              <a:defRPr sz="255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5pPr>
            <a:lvl6pPr>
              <a:defRPr sz="255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6pPr>
            <a:lvl7pPr>
              <a:defRPr sz="255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7pPr>
            <a:lvl8pPr>
              <a:defRPr sz="255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8pPr>
            <a:lvl9pPr>
              <a:defRPr sz="255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55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82626"/>
                </a:solidFill>
                <a:latin typeface="Arial"/>
                <a:ea typeface="Arial"/>
                <a:cs typeface="Arial"/>
              </a:rPr>
              <a:t>Spec-Kit-Workshop mit KI-Agenten</a:t>
            </a:r>
          </a:p>
          <a:p xmlns:a="http://schemas.openxmlformats.org/drawingml/2006/main">
            <a:pPr>
              <a:defRPr sz="255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82626"/>
                </a:solidFill>
                <a:latin typeface="Arial"/>
                <a:ea typeface="Arial"/>
                <a:cs typeface="Arial"/>
              </a:rPr>
              <a:t>Für Ausbildung ab Lehrjahr 1 und Entwicklung ohne Spezialkenntnisse</a:t>
            </a:r>
          </a:p>
          <a:p xmlns:a="http://schemas.openxmlformats.org/drawingml/2006/main">
            <a:pPr>
              <a:defRPr sz="255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82626"/>
                </a:solidFill>
                <a:latin typeface="Arial"/>
                <a:ea typeface="Arial"/>
                <a:cs typeface="Arial"/>
              </a:rPr>
              <a:t>Deutsch · Stand 25.10.2026</a:t>
            </a:r>
          </a:p>
        </p:txBody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FE4CCE12-0794-4DB6-88E0-C1F20149D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B5B5B"/>
                </a:solidFill>
                <a:latin typeface="Arial"/>
                <a:ea typeface="Arial"/>
                <a:cs typeface="Arial"/>
              </a:rPr>
              <a:t>absdd-image-sandbox  |  DE  |  01 / 39</a:t>
            </a:r>
          </a:p>
        </p:txBody>
      </p:sp>
    </p:spTree>
    <p:extLst>
      <p:ext uri="{BB962C8B-B14F-4D97-AF65-F5344CB8AC3E}">
        <p14:creationId xmlns:p14="http://schemas.microsoft.com/office/powerpoint/2010/main" val="105601906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712DC548-AE94-42BC-B73B-12C233A98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defPPr>
            <a:lvl1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1pPr>
            <a:lvl2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2pPr>
            <a:lvl3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3pPr>
            <a:lvl4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4pPr>
            <a:lvl5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5pPr>
            <a:lvl6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6pPr>
            <a:lvl7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7pPr>
            <a:lvl8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8pPr>
            <a:lvl9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82626"/>
                </a:solidFill>
                <a:latin typeface="Arial"/>
                <a:ea typeface="Arial"/>
                <a:cs typeface="Arial"/>
              </a:rPr>
              <a:t>Unser Arbeitsweg</a:t>
            </a:r>
          </a:p>
        </p:txBody>
      </p:sp>
      <p:sp>
        <p:nvSpPr>
          <p:cNvPr id="2" name="heading-rule">
            <a:extLst xmlns:a="http://schemas.openxmlformats.org/drawingml/2006/main">
              <a:ext uri="{FF2B5EF4-FFF2-40B4-BE49-F238E27FC236}">
                <a16:creationId xmlns:a16="http://schemas.microsoft.com/office/drawing/2014/main" id="{716A06E7-305A-4DE5-8955-5DFF5AA67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3830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B65"/>
          </a:solidFill>
          <a:ln xmlns:a="http://schemas.openxmlformats.org/drawingml/2006/main">
            <a:noFill/>
          </a:ln>
        </p:spPr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3D1D2EA5-81F7-47E9-BB1C-A492C82D7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1396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55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defPPr>
            <a:lvl1pPr>
              <a:defRPr sz="255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1pPr>
            <a:lvl2pPr>
              <a:defRPr sz="255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2pPr>
            <a:lvl3pPr>
              <a:defRPr sz="255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3pPr>
            <a:lvl4pPr>
              <a:defRPr sz="255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4pPr>
            <a:lvl5pPr>
              <a:defRPr sz="255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5pPr>
            <a:lvl6pPr>
              <a:defRPr sz="255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6pPr>
            <a:lvl7pPr>
              <a:defRPr sz="255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7pPr>
            <a:lvl8pPr>
              <a:defRPr sz="255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8pPr>
            <a:lvl9pPr>
              <a:defRPr sz="255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255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pPr>
            <a:r>
              <a:t>Umgebung und eigenen Projektordner verstehen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255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pPr>
            <a:r>
              <a:t>Git, Agenten-Kontext und Spec Kit vorbereiten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255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pPr>
            <a:r>
              <a:t>Anforderungen, Plan und Aufgaben prüfen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255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pPr>
            <a:r>
              <a:t>Begrenzte Umsetzung und Ergebnisse reviewen</a:t>
            </a:r>
          </a:p>
        </p:txBody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B80D71E4-7369-41E8-A578-1D79B062A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B5B5B"/>
                </a:solidFill>
                <a:latin typeface="Arial"/>
                <a:ea typeface="Arial"/>
                <a:cs typeface="Arial"/>
              </a:rPr>
              <a:t>absdd-image-sandbox  |  DE  |  02 / 39</a:t>
            </a:r>
          </a:p>
        </p:txBody>
      </p:sp>
    </p:spTree>
    <p:extLst>
      <p:ext uri="{BB962C8B-B14F-4D97-AF65-F5344CB8AC3E}">
        <p14:creationId xmlns:p14="http://schemas.microsoft.com/office/powerpoint/2010/main" val="138026258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itle">
            <a:extLst xmlns:a="http://schemas.openxmlformats.org/drawingml/2006/main">
              <a:ext uri="{FF2B5EF4-FFF2-40B4-BE49-F238E27FC236}">
                <a16:creationId xmlns:a16="http://schemas.microsoft.com/office/drawing/2014/main" id="{E253DA45-BC78-46B4-BC8A-EEE1CF785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defPPr>
            <a:lvl1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1pPr>
            <a:lvl2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2pPr>
            <a:lvl3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3pPr>
            <a:lvl4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4pPr>
            <a:lvl5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5pPr>
            <a:lvl6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6pPr>
            <a:lvl7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7pPr>
            <a:lvl8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8pPr>
            <a:lvl9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82626"/>
                </a:solidFill>
                <a:latin typeface="Arial"/>
                <a:ea typeface="Arial"/>
                <a:cs typeface="Arial"/>
              </a:rPr>
              <a:t>Host, Image und Container</a:t>
            </a:r>
          </a:p>
        </p:txBody>
      </p:sp>
      <p:sp>
        <p:nvSpPr>
          <p:cNvPr id="2" name="heading-rule">
            <a:extLst xmlns:a="http://schemas.openxmlformats.org/drawingml/2006/main">
              <a:ext uri="{FF2B5EF4-FFF2-40B4-BE49-F238E27FC236}">
                <a16:creationId xmlns:a16="http://schemas.microsoft.com/office/drawing/2014/main" id="{FF448BAA-AF43-419C-ABAF-0AE37C8F2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3830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B65"/>
          </a:solidFill>
          <a:ln xmlns:a="http://schemas.openxmlformats.org/drawingml/2006/main">
            <a:noFill/>
          </a:ln>
        </p:spPr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865185C8-1BD9-4197-BC09-2E57D2792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6286500" cy="22459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75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2175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pPr>
            <a:r>
              <a:t>Host: dein echter Rechner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2175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pPr>
            <a:r>
              <a:t>Image: vorbereiteter Werkzeugbestand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2175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pPr>
            <a:r>
              <a:t>Container: laufende Umgebung aus einem Image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2175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pPr>
            <a:r>
              <a:t>Mount: Verbindung zu echten Host-Dateien</a:t>
            </a:r>
          </a:p>
        </p:txBody>
      </p:sp>
      <p:sp>
        <p:nvSpPr>
          <p:cNvPr id="4" name="host">
            <a:extLst xmlns:a="http://schemas.openxmlformats.org/drawingml/2006/main">
              <a:ext uri="{FF2B5EF4-FFF2-40B4-BE49-F238E27FC236}">
                <a16:creationId xmlns:a16="http://schemas.microsoft.com/office/drawing/2014/main" id="{BDE8A452-A2C5-4A09-9AFE-4F547BE55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095500"/>
            <a:ext cx="40005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3F1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42875" tIns="142875" rIns="142875" bIns="142875">
            <a:noAutofit/>
          </a:bodyPr>
          <a:lstStyle xmlns:a="http://schemas.openxmlformats.org/drawingml/2006/main">
            <a:defPPr>
              <a:defRPr sz="2175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82626"/>
                </a:solidFill>
                <a:latin typeface="Arial"/>
                <a:ea typeface="Arial"/>
                <a:cs typeface="Arial"/>
              </a:rPr>
              <a:t>Host</a:t>
            </a:r>
          </a:p>
          <a:p xmlns:a="http://schemas.openxmlformats.org/drawingml/2006/main">
            <a:pPr>
              <a:defRPr sz="2175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82626"/>
                </a:solidFill>
                <a:latin typeface="Arial"/>
                <a:ea typeface="Arial"/>
                <a:cs typeface="Arial"/>
              </a:rPr>
              <a:t>ausgewählter Projektordner</a:t>
            </a:r>
          </a:p>
        </p:txBody>
      </p:sp>
      <p:sp>
        <p:nvSpPr>
          <p:cNvPr id="5" name="mount-direction">
            <a:extLst xmlns:a="http://schemas.openxmlformats.org/drawingml/2006/main">
              <a:ext uri="{FF2B5EF4-FFF2-40B4-BE49-F238E27FC236}">
                <a16:creationId xmlns:a16="http://schemas.microsoft.com/office/drawing/2014/main" id="{8621712E-5BA4-4BC5-9EF4-7F0DB10B3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257550"/>
            <a:ext cx="323850" cy="4953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006B65"/>
          </a:solidFill>
          <a:ln xmlns:a="http://schemas.openxmlformats.org/drawingml/2006/main">
            <a:noFill/>
          </a:ln>
        </p:spPr>
      </p:sp>
      <p:sp>
        <p:nvSpPr>
          <p:cNvPr id="6" name="mount-label">
            <a:extLst xmlns:a="http://schemas.openxmlformats.org/drawingml/2006/main">
              <a:ext uri="{FF2B5EF4-FFF2-40B4-BE49-F238E27FC236}">
                <a16:creationId xmlns:a16="http://schemas.microsoft.com/office/drawing/2014/main" id="{844888C2-F7D2-46D9-87AB-28E36712D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3829050"/>
            <a:ext cx="3905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725" b="0">
                <a:solidFill>
                  <a:srgbClr val="006B65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006B65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006B65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006B65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006B65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006B65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006B65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006B65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006B65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006B6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006B6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06B65"/>
                </a:solidFill>
                <a:latin typeface="Arial"/>
                <a:ea typeface="Arial"/>
                <a:cs typeface="Arial"/>
              </a:rPr>
              <a:t>Mount: echte Host-Dateien</a:t>
            </a:r>
          </a:p>
        </p:txBody>
      </p:sp>
      <p:sp>
        <p:nvSpPr>
          <p:cNvPr id="7" name="container">
            <a:extLst xmlns:a="http://schemas.openxmlformats.org/drawingml/2006/main">
              <a:ext uri="{FF2B5EF4-FFF2-40B4-BE49-F238E27FC236}">
                <a16:creationId xmlns:a16="http://schemas.microsoft.com/office/drawing/2014/main" id="{E6621633-6C7D-4FD4-8F62-9673A44F0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343400"/>
            <a:ext cx="40005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4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42875" tIns="142875" rIns="142875" bIns="142875">
            <a:noAutofit/>
          </a:bodyPr>
          <a:lstStyle xmlns:a="http://schemas.openxmlformats.org/drawingml/2006/main">
            <a:defPPr>
              <a:defRPr sz="2175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82626"/>
                </a:solidFill>
                <a:latin typeface="Arial"/>
                <a:ea typeface="Arial"/>
                <a:cs typeface="Arial"/>
              </a:rPr>
              <a:t>Linux-Container</a:t>
            </a:r>
          </a:p>
          <a:p xmlns:a="http://schemas.openxmlformats.org/drawingml/2006/main">
            <a:pPr>
              <a:defRPr sz="2175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82626"/>
                </a:solidFill>
                <a:latin typeface="Arial"/>
                <a:ea typeface="Arial"/>
                <a:cs typeface="Arial"/>
              </a:rPr>
              <a:t>Benutzer adedev</a:t>
            </a:r>
          </a:p>
        </p:txBody>
      </p:sp>
      <p:sp>
        <p:nvSpPr>
          <p:cNvPr id="8" name="volumes">
            <a:extLst xmlns:a="http://schemas.openxmlformats.org/drawingml/2006/main">
              <a:ext uri="{FF2B5EF4-FFF2-40B4-BE49-F238E27FC236}">
                <a16:creationId xmlns:a16="http://schemas.microsoft.com/office/drawing/2014/main" id="{F7FB3A96-FA3F-4D62-9B33-FEC2EE659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572125"/>
            <a:ext cx="4000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725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82626"/>
                </a:solidFill>
                <a:latin typeface="Arial"/>
                <a:ea typeface="Arial"/>
                <a:cs typeface="Arial"/>
              </a:rPr>
              <a:t>Agentenzustand: getrennte Volumes</a:t>
            </a:r>
          </a:p>
        </p:txBody>
      </p:sp>
      <p:sp>
        <p:nvSpPr>
          <p:cNvPr id="9" name="page">
            <a:extLst xmlns:a="http://schemas.openxmlformats.org/drawingml/2006/main">
              <a:ext uri="{FF2B5EF4-FFF2-40B4-BE49-F238E27FC236}">
                <a16:creationId xmlns:a16="http://schemas.microsoft.com/office/drawing/2014/main" id="{06534F51-FCDF-4CC1-AB2A-61C7F4A41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B5B5B"/>
                </a:solidFill>
                <a:latin typeface="Arial"/>
                <a:ea typeface="Arial"/>
                <a:cs typeface="Arial"/>
              </a:rPr>
              <a:t>absdd-image-sandbox  |  DE  |  03 / 39</a:t>
            </a:r>
          </a:p>
        </p:txBody>
      </p:sp>
    </p:spTree>
    <p:extLst>
      <p:ext uri="{BB962C8B-B14F-4D97-AF65-F5344CB8AC3E}">
        <p14:creationId xmlns:p14="http://schemas.microsoft.com/office/powerpoint/2010/main" val="52965066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E3BAD897-E46C-4CA8-BC57-5471C1D42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defPPr>
            <a:lvl1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1pPr>
            <a:lvl2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2pPr>
            <a:lvl3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3pPr>
            <a:lvl4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4pPr>
            <a:lvl5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5pPr>
            <a:lvl6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6pPr>
            <a:lvl7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7pPr>
            <a:lvl8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8pPr>
            <a:lvl9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82626"/>
                </a:solidFill>
                <a:latin typeface="Arial"/>
                <a:ea typeface="Arial"/>
                <a:cs typeface="Arial"/>
              </a:rPr>
              <a:t>Den richtigen Plattformweg wählen</a:t>
            </a:r>
          </a:p>
        </p:txBody>
      </p:sp>
      <p:sp>
        <p:nvSpPr>
          <p:cNvPr id="2" name="heading-rule">
            <a:extLst xmlns:a="http://schemas.openxmlformats.org/drawingml/2006/main">
              <a:ext uri="{FF2B5EF4-FFF2-40B4-BE49-F238E27FC236}">
                <a16:creationId xmlns:a16="http://schemas.microsoft.com/office/drawing/2014/main" id="{1749934B-4A2D-4690-9121-3730B34B8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3830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B65"/>
          </a:solidFill>
          <a:ln xmlns:a="http://schemas.openxmlformats.org/drawingml/2006/main">
            <a:noFill/>
          </a:ln>
        </p:spPr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184DA606-D721-4E4E-999A-5F1D6DC9F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18562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pPr>
            <a:r>
              <a:t>Apple Silicon: linux/arm64, nativ ohne Rosetta-Fallback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pPr>
            <a:r>
              <a:t>Windows Intel/AMD: PowerShell 7 und Podman-Machine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pPr>
            <a:r>
              <a:t>Ubuntu/WSL2: eigener rootless Podman unter Linux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pPr>
            <a:r>
              <a:t>Gleiche Hardware ersetzt keine getrennten Nachweise</a:t>
            </a:r>
          </a:p>
        </p:txBody>
      </p:sp>
      <p:sp>
        <p:nvSpPr>
          <p:cNvPr id="4" name="command">
            <a:extLst xmlns:a="http://schemas.openxmlformats.org/drawingml/2006/main">
              <a:ext uri="{FF2B5EF4-FFF2-40B4-BE49-F238E27FC236}">
                <a16:creationId xmlns:a16="http://schemas.microsoft.com/office/drawing/2014/main" id="{A48901C3-09D4-40D4-8D04-570CA00BB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85082"/>
            <a:ext cx="109728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4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none" lIns="171450" tIns="171450" rIns="171450" bIns="171450">
            <a:noAutofit/>
          </a:bodyPr>
          <a:lstStyle xmlns:a="http://schemas.openxmlformats.org/drawingml/2006/main">
            <a:def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defPPr>
            <a:lvl1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lvl1pPr>
            <a:lvl2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lvl2pPr>
            <a:lvl3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lvl3pPr>
            <a:lvl4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lvl4pPr>
            <a:lvl5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lvl5pPr>
            <a:lvl6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lvl6pPr>
            <a:lvl7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lvl7pPr>
            <a:lvl8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lvl8pPr>
            <a:lvl9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pPr>
            <a:r>
              <a: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rPr>
              <a:t>podman info</a:t>
            </a:r>
          </a:p>
          <a:p xmlns:a="http://schemas.openxmlformats.org/drawingml/2006/main">
            <a: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pPr>
            <a:r>
              <a: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rPr>
              <a:t>podman-compose config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72FC2BD8-2376-4FCB-A0A0-4C8F04C70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B5B5B"/>
                </a:solidFill>
                <a:latin typeface="Arial"/>
                <a:ea typeface="Arial"/>
                <a:cs typeface="Arial"/>
              </a:rPr>
              <a:t>absdd-image-sandbox  |  DE  |  04 / 39</a:t>
            </a:r>
          </a:p>
        </p:txBody>
      </p:sp>
    </p:spTree>
    <p:extLst>
      <p:ext uri="{BB962C8B-B14F-4D97-AF65-F5344CB8AC3E}">
        <p14:creationId xmlns:p14="http://schemas.microsoft.com/office/powerpoint/2010/main" val="88809368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95BEA44C-E3E4-491E-92C7-09F000DE9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defPPr>
            <a:lvl1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1pPr>
            <a:lvl2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2pPr>
            <a:lvl3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3pPr>
            <a:lvl4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4pPr>
            <a:lvl5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5pPr>
            <a:lvl6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6pPr>
            <a:lvl7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7pPr>
            <a:lvl8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8pPr>
            <a:lvl9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82626"/>
                </a:solidFill>
                <a:latin typeface="Arial"/>
                <a:ea typeface="Arial"/>
                <a:cs typeface="Arial"/>
              </a:rPr>
              <a:t>Ein eigenes Repository verwenden</a:t>
            </a:r>
          </a:p>
        </p:txBody>
      </p:sp>
      <p:sp>
        <p:nvSpPr>
          <p:cNvPr id="2" name="heading-rule">
            <a:extLst xmlns:a="http://schemas.openxmlformats.org/drawingml/2006/main">
              <a:ext uri="{FF2B5EF4-FFF2-40B4-BE49-F238E27FC236}">
                <a16:creationId xmlns:a16="http://schemas.microsoft.com/office/drawing/2014/main" id="{684022B4-A691-4A9F-9461-83192629D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3830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B65"/>
          </a:solidFill>
          <a:ln xmlns:a="http://schemas.openxmlformats.org/drawingml/2006/main">
            <a:noFill/>
          </a:ln>
        </p:spPr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826DD7A6-2AF6-4524-A22A-FD7027FA9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18562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pPr>
            <a:r>
              <a:t>Fork als Standard; Template später optional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pPr>
            <a:r>
              <a:t>origin ist dein beschreibbarer Ursprung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pPr>
            <a:r>
              <a:t>upstream braucht einen passenden Referenzbezug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pPr>
            <a:r>
              <a:t>GitHub ist ein Weg, keine allgemeine Voraussetzung</a:t>
            </a:r>
          </a:p>
        </p:txBody>
      </p:sp>
      <p:sp>
        <p:nvSpPr>
          <p:cNvPr id="4" name="command">
            <a:extLst xmlns:a="http://schemas.openxmlformats.org/drawingml/2006/main">
              <a:ext uri="{FF2B5EF4-FFF2-40B4-BE49-F238E27FC236}">
                <a16:creationId xmlns:a16="http://schemas.microsoft.com/office/drawing/2014/main" id="{0B7B01B6-F17A-46B1-AAE9-C1AA0A3D7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85082"/>
            <a:ext cx="109728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4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none" lIns="171450" tIns="171450" rIns="171450" bIns="171450">
            <a:noAutofit/>
          </a:bodyPr>
          <a:lstStyle xmlns:a="http://schemas.openxmlformats.org/drawingml/2006/main">
            <a:def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defPPr>
            <a:lvl1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lvl1pPr>
            <a:lvl2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lvl2pPr>
            <a:lvl3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lvl3pPr>
            <a:lvl4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lvl4pPr>
            <a:lvl5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lvl5pPr>
            <a:lvl6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lvl6pPr>
            <a:lvl7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lvl7pPr>
            <a:lvl8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lvl8pPr>
            <a:lvl9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pPr>
            <a:r>
              <a: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rPr>
              <a:t>git status --short --branch</a:t>
            </a:r>
          </a:p>
          <a:p xmlns:a="http://schemas.openxmlformats.org/drawingml/2006/main">
            <a: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pPr>
            <a:r>
              <a: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rPr>
              <a:t>git remote -v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4B40BD27-899F-43B0-BC92-55F503A28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B5B5B"/>
                </a:solidFill>
                <a:latin typeface="Arial"/>
                <a:ea typeface="Arial"/>
                <a:cs typeface="Arial"/>
              </a:rPr>
              <a:t>absdd-image-sandbox  |  DE  |  05 / 39</a:t>
            </a:r>
          </a:p>
        </p:txBody>
      </p:sp>
    </p:spTree>
    <p:extLst>
      <p:ext uri="{BB962C8B-B14F-4D97-AF65-F5344CB8AC3E}">
        <p14:creationId xmlns:p14="http://schemas.microsoft.com/office/powerpoint/2010/main" val="46645513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ABB0697D-F4CC-41E6-974F-B2F529D62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defPPr>
            <a:lvl1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1pPr>
            <a:lvl2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2pPr>
            <a:lvl3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3pPr>
            <a:lvl4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4pPr>
            <a:lvl5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5pPr>
            <a:lvl6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6pPr>
            <a:lvl7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7pPr>
            <a:lvl8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8pPr>
            <a:lvl9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82626"/>
                </a:solidFill>
                <a:latin typeface="Arial"/>
                <a:ea typeface="Arial"/>
                <a:cs typeface="Arial"/>
              </a:rPr>
              <a:t>Projekt-Mounts bewusst einrichten</a:t>
            </a:r>
          </a:p>
        </p:txBody>
      </p:sp>
      <p:sp>
        <p:nvSpPr>
          <p:cNvPr id="2" name="heading-rule">
            <a:extLst xmlns:a="http://schemas.openxmlformats.org/drawingml/2006/main">
              <a:ext uri="{FF2B5EF4-FFF2-40B4-BE49-F238E27FC236}">
                <a16:creationId xmlns:a16="http://schemas.microsoft.com/office/drawing/2014/main" id="{FB0F30A8-3B1E-40DD-8606-F2DF04C66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3830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B65"/>
          </a:solidFill>
          <a:ln xmlns:a="http://schemas.openxmlformats.org/drawingml/2006/main">
            <a:noFill/>
          </a:ln>
        </p:spPr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714A7B75-A7DF-4047-B661-A0664B434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18562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pPr>
            <a:r>
              <a:t>.env enthält lokale Compose-Werte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pPr>
            <a:r>
              <a:t>opencode.env bleibt ohne Provider unverändert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pPr>
            <a:r>
              <a:t>Vorhandene Dateien niemals durch Vorlagen ersetzen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pPr>
            <a:r>
              <a:t>Nur benötigte Ordner, nicht das ganze Home mounten</a:t>
            </a:r>
          </a:p>
        </p:txBody>
      </p:sp>
      <p:sp>
        <p:nvSpPr>
          <p:cNvPr id="4" name="command">
            <a:extLst xmlns:a="http://schemas.openxmlformats.org/drawingml/2006/main">
              <a:ext uri="{FF2B5EF4-FFF2-40B4-BE49-F238E27FC236}">
                <a16:creationId xmlns:a16="http://schemas.microsoft.com/office/drawing/2014/main" id="{A730996E-465D-40A4-BAD6-20F58D4E5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85082"/>
            <a:ext cx="109728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4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none" lIns="171450" tIns="171450" rIns="171450" bIns="171450">
            <a:noAutofit/>
          </a:bodyPr>
          <a:lstStyle xmlns:a="http://schemas.openxmlformats.org/drawingml/2006/main">
            <a:def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defPPr>
            <a:lvl1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lvl1pPr>
            <a:lvl2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lvl2pPr>
            <a:lvl3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lvl3pPr>
            <a:lvl4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lvl4pPr>
            <a:lvl5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lvl5pPr>
            <a:lvl6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lvl6pPr>
            <a:lvl7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lvl7pPr>
            <a:lvl8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lvl8pPr>
            <a:lvl9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pPr>
            <a:r>
              <a: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rPr>
              <a:t>if [ ! -e .env ]; then cp .env.example .env; fi</a:t>
            </a:r>
          </a:p>
          <a:p xmlns:a="http://schemas.openxmlformats.org/drawingml/2006/main">
            <a: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pPr>
            <a:r>
              <a: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rPr>
              <a:t>if [ ! -e opencode.env ]; then</a:t>
            </a:r>
          </a:p>
          <a:p xmlns:a="http://schemas.openxmlformats.org/drawingml/2006/main">
            <a: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pPr>
            <a:r>
              <a: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rPr>
              <a:t>  cp opencode.env.example opencode.env</a:t>
            </a:r>
          </a:p>
          <a:p xmlns:a="http://schemas.openxmlformats.org/drawingml/2006/main">
            <a: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pPr>
            <a:r>
              <a: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rPr>
              <a:t>fi</a:t>
            </a:r>
          </a:p>
          <a:p xmlns:a="http://schemas.openxmlformats.org/drawingml/2006/main">
            <a: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pPr>
            <a:r>
              <a: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rPr>
              <a:t>chmod 600 .env opencode.env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49630242-EF15-419C-B5F8-BC34ED7E6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B5B5B"/>
                </a:solidFill>
                <a:latin typeface="Arial"/>
                <a:ea typeface="Arial"/>
                <a:cs typeface="Arial"/>
              </a:rPr>
              <a:t>absdd-image-sandbox  |  DE  |  06 / 39</a:t>
            </a:r>
          </a:p>
        </p:txBody>
      </p:sp>
    </p:spTree>
    <p:extLst>
      <p:ext uri="{BB962C8B-B14F-4D97-AF65-F5344CB8AC3E}">
        <p14:creationId xmlns:p14="http://schemas.microsoft.com/office/powerpoint/2010/main" val="150489034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F066EE6C-8C79-4130-A600-E8D266D7B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defPPr>
            <a:lvl1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1pPr>
            <a:lvl2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2pPr>
            <a:lvl3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3pPr>
            <a:lvl4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4pPr>
            <a:lvl5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5pPr>
            <a:lvl6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6pPr>
            <a:lvl7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7pPr>
            <a:lvl8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8pPr>
            <a:lvl9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82626"/>
                </a:solidFill>
                <a:latin typeface="Arial"/>
                <a:ea typeface="Arial"/>
                <a:cs typeface="Arial"/>
              </a:rPr>
              <a:t>Ein erster Test ohne KI-Konto</a:t>
            </a:r>
          </a:p>
        </p:txBody>
      </p:sp>
      <p:sp>
        <p:nvSpPr>
          <p:cNvPr id="2" name="heading-rule">
            <a:extLst xmlns:a="http://schemas.openxmlformats.org/drawingml/2006/main">
              <a:ext uri="{FF2B5EF4-FFF2-40B4-BE49-F238E27FC236}">
                <a16:creationId xmlns:a16="http://schemas.microsoft.com/office/drawing/2014/main" id="{D3379355-DA72-4D5B-9AA7-3F81BD2B4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3830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B65"/>
          </a:solidFill>
          <a:ln xmlns:a="http://schemas.openxmlformats.org/drawingml/2006/main">
            <a:noFill/>
          </a:ln>
        </p:spPr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CCBEDA91-621E-4F10-BE23-490374F93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18562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pPr>
            <a:r>
              <a:t>Host öffnet die Container-Shell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pPr>
            <a:r>
              <a:t>Benutzer und Arbeitsort prüfen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pPr>
            <a:r>
              <a:t>Ein kleines Programm im Projekt-Mount ausführen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pPr>
            <a:r>
              <a:t>Gleiche Ausgabe ist keine vollständige Plattformabnahme</a:t>
            </a:r>
          </a:p>
        </p:txBody>
      </p:sp>
      <p:sp>
        <p:nvSpPr>
          <p:cNvPr id="4" name="command">
            <a:extLst xmlns:a="http://schemas.openxmlformats.org/drawingml/2006/main">
              <a:ext uri="{FF2B5EF4-FFF2-40B4-BE49-F238E27FC236}">
                <a16:creationId xmlns:a16="http://schemas.microsoft.com/office/drawing/2014/main" id="{9C23480B-E08B-44C8-A799-BA6651742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85082"/>
            <a:ext cx="109728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4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none" lIns="171450" tIns="171450" rIns="171450" bIns="171450">
            <a:noAutofit/>
          </a:bodyPr>
          <a:lstStyle xmlns:a="http://schemas.openxmlformats.org/drawingml/2006/main">
            <a:def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defPPr>
            <a:lvl1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lvl1pPr>
            <a:lvl2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lvl2pPr>
            <a:lvl3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lvl3pPr>
            <a:lvl4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lvl4pPr>
            <a:lvl5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lvl5pPr>
            <a:lvl6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lvl6pPr>
            <a:lvl7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lvl7pPr>
            <a:lvl8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lvl8pPr>
            <a:lvl9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pPr>
            <a:r>
              <a: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rPr>
              <a:t>podman compose exec ade bash</a:t>
            </a:r>
          </a:p>
          <a:p xmlns:a="http://schemas.openxmlformats.org/drawingml/2006/main">
            <a: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pPr>
            <a:r>
              <a: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rPr>
              <a:t># Danach im Container / then inside the container:</a:t>
            </a:r>
          </a:p>
          <a:p xmlns:a="http://schemas.openxmlformats.org/drawingml/2006/main">
            <a: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pPr>
            <a:r>
              <a: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rPr>
              <a:t>id</a:t>
            </a:r>
          </a:p>
          <a:p xmlns:a="http://schemas.openxmlformats.org/drawingml/2006/main">
            <a: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pPr>
            <a:r>
              <a: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rPr>
              <a:t>pwd</a:t>
            </a:r>
          </a:p>
          <a:p xmlns:a="http://schemas.openxmlformats.org/drawingml/2006/main">
            <a: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pPr>
            <a:r>
              <a: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rPr>
              <a:t>python -c 'print("Hello from the sandbox")'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FC668D77-42C7-4552-8BD5-D3039C569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B5B5B"/>
                </a:solidFill>
                <a:latin typeface="Arial"/>
                <a:ea typeface="Arial"/>
                <a:cs typeface="Arial"/>
              </a:rPr>
              <a:t>absdd-image-sandbox  |  DE  |  07 / 39</a:t>
            </a:r>
          </a:p>
        </p:txBody>
      </p:sp>
    </p:spTree>
    <p:extLst>
      <p:ext uri="{BB962C8B-B14F-4D97-AF65-F5344CB8AC3E}">
        <p14:creationId xmlns:p14="http://schemas.microsoft.com/office/powerpoint/2010/main" val="178029627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014C1B25-4259-4DBB-8ABD-6FFFF2739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defPPr>
            <a:lvl1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1pPr>
            <a:lvl2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2pPr>
            <a:lvl3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3pPr>
            <a:lvl4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4pPr>
            <a:lvl5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5pPr>
            <a:lvl6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6pPr>
            <a:lvl7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7pPr>
            <a:lvl8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8pPr>
            <a:lvl9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82626"/>
                </a:solidFill>
                <a:latin typeface="Arial"/>
                <a:ea typeface="Arial"/>
                <a:cs typeface="Arial"/>
              </a:rPr>
              <a:t>Agenten-Kontext vor dem Auftrag</a:t>
            </a:r>
          </a:p>
        </p:txBody>
      </p:sp>
      <p:sp>
        <p:nvSpPr>
          <p:cNvPr id="2" name="heading-rule">
            <a:extLst xmlns:a="http://schemas.openxmlformats.org/drawingml/2006/main">
              <a:ext uri="{FF2B5EF4-FFF2-40B4-BE49-F238E27FC236}">
                <a16:creationId xmlns:a16="http://schemas.microsoft.com/office/drawing/2014/main" id="{70B4B8FB-EFA2-43A8-8557-A40C6D333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3830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B65"/>
          </a:solidFill>
          <a:ln xmlns:a="http://schemas.openxmlformats.org/drawingml/2006/main">
            <a:noFill/>
          </a:ln>
        </p:spPr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8237764B-45D8-4055-B9D6-8B453FBBA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1396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55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defPPr>
            <a:lvl1pPr>
              <a:defRPr sz="255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1pPr>
            <a:lvl2pPr>
              <a:defRPr sz="255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2pPr>
            <a:lvl3pPr>
              <a:defRPr sz="255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3pPr>
            <a:lvl4pPr>
              <a:defRPr sz="255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4pPr>
            <a:lvl5pPr>
              <a:defRPr sz="255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5pPr>
            <a:lvl6pPr>
              <a:defRPr sz="255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6pPr>
            <a:lvl7pPr>
              <a:defRPr sz="255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7pPr>
            <a:lvl8pPr>
              <a:defRPr sz="255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8pPr>
            <a:lvl9pPr>
              <a:defRPr sz="255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255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pPr>
            <a:r>
              <a:t>Projekt-README und vorhandene Agent-Regeln lesen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255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pPr>
            <a:r>
              <a:t>AGENTS.md hält dauerhafte Projektkonventionen fest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255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pPr>
            <a:r>
              <a:t>Gemeinsame Regeln für alle gepflegten Agenten erhalten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255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pPr>
            <a:r>
              <a:t>Anmeldung und Berechtigungen nicht automatisieren</a:t>
            </a:r>
          </a:p>
        </p:txBody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66C92D28-1513-4993-85BA-BC1C2AD0D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B5B5B"/>
                </a:solidFill>
                <a:latin typeface="Arial"/>
                <a:ea typeface="Arial"/>
                <a:cs typeface="Arial"/>
              </a:rPr>
              <a:t>absdd-image-sandbox  |  DE  |  08 / 39</a:t>
            </a:r>
          </a:p>
        </p:txBody>
      </p:sp>
    </p:spTree>
    <p:extLst>
      <p:ext uri="{BB962C8B-B14F-4D97-AF65-F5344CB8AC3E}">
        <p14:creationId xmlns:p14="http://schemas.microsoft.com/office/powerpoint/2010/main" val="85644083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E37D3335-FC00-422C-AB9B-149EE3B55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defPPr>
            <a:lvl1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1pPr>
            <a:lvl2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2pPr>
            <a:lvl3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3pPr>
            <a:lvl4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4pPr>
            <a:lvl5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5pPr>
            <a:lvl6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6pPr>
            <a:lvl7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7pPr>
            <a:lvl8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8pPr>
            <a:lvl9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82626"/>
                </a:solidFill>
                <a:latin typeface="Arial"/>
                <a:ea typeface="Arial"/>
                <a:cs typeface="Arial"/>
              </a:rPr>
              <a:t>Ein begrenzter AGENTS.md-Auftrag</a:t>
            </a:r>
          </a:p>
        </p:txBody>
      </p:sp>
      <p:sp>
        <p:nvSpPr>
          <p:cNvPr id="2" name="heading-rule">
            <a:extLst xmlns:a="http://schemas.openxmlformats.org/drawingml/2006/main">
              <a:ext uri="{FF2B5EF4-FFF2-40B4-BE49-F238E27FC236}">
                <a16:creationId xmlns:a16="http://schemas.microsoft.com/office/drawing/2014/main" id="{5CDD6F4D-AAC0-4CFA-B1D9-9F275A98E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3830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B65"/>
          </a:solidFill>
          <a:ln xmlns:a="http://schemas.openxmlformats.org/drawingml/2006/main">
            <a:noFill/>
          </a:ln>
        </p:spPr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976B42ED-EB8F-436C-88EF-BF7F304B7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18562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pPr>
            <a:r>
              <a:t>Erst belegbare Repo-Signale lesen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pPr>
            <a:r>
              <a:t>Nur dauerhafte, projektspezifische Regeln ergänzen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pPr>
            <a:r>
              <a:t>Keine Kommandos oder Freigaben erfinden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pPr>
            <a:r>
              <a:t>Diff und offene Annahmen zeigen lassen</a:t>
            </a:r>
          </a:p>
        </p:txBody>
      </p:sp>
      <p:sp>
        <p:nvSpPr>
          <p:cNvPr id="4" name="command">
            <a:extLst xmlns:a="http://schemas.openxmlformats.org/drawingml/2006/main">
              <a:ext uri="{FF2B5EF4-FFF2-40B4-BE49-F238E27FC236}">
                <a16:creationId xmlns:a16="http://schemas.microsoft.com/office/drawing/2014/main" id="{0419ABC0-A142-4A2A-B757-693475BC5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85082"/>
            <a:ext cx="1097280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4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none" lIns="171450" tIns="171450" rIns="171450" bIns="171450">
            <a:noAutofit/>
          </a:bodyPr>
          <a:lstStyle xmlns:a="http://schemas.openxmlformats.org/drawingml/2006/main">
            <a:def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defPPr>
            <a:lvl1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lvl1pPr>
            <a:lvl2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lvl2pPr>
            <a:lvl3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lvl3pPr>
            <a:lvl4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lvl4pPr>
            <a:lvl5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lvl5pPr>
            <a:lvl6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lvl6pPr>
            <a:lvl7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lvl7pPr>
            <a:lvl8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lvl8pPr>
            <a:lvl9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pPr>
            <a:r>
              <a: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rPr>
              <a:t>Lies README, Projektdateien, Skripte und Agent-Regeln.</a:t>
            </a:r>
          </a:p>
          <a:p xmlns:a="http://schemas.openxmlformats.org/drawingml/2006/main">
            <a: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pPr>
            <a:r>
              <a: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rPr>
              <a:t>Ergänze nur belegbare Projektkonventionen in AGENTS.md.</a:t>
            </a:r>
          </a:p>
          <a:p xmlns:a="http://schemas.openxmlformats.org/drawingml/2006/main">
            <a: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pPr>
            <a:r>
              <a: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rPr>
              <a:t>Erhalte Sicherheitsgrenzen und vorhandene Hinweise.</a:t>
            </a:r>
          </a:p>
          <a:p xmlns:a="http://schemas.openxmlformats.org/drawingml/2006/main">
            <a: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pPr>
            <a:r>
              <a: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rPr>
              <a:t>Zeige Diff und offene Annahmen. Kein Commit oder Push.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60F66608-40B5-4B95-BE22-C743EBB06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B5B5B"/>
                </a:solidFill>
                <a:latin typeface="Arial"/>
                <a:ea typeface="Arial"/>
                <a:cs typeface="Arial"/>
              </a:rPr>
              <a:t>absdd-image-sandbox  |  DE  |  09 / 39</a:t>
            </a:r>
          </a:p>
        </p:txBody>
      </p:sp>
    </p:spTree>
    <p:extLst>
      <p:ext uri="{BB962C8B-B14F-4D97-AF65-F5344CB8AC3E}">
        <p14:creationId xmlns:p14="http://schemas.microsoft.com/office/powerpoint/2010/main" val="130469303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840D8792-5364-4894-B48D-1C9D05F4C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defPPr>
            <a:lvl1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1pPr>
            <a:lvl2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2pPr>
            <a:lvl3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3pPr>
            <a:lvl4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4pPr>
            <a:lvl5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5pPr>
            <a:lvl6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6pPr>
            <a:lvl7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7pPr>
            <a:lvl8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8pPr>
            <a:lvl9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82626"/>
                </a:solidFill>
                <a:latin typeface="Arial"/>
                <a:ea typeface="Arial"/>
                <a:cs typeface="Arial"/>
              </a:rPr>
              <a:t>Spec Kit kontrolliert initialisieren</a:t>
            </a:r>
          </a:p>
        </p:txBody>
      </p:sp>
      <p:sp>
        <p:nvSpPr>
          <p:cNvPr id="2" name="heading-rule">
            <a:extLst xmlns:a="http://schemas.openxmlformats.org/drawingml/2006/main">
              <a:ext uri="{FF2B5EF4-FFF2-40B4-BE49-F238E27FC236}">
                <a16:creationId xmlns:a16="http://schemas.microsoft.com/office/drawing/2014/main" id="{0F030F45-BA50-48B8-9E93-4C1D6344B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3830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B65"/>
          </a:solidFill>
          <a:ln xmlns:a="http://schemas.openxmlformats.org/drawingml/2006/main">
            <a:noFill/>
          </a:ln>
        </p:spPr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7327FE83-29A1-4C40-8695-0205814D1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18562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pPr>
            <a:r>
              <a:t>Das Image pinnt Spec Kit 1.2.3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pPr>
            <a:r>
              <a:t>Vorhandene .specify-Struktur zuerst prüfen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pPr>
            <a:r>
              <a:t>Eine passende Agenten-Integration auswählen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pPr>
            <a:r>
              <a:t>Keine globale Installation und kein ungeprüftes --force</a:t>
            </a:r>
          </a:p>
        </p:txBody>
      </p:sp>
      <p:sp>
        <p:nvSpPr>
          <p:cNvPr id="4" name="command">
            <a:extLst xmlns:a="http://schemas.openxmlformats.org/drawingml/2006/main">
              <a:ext uri="{FF2B5EF4-FFF2-40B4-BE49-F238E27FC236}">
                <a16:creationId xmlns:a16="http://schemas.microsoft.com/office/drawing/2014/main" id="{CB9BC7C8-8DD5-43A4-A1B9-E8A570223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85082"/>
            <a:ext cx="1097280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4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none" lIns="171450" tIns="171450" rIns="171450" bIns="171450">
            <a:noAutofit/>
          </a:bodyPr>
          <a:lstStyle xmlns:a="http://schemas.openxmlformats.org/drawingml/2006/main">
            <a:def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defPPr>
            <a:lvl1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lvl1pPr>
            <a:lvl2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lvl2pPr>
            <a:lvl3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lvl3pPr>
            <a:lvl4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lvl4pPr>
            <a:lvl5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lvl5pPr>
            <a:lvl6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lvl6pPr>
            <a:lvl7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lvl7pPr>
            <a:lvl8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lvl8pPr>
            <a:lvl9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pPr>
            <a:r>
              <a: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rPr>
              <a:t>specify --version</a:t>
            </a:r>
          </a:p>
          <a:p xmlns:a="http://schemas.openxmlformats.org/drawingml/2006/main">
            <a: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pPr>
            <a:r>
              <a: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rPr>
              <a:t>specify check</a:t>
            </a:r>
          </a:p>
          <a:p xmlns:a="http://schemas.openxmlformats.org/drawingml/2006/main">
            <a: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pPr>
            <a:r>
              <a: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rPr>
              <a:t># Nur im vorbereiteten neuen Projekt / new project only:</a:t>
            </a:r>
          </a:p>
          <a:p xmlns:a="http://schemas.openxmlformats.org/drawingml/2006/main">
            <a: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pPr>
            <a:r>
              <a: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rPr>
              <a:t>specify init . --integration codex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3EF2329B-BEDE-4805-83FE-D3AF159A1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B5B5B"/>
                </a:solidFill>
                <a:latin typeface="Arial"/>
                <a:ea typeface="Arial"/>
                <a:cs typeface="Arial"/>
              </a:rPr>
              <a:t>absdd-image-sandbox  |  DE  |  10 / 39</a:t>
            </a:r>
          </a:p>
        </p:txBody>
      </p:sp>
    </p:spTree>
    <p:extLst>
      <p:ext uri="{BB962C8B-B14F-4D97-AF65-F5344CB8AC3E}">
        <p14:creationId xmlns:p14="http://schemas.microsoft.com/office/powerpoint/2010/main" val="190747881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AB97BA82-8E7E-4FAD-BD28-13BEB8FB0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defPPr>
            <a:lvl1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1pPr>
            <a:lvl2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2pPr>
            <a:lvl3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3pPr>
            <a:lvl4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4pPr>
            <a:lvl5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5pPr>
            <a:lvl6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6pPr>
            <a:lvl7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7pPr>
            <a:lvl8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8pPr>
            <a:lvl9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82626"/>
                </a:solidFill>
                <a:latin typeface="Arial"/>
                <a:ea typeface="Arial"/>
                <a:cs typeface="Arial"/>
              </a:rPr>
              <a:t>Shell-Befehl oder Agenten-Aufruf?</a:t>
            </a:r>
          </a:p>
        </p:txBody>
      </p:sp>
      <p:sp>
        <p:nvSpPr>
          <p:cNvPr id="2" name="heading-rule">
            <a:extLst xmlns:a="http://schemas.openxmlformats.org/drawingml/2006/main">
              <a:ext uri="{FF2B5EF4-FFF2-40B4-BE49-F238E27FC236}">
                <a16:creationId xmlns:a16="http://schemas.microsoft.com/office/drawing/2014/main" id="{7571710C-FD0D-458A-8A80-33D3E83F8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3830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B65"/>
          </a:solidFill>
          <a:ln xmlns:a="http://schemas.openxmlformats.org/drawingml/2006/main">
            <a:noFill/>
          </a:ln>
        </p:spPr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127220E7-403E-4C02-8C40-2AE221A66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1396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55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defPPr>
            <a:lvl1pPr>
              <a:defRPr sz="255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1pPr>
            <a:lvl2pPr>
              <a:defRPr sz="255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2pPr>
            <a:lvl3pPr>
              <a:defRPr sz="255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3pPr>
            <a:lvl4pPr>
              <a:defRPr sz="255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4pPr>
            <a:lvl5pPr>
              <a:defRPr sz="255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5pPr>
            <a:lvl6pPr>
              <a:defRPr sz="255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6pPr>
            <a:lvl7pPr>
              <a:defRPr sz="255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7pPr>
            <a:lvl8pPr>
              <a:defRPr sz="255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8pPr>
            <a:lvl9pPr>
              <a:defRPr sz="255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255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pPr>
            <a:r>
              <a:t>specify init gehört in die Shell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255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pPr>
            <a:r>
              <a:t>$speckit-analyze ist ein Codex-Skill-Aufruf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255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pPr>
            <a:r>
              <a:t>Andere Integrationen haben andere Schreibweisen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255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pPr>
            <a:r>
              <a:t>Vorhandene Skills prüfen, nicht Schreibweisen erraten</a:t>
            </a:r>
          </a:p>
        </p:txBody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325B38C2-3E15-4A02-ABC8-A94C745F4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B5B5B"/>
                </a:solidFill>
                <a:latin typeface="Arial"/>
                <a:ea typeface="Arial"/>
                <a:cs typeface="Arial"/>
              </a:rPr>
              <a:t>absdd-image-sandbox  |  DE  |  11 / 39</a:t>
            </a:r>
          </a:p>
        </p:txBody>
      </p:sp>
    </p:spTree>
    <p:extLst>
      <p:ext uri="{BB962C8B-B14F-4D97-AF65-F5344CB8AC3E}">
        <p14:creationId xmlns:p14="http://schemas.microsoft.com/office/powerpoint/2010/main" val="109332505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5F746C4D-B07C-4B28-B321-0AD4EA87F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defPPr>
            <a:lvl1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1pPr>
            <a:lvl2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2pPr>
            <a:lvl3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3pPr>
            <a:lvl4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4pPr>
            <a:lvl5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5pPr>
            <a:lvl6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6pPr>
            <a:lvl7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7pPr>
            <a:lvl8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8pPr>
            <a:lvl9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82626"/>
                </a:solidFill>
                <a:latin typeface="Arial"/>
                <a:ea typeface="Arial"/>
                <a:cs typeface="Arial"/>
              </a:rPr>
              <a:t>Governance-Presets zuerst verstehen</a:t>
            </a:r>
          </a:p>
        </p:txBody>
      </p:sp>
      <p:sp>
        <p:nvSpPr>
          <p:cNvPr id="2" name="heading-rule">
            <a:extLst xmlns:a="http://schemas.openxmlformats.org/drawingml/2006/main">
              <a:ext uri="{FF2B5EF4-FFF2-40B4-BE49-F238E27FC236}">
                <a16:creationId xmlns:a16="http://schemas.microsoft.com/office/drawing/2014/main" id="{30591B12-BAA6-4F05-B23D-4E2ABBF4F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3830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B65"/>
          </a:solidFill>
          <a:ln xmlns:a="http://schemas.openxmlformats.org/drawingml/2006/main">
            <a:noFill/>
          </a:ln>
        </p:spPr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C3026438-577A-424B-90DF-FD186BA4E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18562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pPr>
            <a:r>
              <a:t>Ein Preset ergänzt Regeln für den Arbeitsablauf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pPr>
            <a:r>
              <a:t>Kleine Prioritätszahlen haben Vorrang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pPr>
            <a:r>
              <a:t>Installation ist keine Kontrolle-Erfüllung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pPr>
            <a:r>
              <a:t>Bestehende Versionen und lokale Änderungen prüfen</a:t>
            </a:r>
          </a:p>
        </p:txBody>
      </p:sp>
      <p:sp>
        <p:nvSpPr>
          <p:cNvPr id="4" name="command">
            <a:extLst xmlns:a="http://schemas.openxmlformats.org/drawingml/2006/main">
              <a:ext uri="{FF2B5EF4-FFF2-40B4-BE49-F238E27FC236}">
                <a16:creationId xmlns:a16="http://schemas.microsoft.com/office/drawing/2014/main" id="{277D5E6E-54D8-477B-908D-3B6AC8F89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85082"/>
            <a:ext cx="109728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4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none" lIns="171450" tIns="171450" rIns="171450" bIns="171450">
            <a:noAutofit/>
          </a:bodyPr>
          <a:lstStyle xmlns:a="http://schemas.openxmlformats.org/drawingml/2006/main">
            <a:def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defPPr>
            <a:lvl1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lvl1pPr>
            <a:lvl2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lvl2pPr>
            <a:lvl3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lvl3pPr>
            <a:lvl4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lvl4pPr>
            <a:lvl5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lvl5pPr>
            <a:lvl6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lvl6pPr>
            <a:lvl7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lvl7pPr>
            <a:lvl8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lvl8pPr>
            <a:lvl9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pPr>
            <a:r>
              <a: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rPr>
              <a:t>specify preset list</a:t>
            </a:r>
          </a:p>
          <a:p xmlns:a="http://schemas.openxmlformats.org/drawingml/2006/main">
            <a: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pPr>
            <a:r>
              <a: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rPr>
              <a:t>git status --short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B5641E12-C7B0-4B1D-B038-E2740EE6D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B5B5B"/>
                </a:solidFill>
                <a:latin typeface="Arial"/>
                <a:ea typeface="Arial"/>
                <a:cs typeface="Arial"/>
              </a:rPr>
              <a:t>absdd-image-sandbox  |  DE  |  12 / 39</a:t>
            </a:r>
          </a:p>
        </p:txBody>
      </p:sp>
    </p:spTree>
    <p:extLst>
      <p:ext uri="{BB962C8B-B14F-4D97-AF65-F5344CB8AC3E}">
        <p14:creationId xmlns:p14="http://schemas.microsoft.com/office/powerpoint/2010/main" val="12649175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37E133F0-12E7-4443-8063-98AAD934D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defPPr>
            <a:lvl1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1pPr>
            <a:lvl2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2pPr>
            <a:lvl3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3pPr>
            <a:lvl4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4pPr>
            <a:lvl5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5pPr>
            <a:lvl6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6pPr>
            <a:lvl7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7pPr>
            <a:lvl8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8pPr>
            <a:lvl9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82626"/>
                </a:solidFill>
                <a:latin typeface="Arial"/>
                <a:ea typeface="Arial"/>
                <a:cs typeface="Arial"/>
              </a:rPr>
              <a:t>Sechs fachliche Basis-Presets</a:t>
            </a:r>
          </a:p>
        </p:txBody>
      </p:sp>
      <p:sp>
        <p:nvSpPr>
          <p:cNvPr id="2" name="heading-rule">
            <a:extLst xmlns:a="http://schemas.openxmlformats.org/drawingml/2006/main">
              <a:ext uri="{FF2B5EF4-FFF2-40B4-BE49-F238E27FC236}">
                <a16:creationId xmlns:a16="http://schemas.microsoft.com/office/drawing/2014/main" id="{E8D12BA3-F833-4DDF-A735-3C6B3EEAC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3830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B65"/>
          </a:solidFill>
          <a:ln xmlns:a="http://schemas.openxmlformats.org/drawingml/2006/main">
            <a:noFill/>
          </a:ln>
        </p:spPr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21F7E67C-BF7E-455C-8288-F919E0DC9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1396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55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defPPr>
            <a:lvl1pPr>
              <a:defRPr sz="255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1pPr>
            <a:lvl2pPr>
              <a:defRPr sz="255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2pPr>
            <a:lvl3pPr>
              <a:defRPr sz="255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3pPr>
            <a:lvl4pPr>
              <a:defRPr sz="255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4pPr>
            <a:lvl5pPr>
              <a:defRPr sz="255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5pPr>
            <a:lvl6pPr>
              <a:defRPr sz="255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6pPr>
            <a:lvl7pPr>
              <a:defRPr sz="255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7pPr>
            <a:lvl8pPr>
              <a:defRPr sz="255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8pPr>
            <a:lvl9pPr>
              <a:defRPr sz="255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255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pPr>
            <a:r>
              <a:t>Security und Architecture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255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pPr>
            <a:r>
              <a:t>iSAQB Architecture und A11Y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255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pPr>
            <a:r>
              <a:t>Cross-Platform und Agent Parity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255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pPr>
            <a:r>
              <a:t>Das verwaltete Standardprofil enthält zusätzlich zwei Lauf-Presets</a:t>
            </a:r>
          </a:p>
        </p:txBody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67143A03-CF9A-47E1-AD5D-4A44EDB3F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B5B5B"/>
                </a:solidFill>
                <a:latin typeface="Arial"/>
                <a:ea typeface="Arial"/>
                <a:cs typeface="Arial"/>
              </a:rPr>
              <a:t>absdd-image-sandbox  |  DE  |  13 / 39</a:t>
            </a:r>
          </a:p>
        </p:txBody>
      </p:sp>
    </p:spTree>
    <p:extLst>
      <p:ext uri="{BB962C8B-B14F-4D97-AF65-F5344CB8AC3E}">
        <p14:creationId xmlns:p14="http://schemas.microsoft.com/office/powerpoint/2010/main" val="156963998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A6C3611F-FC81-4FCB-A527-26769EA5E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defPPr>
            <a:lvl1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1pPr>
            <a:lvl2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2pPr>
            <a:lvl3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3pPr>
            <a:lvl4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4pPr>
            <a:lvl5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5pPr>
            <a:lvl6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6pPr>
            <a:lvl7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7pPr>
            <a:lvl8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8pPr>
            <a:lvl9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82626"/>
                </a:solidFill>
                <a:latin typeface="Arial"/>
                <a:ea typeface="Arial"/>
                <a:cs typeface="Arial"/>
              </a:rPr>
              <a:t>Security und Architecture</a:t>
            </a:r>
          </a:p>
        </p:txBody>
      </p:sp>
      <p:sp>
        <p:nvSpPr>
          <p:cNvPr id="2" name="heading-rule">
            <a:extLst xmlns:a="http://schemas.openxmlformats.org/drawingml/2006/main">
              <a:ext uri="{FF2B5EF4-FFF2-40B4-BE49-F238E27FC236}">
                <a16:creationId xmlns:a16="http://schemas.microsoft.com/office/drawing/2014/main" id="{F1C0D597-F88C-42ED-A0E2-572361296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3830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B65"/>
          </a:solidFill>
          <a:ln xmlns:a="http://schemas.openxmlformats.org/drawingml/2006/main">
            <a:noFill/>
          </a:ln>
        </p:spPr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FA20C848-D2E7-4941-AB1A-D89DA07E6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1396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55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defPPr>
            <a:lvl1pPr>
              <a:defRPr sz="255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1pPr>
            <a:lvl2pPr>
              <a:defRPr sz="255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2pPr>
            <a:lvl3pPr>
              <a:defRPr sz="255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3pPr>
            <a:lvl4pPr>
              <a:defRPr sz="255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4pPr>
            <a:lvl5pPr>
              <a:defRPr sz="255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5pPr>
            <a:lvl6pPr>
              <a:defRPr sz="255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6pPr>
            <a:lvl7pPr>
              <a:defRPr sz="255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7pPr>
            <a:lvl8pPr>
              <a:defRPr sz="255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8pPr>
            <a:lvl9pPr>
              <a:defRPr sz="255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255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pPr>
            <a:r>
              <a:t>Security: Schutzbedarf, Secrets und Lieferketten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255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pPr>
            <a:r>
              <a:t>Architecture: Grenzen, Entscheidungen und Risiken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255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pPr>
            <a:r>
              <a:t>Annahmen und Nachweise sichtbar trennen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255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pPr>
            <a:r>
              <a:t>Menschliche Freigaben bleiben menschlich</a:t>
            </a:r>
          </a:p>
        </p:txBody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854AA005-5874-4B51-840C-1A60F6C9E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B5B5B"/>
                </a:solidFill>
                <a:latin typeface="Arial"/>
                <a:ea typeface="Arial"/>
                <a:cs typeface="Arial"/>
              </a:rPr>
              <a:t>absdd-image-sandbox  |  DE  |  14 / 39</a:t>
            </a:r>
          </a:p>
        </p:txBody>
      </p:sp>
    </p:spTree>
    <p:extLst>
      <p:ext uri="{BB962C8B-B14F-4D97-AF65-F5344CB8AC3E}">
        <p14:creationId xmlns:p14="http://schemas.microsoft.com/office/powerpoint/2010/main" val="568701431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61FF9224-2B9D-43E5-8A71-D2C1FAFE9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defPPr>
            <a:lvl1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1pPr>
            <a:lvl2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2pPr>
            <a:lvl3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3pPr>
            <a:lvl4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4pPr>
            <a:lvl5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5pPr>
            <a:lvl6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6pPr>
            <a:lvl7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7pPr>
            <a:lvl8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8pPr>
            <a:lvl9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82626"/>
                </a:solidFill>
                <a:latin typeface="Arial"/>
                <a:ea typeface="Arial"/>
                <a:cs typeface="Arial"/>
              </a:rPr>
              <a:t>iSAQB und Barrierefreiheit</a:t>
            </a:r>
          </a:p>
        </p:txBody>
      </p:sp>
      <p:sp>
        <p:nvSpPr>
          <p:cNvPr id="2" name="heading-rule">
            <a:extLst xmlns:a="http://schemas.openxmlformats.org/drawingml/2006/main">
              <a:ext uri="{FF2B5EF4-FFF2-40B4-BE49-F238E27FC236}">
                <a16:creationId xmlns:a16="http://schemas.microsoft.com/office/drawing/2014/main" id="{6CD5827E-422F-4637-88EF-5FAA1515E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3830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B65"/>
          </a:solidFill>
          <a:ln xmlns:a="http://schemas.openxmlformats.org/drawingml/2006/main">
            <a:noFill/>
          </a:ln>
        </p:spPr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40120EB6-8C96-4E0E-908B-56B9B3879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1396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55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defPPr>
            <a:lvl1pPr>
              <a:defRPr sz="255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1pPr>
            <a:lvl2pPr>
              <a:defRPr sz="255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2pPr>
            <a:lvl3pPr>
              <a:defRPr sz="255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3pPr>
            <a:lvl4pPr>
              <a:defRPr sz="255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4pPr>
            <a:lvl5pPr>
              <a:defRPr sz="255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5pPr>
            <a:lvl6pPr>
              <a:defRPr sz="255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6pPr>
            <a:lvl7pPr>
              <a:defRPr sz="255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7pPr>
            <a:lvl8pPr>
              <a:defRPr sz="255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8pPr>
            <a:lvl9pPr>
              <a:defRPr sz="255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255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pPr>
            <a:r>
              <a:t>iSAQB: nachvollziehbare Architektur und Qualitätsziele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255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pPr>
            <a:r>
              <a:t>A11Y: verständliche Inhalte und zugängliche Bedienung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255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pPr>
            <a:r>
              <a:t>Deutsch zuerst, gleichwertiges Englisch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255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pPr>
            <a:r>
              <a:t>Automatische Checks ersetzen keine menschliche Prüfung</a:t>
            </a:r>
          </a:p>
        </p:txBody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3F825FD5-F52D-44BF-8923-7018F468A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B5B5B"/>
                </a:solidFill>
                <a:latin typeface="Arial"/>
                <a:ea typeface="Arial"/>
                <a:cs typeface="Arial"/>
              </a:rPr>
              <a:t>absdd-image-sandbox  |  DE  |  15 / 39</a:t>
            </a:r>
          </a:p>
        </p:txBody>
      </p:sp>
    </p:spTree>
    <p:extLst>
      <p:ext uri="{BB962C8B-B14F-4D97-AF65-F5344CB8AC3E}">
        <p14:creationId xmlns:p14="http://schemas.microsoft.com/office/powerpoint/2010/main" val="824682394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FB06FF23-04AF-4983-8265-3BBF47878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defPPr>
            <a:lvl1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1pPr>
            <a:lvl2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2pPr>
            <a:lvl3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3pPr>
            <a:lvl4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4pPr>
            <a:lvl5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5pPr>
            <a:lvl6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6pPr>
            <a:lvl7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7pPr>
            <a:lvl8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8pPr>
            <a:lvl9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82626"/>
                </a:solidFill>
                <a:latin typeface="Arial"/>
                <a:ea typeface="Arial"/>
                <a:cs typeface="Arial"/>
              </a:rPr>
              <a:t>Cross-Platform und Agent Parity</a:t>
            </a:r>
          </a:p>
        </p:txBody>
      </p:sp>
      <p:sp>
        <p:nvSpPr>
          <p:cNvPr id="2" name="heading-rule">
            <a:extLst xmlns:a="http://schemas.openxmlformats.org/drawingml/2006/main">
              <a:ext uri="{FF2B5EF4-FFF2-40B4-BE49-F238E27FC236}">
                <a16:creationId xmlns:a16="http://schemas.microsoft.com/office/drawing/2014/main" id="{35D42B60-C55D-429E-838D-77004CBB8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3830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B65"/>
          </a:solidFill>
          <a:ln xmlns:a="http://schemas.openxmlformats.org/drawingml/2006/main">
            <a:noFill/>
          </a:ln>
        </p:spPr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EE339E2D-CCAC-4FB1-B217-5D05BFE8A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1396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55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defPPr>
            <a:lvl1pPr>
              <a:defRPr sz="255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1pPr>
            <a:lvl2pPr>
              <a:defRPr sz="255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2pPr>
            <a:lvl3pPr>
              <a:defRPr sz="255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3pPr>
            <a:lvl4pPr>
              <a:defRPr sz="255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4pPr>
            <a:lvl5pPr>
              <a:defRPr sz="255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5pPr>
            <a:lvl6pPr>
              <a:defRPr sz="255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6pPr>
            <a:lvl7pPr>
              <a:defRPr sz="255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7pPr>
            <a:lvl8pPr>
              <a:defRPr sz="255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8pPr>
            <a:lvl9pPr>
              <a:defRPr sz="255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255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pPr>
            <a:r>
              <a:t>Befehle mit Ort und Shell kennzeichnen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255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pPr>
            <a:r>
              <a:t>ARM64 und AMD64 getrennt prüfen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255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pPr>
            <a:r>
              <a:t>Windows und Ubuntu/WSL2 getrennt belegen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255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pPr>
            <a:r>
              <a:t>Gemeinsame Agent-Regeln synchron pflegen</a:t>
            </a:r>
          </a:p>
        </p:txBody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DE88CBD6-56A9-4722-BFFA-42B778A7E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B5B5B"/>
                </a:solidFill>
                <a:latin typeface="Arial"/>
                <a:ea typeface="Arial"/>
                <a:cs typeface="Arial"/>
              </a:rPr>
              <a:t>absdd-image-sandbox  |  DE  |  16 / 39</a:t>
            </a:r>
          </a:p>
        </p:txBody>
      </p:sp>
    </p:spTree>
    <p:extLst>
      <p:ext uri="{BB962C8B-B14F-4D97-AF65-F5344CB8AC3E}">
        <p14:creationId xmlns:p14="http://schemas.microsoft.com/office/powerpoint/2010/main" val="39970977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F28358ED-CB69-4FDA-A1F2-8A188FF12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defPPr>
            <a:lvl1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1pPr>
            <a:lvl2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2pPr>
            <a:lvl3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3pPr>
            <a:lvl4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4pPr>
            <a:lvl5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5pPr>
            <a:lvl6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6pPr>
            <a:lvl7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7pPr>
            <a:lvl8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8pPr>
            <a:lvl9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82626"/>
                </a:solidFill>
                <a:latin typeface="Arial"/>
                <a:ea typeface="Arial"/>
                <a:cs typeface="Arial"/>
              </a:rPr>
              <a:t>Vor Installation eine Vorschau</a:t>
            </a:r>
          </a:p>
        </p:txBody>
      </p:sp>
      <p:sp>
        <p:nvSpPr>
          <p:cNvPr id="2" name="heading-rule">
            <a:extLst xmlns:a="http://schemas.openxmlformats.org/drawingml/2006/main">
              <a:ext uri="{FF2B5EF4-FFF2-40B4-BE49-F238E27FC236}">
                <a16:creationId xmlns:a16="http://schemas.microsoft.com/office/drawing/2014/main" id="{4089A146-C4D4-499B-BA86-88CC9CE57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3830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B65"/>
          </a:solidFill>
          <a:ln xmlns:a="http://schemas.openxmlformats.org/drawingml/2006/main">
            <a:noFill/>
          </a:ln>
        </p:spPr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14B8B7B3-AD65-4AFB-B269-3199115A8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18562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pPr>
            <a:r>
              <a:t>Im vorbereiteten Anwendungsprojekt arbeiten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pPr>
            <a:r>
              <a:t>Verwaltete Matrix ausdrücklich auswählen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pPr>
            <a:r>
              <a:t>Erst --dry-run, dann menschlich prüfen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pPr>
            <a:r>
              <a:t>Ohne Installationsauftrag nichts anwenden</a:t>
            </a:r>
          </a:p>
        </p:txBody>
      </p:sp>
      <p:sp>
        <p:nvSpPr>
          <p:cNvPr id="4" name="command">
            <a:extLst xmlns:a="http://schemas.openxmlformats.org/drawingml/2006/main">
              <a:ext uri="{FF2B5EF4-FFF2-40B4-BE49-F238E27FC236}">
                <a16:creationId xmlns:a16="http://schemas.microsoft.com/office/drawing/2014/main" id="{C230E9C5-966F-47E8-B8F6-3ACED2C74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85082"/>
            <a:ext cx="1097280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4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none" lIns="171450" tIns="171450" rIns="171450" bIns="171450">
            <a:noAutofit/>
          </a:bodyPr>
          <a:lstStyle xmlns:a="http://schemas.openxmlformats.org/drawingml/2006/main">
            <a:def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defPPr>
            <a:lvl1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lvl1pPr>
            <a:lvl2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lvl2pPr>
            <a:lvl3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lvl3pPr>
            <a:lvl4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lvl4pPr>
            <a:lvl5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lvl5pPr>
            <a:lvl6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lvl6pPr>
            <a:lvl7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lvl7pPr>
            <a:lvl8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lvl8pPr>
            <a:lvl9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pPr>
            <a:r>
              <a: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rPr>
              <a:t>repo=/ade-dev-sandbox</a:t>
            </a:r>
          </a:p>
          <a:p xmlns:a="http://schemas.openxmlformats.org/drawingml/2006/main">
            <a: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pPr>
            <a:r>
              <a: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rPr>
              <a:t>matrix="$repo/scripts/config/spec-kit-governance-presets.json"</a:t>
            </a:r>
          </a:p>
          <a:p xmlns:a="http://schemas.openxmlformats.org/drawingml/2006/main">
            <a: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pPr>
            <a:r>
              <a: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rPr>
              <a:t>bash "$repo/scripts/install-spec-kit-governance-presets.sh" \</a:t>
            </a:r>
          </a:p>
          <a:p xmlns:a="http://schemas.openxmlformats.org/drawingml/2006/main">
            <a: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pPr>
            <a:r>
              <a: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rPr>
              <a:t>  --repo "$PWD" --preset-config "$matrix" --dry-run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BF5BBBBC-BB3C-4D73-A796-09951C7C4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B5B5B"/>
                </a:solidFill>
                <a:latin typeface="Arial"/>
                <a:ea typeface="Arial"/>
                <a:cs typeface="Arial"/>
              </a:rPr>
              <a:t>absdd-image-sandbox  |  DE  |  17 / 39</a:t>
            </a:r>
          </a:p>
        </p:txBody>
      </p:sp>
    </p:spTree>
    <p:extLst>
      <p:ext uri="{BB962C8B-B14F-4D97-AF65-F5344CB8AC3E}">
        <p14:creationId xmlns:p14="http://schemas.microsoft.com/office/powerpoint/2010/main" val="199158951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7744EAE1-8728-47BB-8B9B-83C1ABC0F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defPPr>
            <a:lvl1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1pPr>
            <a:lvl2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2pPr>
            <a:lvl3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3pPr>
            <a:lvl4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4pPr>
            <a:lvl5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5pPr>
            <a:lvl6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6pPr>
            <a:lvl7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7pPr>
            <a:lvl8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8pPr>
            <a:lvl9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82626"/>
                </a:solidFill>
                <a:latin typeface="Arial"/>
                <a:ea typeface="Arial"/>
                <a:cs typeface="Arial"/>
              </a:rPr>
              <a:t>Zusatzprofile nach Bedarf wählen</a:t>
            </a:r>
          </a:p>
        </p:txBody>
      </p:sp>
      <p:sp>
        <p:nvSpPr>
          <p:cNvPr id="2" name="heading-rule">
            <a:extLst xmlns:a="http://schemas.openxmlformats.org/drawingml/2006/main">
              <a:ext uri="{FF2B5EF4-FFF2-40B4-BE49-F238E27FC236}">
                <a16:creationId xmlns:a16="http://schemas.microsoft.com/office/drawing/2014/main" id="{0E432425-5AEF-4C33-B8BD-7E5F62C4B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3830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B65"/>
          </a:solidFill>
          <a:ln xmlns:a="http://schemas.openxmlformats.org/drawingml/2006/main">
            <a:noFill/>
          </a:ln>
        </p:spPr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11619D15-CA59-4C70-91C5-2D683853A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1396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55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defPPr>
            <a:lvl1pPr>
              <a:defRPr sz="255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1pPr>
            <a:lvl2pPr>
              <a:defRPr sz="255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2pPr>
            <a:lvl3pPr>
              <a:defRPr sz="255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3pPr>
            <a:lvl4pPr>
              <a:defRPr sz="255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4pPr>
            <a:lvl5pPr>
              <a:defRPr sz="255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5pPr>
            <a:lvl6pPr>
              <a:defRPr sz="255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6pPr>
            <a:lvl7pPr>
              <a:defRPr sz="255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7pPr>
            <a:lvl8pPr>
              <a:defRPr sz="255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8pPr>
            <a:lvl9pPr>
              <a:defRPr sz="255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255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pPr>
            <a:r>
              <a:t>Intake: Anforderungen erfassen, prüfen und ordnen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255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pPr>
            <a:r>
              <a:t>Model Routing: Aufgabenrollen operativ zuordnen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255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pPr>
            <a:r>
              <a:t>Assurance: projektspezifische Kontrollnachweise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255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pPr>
            <a:r>
              <a:t>Statistics: optionale Pilot-Auswertung</a:t>
            </a:r>
          </a:p>
        </p:txBody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9FE1F902-BF0A-447B-A48D-50CE4DA5A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B5B5B"/>
                </a:solidFill>
                <a:latin typeface="Arial"/>
                <a:ea typeface="Arial"/>
                <a:cs typeface="Arial"/>
              </a:rPr>
              <a:t>absdd-image-sandbox  |  DE  |  18 / 39</a:t>
            </a:r>
          </a:p>
        </p:txBody>
      </p:sp>
    </p:spTree>
    <p:extLst>
      <p:ext uri="{BB962C8B-B14F-4D97-AF65-F5344CB8AC3E}">
        <p14:creationId xmlns:p14="http://schemas.microsoft.com/office/powerpoint/2010/main" val="149889538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990A5870-BAE4-4963-98F4-FEC025B3B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defPPr>
            <a:lvl1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1pPr>
            <a:lvl2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2pPr>
            <a:lvl3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3pPr>
            <a:lvl4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4pPr>
            <a:lvl5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5pPr>
            <a:lvl6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6pPr>
            <a:lvl7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7pPr>
            <a:lvl8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8pPr>
            <a:lvl9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82626"/>
                </a:solidFill>
                <a:latin typeface="Arial"/>
                <a:ea typeface="Arial"/>
                <a:cs typeface="Arial"/>
              </a:rPr>
              <a:t>Versionen und Prioritäten belegen</a:t>
            </a:r>
          </a:p>
        </p:txBody>
      </p:sp>
      <p:sp>
        <p:nvSpPr>
          <p:cNvPr id="2" name="heading-rule">
            <a:extLst xmlns:a="http://schemas.openxmlformats.org/drawingml/2006/main">
              <a:ext uri="{FF2B5EF4-FFF2-40B4-BE49-F238E27FC236}">
                <a16:creationId xmlns:a16="http://schemas.microsoft.com/office/drawing/2014/main" id="{323D5F28-9275-43CF-B6C7-39B8F795E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3830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B65"/>
          </a:solidFill>
          <a:ln xmlns:a="http://schemas.openxmlformats.org/drawingml/2006/main">
            <a:noFill/>
          </a:ln>
        </p:spPr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720D8993-BCFC-4254-B7CF-D3909151E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18562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pPr>
            <a:r>
              <a:t>Matrix und tatsächlich installierten Stand vergleichen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pPr>
            <a:r>
              <a:t>Quellen und lokale Änderungen nachvollziehen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pPr>
            <a:r>
              <a:t>Profile nicht unbeabsichtigt erweitern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pPr>
            <a:r>
              <a:t>Abweichungen als Open behandeln</a:t>
            </a:r>
          </a:p>
        </p:txBody>
      </p:sp>
      <p:sp>
        <p:nvSpPr>
          <p:cNvPr id="4" name="command">
            <a:extLst xmlns:a="http://schemas.openxmlformats.org/drawingml/2006/main">
              <a:ext uri="{FF2B5EF4-FFF2-40B4-BE49-F238E27FC236}">
                <a16:creationId xmlns:a16="http://schemas.microsoft.com/office/drawing/2014/main" id="{85305E48-B9A8-4333-9B4E-1BCC1CE9A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85082"/>
            <a:ext cx="1097280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4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none" lIns="171450" tIns="171450" rIns="171450" bIns="171450">
            <a:noAutofit/>
          </a:bodyPr>
          <a:lstStyle xmlns:a="http://schemas.openxmlformats.org/drawingml/2006/main">
            <a:def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defPPr>
            <a:lvl1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lvl1pPr>
            <a:lvl2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lvl2pPr>
            <a:lvl3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lvl3pPr>
            <a:lvl4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lvl4pPr>
            <a:lvl5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lvl5pPr>
            <a:lvl6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lvl6pPr>
            <a:lvl7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lvl7pPr>
            <a:lvl8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lvl8pPr>
            <a:lvl9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pPr>
            <a:r>
              <a: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rPr>
              <a:t>repo=/ade-dev-sandbox</a:t>
            </a:r>
          </a:p>
          <a:p xmlns:a="http://schemas.openxmlformats.org/drawingml/2006/main">
            <a: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pPr>
            <a:r>
              <a: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rPr>
              <a:t>bash "$repo/scripts/install-spec-kit-governance-presets.sh" \</a:t>
            </a:r>
          </a:p>
          <a:p xmlns:a="http://schemas.openxmlformats.org/drawingml/2006/main">
            <a: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pPr>
            <a:r>
              <a: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rPr>
              <a:t>  --repo "$PWD" --check-only</a:t>
            </a:r>
          </a:p>
          <a:p xmlns:a="http://schemas.openxmlformats.org/drawingml/2006/main">
            <a: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pPr>
            <a:r>
              <a: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rPr>
              <a:t>specify preset list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DC24A768-4E2B-4790-8539-621A568EF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B5B5B"/>
                </a:solidFill>
                <a:latin typeface="Arial"/>
                <a:ea typeface="Arial"/>
                <a:cs typeface="Arial"/>
              </a:rPr>
              <a:t>absdd-image-sandbox  |  DE  |  19 / 39</a:t>
            </a:r>
          </a:p>
        </p:txBody>
      </p:sp>
    </p:spTree>
    <p:extLst>
      <p:ext uri="{BB962C8B-B14F-4D97-AF65-F5344CB8AC3E}">
        <p14:creationId xmlns:p14="http://schemas.microsoft.com/office/powerpoint/2010/main" val="379241771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CF207DEF-56B4-45BA-9260-A85B35283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defPPr>
            <a:lvl1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1pPr>
            <a:lvl2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2pPr>
            <a:lvl3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3pPr>
            <a:lvl4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4pPr>
            <a:lvl5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5pPr>
            <a:lvl6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6pPr>
            <a:lvl7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7pPr>
            <a:lvl8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8pPr>
            <a:lvl9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82626"/>
                </a:solidFill>
                <a:latin typeface="Arial"/>
                <a:ea typeface="Arial"/>
                <a:cs typeface="Arial"/>
              </a:rPr>
              <a:t>Intake: einen Auftrag festhalten</a:t>
            </a:r>
          </a:p>
        </p:txBody>
      </p:sp>
      <p:sp>
        <p:nvSpPr>
          <p:cNvPr id="2" name="heading-rule">
            <a:extLst xmlns:a="http://schemas.openxmlformats.org/drawingml/2006/main">
              <a:ext uri="{FF2B5EF4-FFF2-40B4-BE49-F238E27FC236}">
                <a16:creationId xmlns:a16="http://schemas.microsoft.com/office/drawing/2014/main" id="{D2B7E010-063C-4F73-9220-23A7C6367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3830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B65"/>
          </a:solidFill>
          <a:ln xmlns:a="http://schemas.openxmlformats.org/drawingml/2006/main">
            <a:noFill/>
          </a:ln>
        </p:spPr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49E009AA-74FF-490A-B175-ADF449932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1396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55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defPPr>
            <a:lvl1pPr>
              <a:defRPr sz="255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1pPr>
            <a:lvl2pPr>
              <a:defRPr sz="255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2pPr>
            <a:lvl3pPr>
              <a:defRPr sz="255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3pPr>
            <a:lvl4pPr>
              <a:defRPr sz="255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4pPr>
            <a:lvl5pPr>
              <a:defRPr sz="255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5pPr>
            <a:lvl6pPr>
              <a:defRPr sz="255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6pPr>
            <a:lvl7pPr>
              <a:defRPr sz="255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7pPr>
            <a:lvl8pPr>
              <a:defRPr sz="255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8pPr>
            <a:lvl9pPr>
              <a:defRPr sz="255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255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pPr>
            <a:r>
              <a:t>Zielgruppe, Problem und Ergebnis benennen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255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pPr>
            <a:r>
              <a:t>Scope und Nicht-Ziele ausdrücklich festhalten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255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pPr>
            <a:r>
              <a:t>Quellen geordnet und nachvollziehbar binden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255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pPr>
            <a:r>
              <a:t>Offene Entscheidungen nicht erraten</a:t>
            </a:r>
          </a:p>
        </p:txBody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A36F9F78-3EDB-4825-B6FE-3472E3511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B5B5B"/>
                </a:solidFill>
                <a:latin typeface="Arial"/>
                <a:ea typeface="Arial"/>
                <a:cs typeface="Arial"/>
              </a:rPr>
              <a:t>absdd-image-sandbox  |  DE  |  20 / 39</a:t>
            </a:r>
          </a:p>
        </p:txBody>
      </p:sp>
    </p:spTree>
    <p:extLst>
      <p:ext uri="{BB962C8B-B14F-4D97-AF65-F5344CB8AC3E}">
        <p14:creationId xmlns:p14="http://schemas.microsoft.com/office/powerpoint/2010/main" val="1974984150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86E8A918-4B2E-45A4-AEDB-9CA0A4A58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defPPr>
            <a:lvl1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1pPr>
            <a:lvl2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2pPr>
            <a:lvl3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3pPr>
            <a:lvl4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4pPr>
            <a:lvl5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5pPr>
            <a:lvl6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6pPr>
            <a:lvl7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7pPr>
            <a:lvl8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8pPr>
            <a:lvl9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82626"/>
                </a:solidFill>
                <a:latin typeface="Arial"/>
                <a:ea typeface="Arial"/>
                <a:cs typeface="Arial"/>
              </a:rPr>
              <a:t>Review und Reihenfolge vor dem Start</a:t>
            </a:r>
          </a:p>
        </p:txBody>
      </p:sp>
      <p:sp>
        <p:nvSpPr>
          <p:cNvPr id="2" name="heading-rule">
            <a:extLst xmlns:a="http://schemas.openxmlformats.org/drawingml/2006/main">
              <a:ext uri="{FF2B5EF4-FFF2-40B4-BE49-F238E27FC236}">
                <a16:creationId xmlns:a16="http://schemas.microsoft.com/office/drawing/2014/main" id="{8502632D-00CE-43A4-9D99-4ECB99586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3830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B65"/>
          </a:solidFill>
          <a:ln xmlns:a="http://schemas.openxmlformats.org/drawingml/2006/main">
            <a:noFill/>
          </a:ln>
        </p:spPr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E2C6AE4C-0FC9-413E-B7AA-EC153A3EF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1396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55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defPPr>
            <a:lvl1pPr>
              <a:defRPr sz="255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1pPr>
            <a:lvl2pPr>
              <a:defRPr sz="255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2pPr>
            <a:lvl3pPr>
              <a:defRPr sz="255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3pPr>
            <a:lvl4pPr>
              <a:defRPr sz="255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4pPr>
            <a:lvl5pPr>
              <a:defRPr sz="255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5pPr>
            <a:lvl6pPr>
              <a:defRPr sz="255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6pPr>
            <a:lvl7pPr>
              <a:defRPr sz="255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7pPr>
            <a:lvl8pPr>
              <a:defRPr sz="255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8pPr>
            <a:lvl9pPr>
              <a:defRPr sz="255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255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pPr>
            <a:r>
              <a:t>Anforderungen vollständig und unabhängig prüfen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255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pPr>
            <a:r>
              <a:t>Abhängigkeiten und Übergaben ausdrücklich nennen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255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pPr>
            <a:r>
              <a:t>Ready und Eligible sind keine Startbefugnis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255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pPr>
            <a:r>
              <a:t>Einen blockierten Nachfolger nicht überspringen</a:t>
            </a:r>
          </a:p>
        </p:txBody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2F9E993E-A336-4E3D-82E5-2FEF5A49A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B5B5B"/>
                </a:solidFill>
                <a:latin typeface="Arial"/>
                <a:ea typeface="Arial"/>
                <a:cs typeface="Arial"/>
              </a:rPr>
              <a:t>absdd-image-sandbox  |  DE  |  21 / 39</a:t>
            </a:r>
          </a:p>
        </p:txBody>
      </p:sp>
    </p:spTree>
    <p:extLst>
      <p:ext uri="{BB962C8B-B14F-4D97-AF65-F5344CB8AC3E}">
        <p14:creationId xmlns:p14="http://schemas.microsoft.com/office/powerpoint/2010/main" val="172519634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47B34F57-AE64-4790-8073-9042C7798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defPPr>
            <a:lvl1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1pPr>
            <a:lvl2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2pPr>
            <a:lvl3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3pPr>
            <a:lvl4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4pPr>
            <a:lvl5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5pPr>
            <a:lvl6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6pPr>
            <a:lvl7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7pPr>
            <a:lvl8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8pPr>
            <a:lvl9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82626"/>
                </a:solidFill>
                <a:latin typeface="Arial"/>
                <a:ea typeface="Arial"/>
                <a:cs typeface="Arial"/>
              </a:rPr>
              <a:t>Autonomie braucht klare Grenzen</a:t>
            </a:r>
          </a:p>
        </p:txBody>
      </p:sp>
      <p:sp>
        <p:nvSpPr>
          <p:cNvPr id="2" name="heading-rule">
            <a:extLst xmlns:a="http://schemas.openxmlformats.org/drawingml/2006/main">
              <a:ext uri="{FF2B5EF4-FFF2-40B4-BE49-F238E27FC236}">
                <a16:creationId xmlns:a16="http://schemas.microsoft.com/office/drawing/2014/main" id="{A31E9AEF-61D7-4D16-8A69-5CBB63AD8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3830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B65"/>
          </a:solidFill>
          <a:ln xmlns:a="http://schemas.openxmlformats.org/drawingml/2006/main">
            <a:noFill/>
          </a:ln>
        </p:spPr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7969590A-8A5A-43D2-82CC-4C6888C26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1396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55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defPPr>
            <a:lvl1pPr>
              <a:defRPr sz="255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1pPr>
            <a:lvl2pPr>
              <a:defRPr sz="255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2pPr>
            <a:lvl3pPr>
              <a:defRPr sz="255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3pPr>
            <a:lvl4pPr>
              <a:defRPr sz="255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4pPr>
            <a:lvl5pPr>
              <a:defRPr sz="255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5pPr>
            <a:lvl6pPr>
              <a:defRPr sz="255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6pPr>
            <a:lvl7pPr>
              <a:defRPr sz="255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7pPr>
            <a:lvl8pPr>
              <a:defRPr sz="255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8pPr>
            <a:lvl9pPr>
              <a:defRPr sz="255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255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pPr>
            <a:r>
              <a:t>Ziel, Dateien und erlaubte Aktionen festlegen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255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pPr>
            <a:r>
              <a:t>Stop-Regeln und menschliche Entscheidungen nennen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255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pPr>
            <a:r>
              <a:t>Commit, Push und Merge getrennt genehmigen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255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pPr>
            <a:r>
              <a:t>Modellwahl bleibt operative Agenten-Guidance</a:t>
            </a:r>
          </a:p>
        </p:txBody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4750722C-4F80-4A48-80AE-EEDBEEAE1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B5B5B"/>
                </a:solidFill>
                <a:latin typeface="Arial"/>
                <a:ea typeface="Arial"/>
                <a:cs typeface="Arial"/>
              </a:rPr>
              <a:t>absdd-image-sandbox  |  DE  |  22 / 39</a:t>
            </a:r>
          </a:p>
        </p:txBody>
      </p:sp>
    </p:spTree>
    <p:extLst>
      <p:ext uri="{BB962C8B-B14F-4D97-AF65-F5344CB8AC3E}">
        <p14:creationId xmlns:p14="http://schemas.microsoft.com/office/powerpoint/2010/main" val="1041133187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777EA4F4-B606-4907-A2C7-4988F60EA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defPPr>
            <a:lvl1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1pPr>
            <a:lvl2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2pPr>
            <a:lvl3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3pPr>
            <a:lvl4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4pPr>
            <a:lvl5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5pPr>
            <a:lvl6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6pPr>
            <a:lvl7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7pPr>
            <a:lvl8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8pPr>
            <a:lvl9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82626"/>
                </a:solidFill>
                <a:latin typeface="Arial"/>
                <a:ea typeface="Arial"/>
                <a:cs typeface="Arial"/>
              </a:rPr>
              <a:t>Nachweise statt grüne Behauptungen</a:t>
            </a:r>
          </a:p>
        </p:txBody>
      </p:sp>
      <p:sp>
        <p:nvSpPr>
          <p:cNvPr id="2" name="heading-rule">
            <a:extLst xmlns:a="http://schemas.openxmlformats.org/drawingml/2006/main">
              <a:ext uri="{FF2B5EF4-FFF2-40B4-BE49-F238E27FC236}">
                <a16:creationId xmlns:a16="http://schemas.microsoft.com/office/drawing/2014/main" id="{B6D2EE26-5BF4-4C48-8D01-EDE368FB9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3830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B65"/>
          </a:solidFill>
          <a:ln xmlns:a="http://schemas.openxmlformats.org/drawingml/2006/main">
            <a:noFill/>
          </a:ln>
        </p:spPr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645AD7DC-47C5-4DEB-892A-DD2D46F79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1396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55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defPPr>
            <a:lvl1pPr>
              <a:defRPr sz="255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1pPr>
            <a:lvl2pPr>
              <a:defRPr sz="255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2pPr>
            <a:lvl3pPr>
              <a:defRPr sz="255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3pPr>
            <a:lvl4pPr>
              <a:defRPr sz="255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4pPr>
            <a:lvl5pPr>
              <a:defRPr sz="255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5pPr>
            <a:lvl6pPr>
              <a:defRPr sz="255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6pPr>
            <a:lvl7pPr>
              <a:defRPr sz="255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7pPr>
            <a:lvl8pPr>
              <a:defRPr sz="255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8pPr>
            <a:lvl9pPr>
              <a:defRPr sz="255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255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pPr>
            <a:r>
              <a:t>Datum, Version, Plattform und Ergebnis festhalten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255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pPr>
            <a:r>
              <a:t>Open: Owner, Follow-up und Trigger nennen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255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pPr>
            <a:r>
              <a:t>N/A braucht eine nachvollziehbare Begründung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255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pPr>
            <a:r>
              <a:t>Statistiken messen keine Personenleistung</a:t>
            </a:r>
          </a:p>
        </p:txBody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D4598677-F968-4199-86E7-75E47C0F1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B5B5B"/>
                </a:solidFill>
                <a:latin typeface="Arial"/>
                <a:ea typeface="Arial"/>
                <a:cs typeface="Arial"/>
              </a:rPr>
              <a:t>absdd-image-sandbox  |  DE  |  23 / 39</a:t>
            </a:r>
          </a:p>
        </p:txBody>
      </p:sp>
    </p:spTree>
    <p:extLst>
      <p:ext uri="{BB962C8B-B14F-4D97-AF65-F5344CB8AC3E}">
        <p14:creationId xmlns:p14="http://schemas.microsoft.com/office/powerpoint/2010/main" val="951743257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8CFCD00B-B7FD-4673-8854-BA47320DB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defPPr>
            <a:lvl1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1pPr>
            <a:lvl2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2pPr>
            <a:lvl3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3pPr>
            <a:lvl4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4pPr>
            <a:lvl5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5pPr>
            <a:lvl6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6pPr>
            <a:lvl7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7pPr>
            <a:lvl8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8pPr>
            <a:lvl9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82626"/>
                </a:solidFill>
                <a:latin typeface="Arial"/>
                <a:ea typeface="Arial"/>
                <a:cs typeface="Arial"/>
              </a:rPr>
              <a:t>Bestehende Projekte nicht überschreiben</a:t>
            </a:r>
          </a:p>
        </p:txBody>
      </p:sp>
      <p:sp>
        <p:nvSpPr>
          <p:cNvPr id="2" name="heading-rule">
            <a:extLst xmlns:a="http://schemas.openxmlformats.org/drawingml/2006/main">
              <a:ext uri="{FF2B5EF4-FFF2-40B4-BE49-F238E27FC236}">
                <a16:creationId xmlns:a16="http://schemas.microsoft.com/office/drawing/2014/main" id="{CA562058-8CFD-4DFB-AEB3-A963DF651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3830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B65"/>
          </a:solidFill>
          <a:ln xmlns:a="http://schemas.openxmlformats.org/drawingml/2006/main">
            <a:noFill/>
          </a:ln>
        </p:spPr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D014493B-B921-49E5-9614-675CE9969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18562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pPr>
            <a:r>
              <a:t>Vor jeder Einrichtung git status lesen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pPr>
            <a:r>
              <a:t>Lokale Regeln und Presets erhalten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pPr>
            <a:r>
              <a:t>Änderungen klein und überprüfbar halten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pPr>
            <a:r>
              <a:t>Keine Reparatur durch pauschales --force</a:t>
            </a:r>
          </a:p>
        </p:txBody>
      </p:sp>
      <p:sp>
        <p:nvSpPr>
          <p:cNvPr id="4" name="command">
            <a:extLst xmlns:a="http://schemas.openxmlformats.org/drawingml/2006/main">
              <a:ext uri="{FF2B5EF4-FFF2-40B4-BE49-F238E27FC236}">
                <a16:creationId xmlns:a16="http://schemas.microsoft.com/office/drawing/2014/main" id="{91C31035-2135-474C-9873-3B71BFEF1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85082"/>
            <a:ext cx="109728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4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none" lIns="171450" tIns="171450" rIns="171450" bIns="171450">
            <a:noAutofit/>
          </a:bodyPr>
          <a:lstStyle xmlns:a="http://schemas.openxmlformats.org/drawingml/2006/main">
            <a:def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defPPr>
            <a:lvl1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lvl1pPr>
            <a:lvl2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lvl2pPr>
            <a:lvl3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lvl3pPr>
            <a:lvl4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lvl4pPr>
            <a:lvl5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lvl5pPr>
            <a:lvl6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lvl6pPr>
            <a:lvl7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lvl7pPr>
            <a:lvl8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lvl8pPr>
            <a:lvl9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pPr>
            <a:r>
              <a: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rPr>
              <a:t>git status --short</a:t>
            </a:r>
          </a:p>
          <a:p xmlns:a="http://schemas.openxmlformats.org/drawingml/2006/main">
            <a: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pPr>
            <a:r>
              <a: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rPr>
              <a:t>git diff</a:t>
            </a:r>
          </a:p>
          <a:p xmlns:a="http://schemas.openxmlformats.org/drawingml/2006/main">
            <a: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pPr>
            <a:r>
              <a: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rPr>
              <a:t>specify preset list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873B6C25-3641-4488-8BD2-78529C6DB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B5B5B"/>
                </a:solidFill>
                <a:latin typeface="Arial"/>
                <a:ea typeface="Arial"/>
                <a:cs typeface="Arial"/>
              </a:rPr>
              <a:t>absdd-image-sandbox  |  DE  |  24 / 39</a:t>
            </a:r>
          </a:p>
        </p:txBody>
      </p:sp>
    </p:spTree>
    <p:extLst>
      <p:ext uri="{BB962C8B-B14F-4D97-AF65-F5344CB8AC3E}">
        <p14:creationId xmlns:p14="http://schemas.microsoft.com/office/powerpoint/2010/main" val="414738491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205B9C17-441D-4509-9BC8-1595EE2FB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defPPr>
            <a:lvl1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1pPr>
            <a:lvl2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2pPr>
            <a:lvl3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3pPr>
            <a:lvl4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4pPr>
            <a:lvl5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5pPr>
            <a:lvl6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6pPr>
            <a:lvl7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7pPr>
            <a:lvl8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8pPr>
            <a:lvl9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82626"/>
                </a:solidFill>
                <a:latin typeface="Arial"/>
                <a:ea typeface="Arial"/>
                <a:cs typeface="Arial"/>
              </a:rPr>
              <a:t>Unser Beispiel: SysInfoTool</a:t>
            </a:r>
          </a:p>
        </p:txBody>
      </p:sp>
      <p:sp>
        <p:nvSpPr>
          <p:cNvPr id="2" name="heading-rule">
            <a:extLst xmlns:a="http://schemas.openxmlformats.org/drawingml/2006/main">
              <a:ext uri="{FF2B5EF4-FFF2-40B4-BE49-F238E27FC236}">
                <a16:creationId xmlns:a16="http://schemas.microsoft.com/office/drawing/2014/main" id="{7DDBB2C4-8FF1-458A-9489-9EE0F0B44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3830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B65"/>
          </a:solidFill>
          <a:ln xmlns:a="http://schemas.openxmlformats.org/drawingml/2006/main">
            <a:noFill/>
          </a:ln>
        </p:spPr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BE83425A-E879-4703-92BD-6D3AB544A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1396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55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defPPr>
            <a:lvl1pPr>
              <a:defRPr sz="255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1pPr>
            <a:lvl2pPr>
              <a:defRPr sz="255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2pPr>
            <a:lvl3pPr>
              <a:defRPr sz="255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3pPr>
            <a:lvl4pPr>
              <a:defRPr sz="255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4pPr>
            <a:lvl5pPr>
              <a:defRPr sz="255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5pPr>
            <a:lvl6pPr>
              <a:defRPr sz="255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6pPr>
            <a:lvl7pPr>
              <a:defRPr sz="255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7pPr>
            <a:lvl8pPr>
              <a:defRPr sz="255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8pPr>
            <a:lvl9pPr>
              <a:defRPr sz="255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255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pPr>
            <a:r>
              <a:t>Kleines Konsolenprogramm mit erfundenen Daten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255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pPr>
            <a:r>
              <a:t>Eine der sechs Sprachtoolchains wählen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255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pPr>
            <a:r>
              <a:t>Keine echten Benutzer-, Host- oder Netzwerkdaten sammeln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255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pPr>
            <a:r>
              <a:t>Noch keine Umsetzung starten</a:t>
            </a:r>
          </a:p>
        </p:txBody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A97BC246-5D8C-4711-B22E-5BDF6573F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B5B5B"/>
                </a:solidFill>
                <a:latin typeface="Arial"/>
                <a:ea typeface="Arial"/>
                <a:cs typeface="Arial"/>
              </a:rPr>
              <a:t>absdd-image-sandbox  |  DE  |  25 / 39</a:t>
            </a:r>
          </a:p>
        </p:txBody>
      </p:sp>
    </p:spTree>
    <p:extLst>
      <p:ext uri="{BB962C8B-B14F-4D97-AF65-F5344CB8AC3E}">
        <p14:creationId xmlns:p14="http://schemas.microsoft.com/office/powerpoint/2010/main" val="552488705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26265C9C-6642-48B1-A58E-1E1746889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defPPr>
            <a:lvl1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1pPr>
            <a:lvl2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2pPr>
            <a:lvl3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3pPr>
            <a:lvl4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4pPr>
            <a:lvl5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5pPr>
            <a:lvl6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6pPr>
            <a:lvl7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7pPr>
            <a:lvl8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8pPr>
            <a:lvl9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82626"/>
                </a:solidFill>
                <a:latin typeface="Arial"/>
                <a:ea typeface="Arial"/>
                <a:cs typeface="Arial"/>
              </a:rPr>
              <a:t>Constitution: Projektprinzipien</a:t>
            </a:r>
          </a:p>
        </p:txBody>
      </p:sp>
      <p:sp>
        <p:nvSpPr>
          <p:cNvPr id="2" name="heading-rule">
            <a:extLst xmlns:a="http://schemas.openxmlformats.org/drawingml/2006/main">
              <a:ext uri="{FF2B5EF4-FFF2-40B4-BE49-F238E27FC236}">
                <a16:creationId xmlns:a16="http://schemas.microsoft.com/office/drawing/2014/main" id="{AC28510E-7F67-4FD1-8794-B49FE00BC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3830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B65"/>
          </a:solidFill>
          <a:ln xmlns:a="http://schemas.openxmlformats.org/drawingml/2006/main">
            <a:noFill/>
          </a:ln>
        </p:spPr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EF794BDE-FC88-430F-B6CE-20CCC15C6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18562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pPr>
            <a:r>
              <a:t>Langlebige Regeln des Anwendungsprojekts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pPr>
            <a:r>
              <a:t>Sicherheit, Qualität und Zuständigkeiten benennen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pPr>
            <a:r>
              <a:t>MUST, SHOULD und MAY bewusst unterscheiden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pPr>
            <a:r>
              <a:t>Bestehende Verfassung zuerst lesen</a:t>
            </a:r>
          </a:p>
        </p:txBody>
      </p:sp>
      <p:sp>
        <p:nvSpPr>
          <p:cNvPr id="4" name="command">
            <a:extLst xmlns:a="http://schemas.openxmlformats.org/drawingml/2006/main">
              <a:ext uri="{FF2B5EF4-FFF2-40B4-BE49-F238E27FC236}">
                <a16:creationId xmlns:a16="http://schemas.microsoft.com/office/drawing/2014/main" id="{8E577237-7AC2-4ABD-9B78-C3D46062C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85082"/>
            <a:ext cx="109728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4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none" lIns="171450" tIns="171450" rIns="171450" bIns="171450">
            <a:noAutofit/>
          </a:bodyPr>
          <a:lstStyle xmlns:a="http://schemas.openxmlformats.org/drawingml/2006/main">
            <a:def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defPPr>
            <a:lvl1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lvl1pPr>
            <a:lvl2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lvl2pPr>
            <a:lvl3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lvl3pPr>
            <a:lvl4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lvl4pPr>
            <a:lvl5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lvl5pPr>
            <a:lvl6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lvl6pPr>
            <a:lvl7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lvl7pPr>
            <a:lvl8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lvl8pPr>
            <a:lvl9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pPr>
            <a:r>
              <a: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rPr>
              <a:t>$speckit-constitution</a:t>
            </a:r>
          </a:p>
          <a:p xmlns:a="http://schemas.openxmlformats.org/drawingml/2006/main">
            <a: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pPr>
            <a:r>
              <a: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rPr>
              <a:t>Prüfe die vorhandenen Projektprinzipien für SysInfoTool.</a:t>
            </a:r>
          </a:p>
          <a:p xmlns:a="http://schemas.openxmlformats.org/drawingml/2006/main">
            <a: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pPr>
            <a:r>
              <a: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rPr>
              <a:t>Nutze nur erfundene Daten; keine Secrets oder Provider.</a:t>
            </a:r>
          </a:p>
          <a:p xmlns:a="http://schemas.openxmlformats.org/drawingml/2006/main">
            <a: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pPr>
            <a:r>
              <a: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rPr>
              <a:t>Zeige Auswirkungen auf abhängige Artefakte.</a:t>
            </a:r>
          </a:p>
          <a:p xmlns:a="http://schemas.openxmlformats.org/drawingml/2006/main">
            <a: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pPr>
            <a:r>
              <a: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rPr>
              <a:t>Keine Implementierung, kein Commit oder Push.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A85D8A64-DB7D-48DF-B368-F88FA0851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B5B5B"/>
                </a:solidFill>
                <a:latin typeface="Arial"/>
                <a:ea typeface="Arial"/>
                <a:cs typeface="Arial"/>
              </a:rPr>
              <a:t>absdd-image-sandbox  |  DE  |  26 / 39</a:t>
            </a:r>
          </a:p>
        </p:txBody>
      </p:sp>
    </p:spTree>
    <p:extLst>
      <p:ext uri="{BB962C8B-B14F-4D97-AF65-F5344CB8AC3E}">
        <p14:creationId xmlns:p14="http://schemas.microsoft.com/office/powerpoint/2010/main" val="1936664469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7B28E0FB-A3EC-4945-81AE-BDC463B1B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defPPr>
            <a:lvl1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1pPr>
            <a:lvl2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2pPr>
            <a:lvl3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3pPr>
            <a:lvl4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4pPr>
            <a:lvl5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5pPr>
            <a:lvl6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6pPr>
            <a:lvl7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7pPr>
            <a:lvl8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8pPr>
            <a:lvl9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82626"/>
                </a:solidFill>
                <a:latin typeface="Arial"/>
                <a:ea typeface="Arial"/>
                <a:cs typeface="Arial"/>
              </a:rPr>
              <a:t>Specify: Anforderungen beschreiben</a:t>
            </a:r>
          </a:p>
        </p:txBody>
      </p:sp>
      <p:sp>
        <p:nvSpPr>
          <p:cNvPr id="2" name="heading-rule">
            <a:extLst xmlns:a="http://schemas.openxmlformats.org/drawingml/2006/main">
              <a:ext uri="{FF2B5EF4-FFF2-40B4-BE49-F238E27FC236}">
                <a16:creationId xmlns:a16="http://schemas.microsoft.com/office/drawing/2014/main" id="{1676E270-1C79-41A4-ACF3-9038C40BE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3830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B65"/>
          </a:solidFill>
          <a:ln xmlns:a="http://schemas.openxmlformats.org/drawingml/2006/main">
            <a:noFill/>
          </a:ln>
        </p:spPr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7F702B37-A849-48FC-94F2-A1C5CB4D6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18562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pPr>
            <a:r>
              <a:t>Zielgruppe, Nutzen und Grenzen beschreiben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pPr>
            <a:r>
              <a:t>Prüfbarkeit statt Lösungsdetails verlangen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pPr>
            <a:r>
              <a:t>Nicht-Ziele ausdrücklich festhalten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pPr>
            <a:r>
              <a:t>spec.md anschließend lesen und verstehen</a:t>
            </a:r>
          </a:p>
        </p:txBody>
      </p:sp>
      <p:sp>
        <p:nvSpPr>
          <p:cNvPr id="4" name="command">
            <a:extLst xmlns:a="http://schemas.openxmlformats.org/drawingml/2006/main">
              <a:ext uri="{FF2B5EF4-FFF2-40B4-BE49-F238E27FC236}">
                <a16:creationId xmlns:a16="http://schemas.microsoft.com/office/drawing/2014/main" id="{59C1B941-A732-4B68-AB94-653788851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85082"/>
            <a:ext cx="109728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4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none" lIns="171450" tIns="171450" rIns="171450" bIns="171450">
            <a:noAutofit/>
          </a:bodyPr>
          <a:lstStyle xmlns:a="http://schemas.openxmlformats.org/drawingml/2006/main">
            <a:def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defPPr>
            <a:lvl1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lvl1pPr>
            <a:lvl2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lvl2pPr>
            <a:lvl3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lvl3pPr>
            <a:lvl4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lvl4pPr>
            <a:lvl5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lvl5pPr>
            <a:lvl6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lvl6pPr>
            <a:lvl7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lvl7pPr>
            <a:lvl8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lvl8pPr>
            <a:lvl9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pPr>
            <a:r>
              <a: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rPr>
              <a:t>$speckit-specify</a:t>
            </a:r>
          </a:p>
          <a:p xmlns:a="http://schemas.openxmlformats.org/drawingml/2006/main">
            <a: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pPr>
            <a:r>
              <a: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rPr>
              <a:t>Spezifiziere SysInfoTool mit drei erfundenen Beispielwerten.</a:t>
            </a:r>
          </a:p>
          <a:p xmlns:a="http://schemas.openxmlformats.org/drawingml/2006/main">
            <a: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pPr>
            <a:r>
              <a: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rPr>
              <a:t>Definiere DE/EN-Ausgaben, Fehlerfälle und Erfolgskriterien.</a:t>
            </a:r>
          </a:p>
          <a:p xmlns:a="http://schemas.openxmlformats.org/drawingml/2006/main">
            <a: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pPr>
            <a:r>
              <a: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rPr>
              <a:t>Keine echte Systemdatenerhebung oder Netzverbindung.</a:t>
            </a:r>
          </a:p>
          <a:p xmlns:a="http://schemas.openxmlformats.org/drawingml/2006/main">
            <a: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pPr>
            <a:r>
              <a: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rPr>
              <a:t>Keine Implementierung und keine Git-Lieferung.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EDFD12DB-D6F9-4E54-8E1E-1B7C60786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B5B5B"/>
                </a:solidFill>
                <a:latin typeface="Arial"/>
                <a:ea typeface="Arial"/>
                <a:cs typeface="Arial"/>
              </a:rPr>
              <a:t>absdd-image-sandbox  |  DE  |  27 / 39</a:t>
            </a:r>
          </a:p>
        </p:txBody>
      </p:sp>
    </p:spTree>
    <p:extLst>
      <p:ext uri="{BB962C8B-B14F-4D97-AF65-F5344CB8AC3E}">
        <p14:creationId xmlns:p14="http://schemas.microsoft.com/office/powerpoint/2010/main" val="553029606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5A092B0B-A4CB-43CC-9E0A-BEFC16F76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defPPr>
            <a:lvl1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1pPr>
            <a:lvl2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2pPr>
            <a:lvl3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3pPr>
            <a:lvl4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4pPr>
            <a:lvl5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5pPr>
            <a:lvl6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6pPr>
            <a:lvl7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7pPr>
            <a:lvl8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8pPr>
            <a:lvl9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82626"/>
                </a:solidFill>
                <a:latin typeface="Arial"/>
                <a:ea typeface="Arial"/>
                <a:cs typeface="Arial"/>
              </a:rPr>
              <a:t>Clarify: wichtige Entscheidungen klären</a:t>
            </a:r>
          </a:p>
        </p:txBody>
      </p:sp>
      <p:sp>
        <p:nvSpPr>
          <p:cNvPr id="2" name="heading-rule">
            <a:extLst xmlns:a="http://schemas.openxmlformats.org/drawingml/2006/main">
              <a:ext uri="{FF2B5EF4-FFF2-40B4-BE49-F238E27FC236}">
                <a16:creationId xmlns:a16="http://schemas.microsoft.com/office/drawing/2014/main" id="{60888551-2F24-4CFC-B7A5-424D57893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3830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B65"/>
          </a:solidFill>
          <a:ln xmlns:a="http://schemas.openxmlformats.org/drawingml/2006/main">
            <a:noFill/>
          </a:ln>
        </p:spPr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F0D87B25-A749-48E2-89E4-2B521663C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18562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pPr>
            <a:r>
              <a:t>Nur Unklarheiten mit echten Auswirkungen fragen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pPr>
            <a:r>
              <a:t>Genau eine Frage nach der anderen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pPr>
            <a:r>
              <a:t>Höchstens fünf Fragen pro Durchgang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pPr>
            <a:r>
              <a:t>Entscheidung und Begründung nachvollziehbar festhalten</a:t>
            </a:r>
          </a:p>
        </p:txBody>
      </p:sp>
      <p:sp>
        <p:nvSpPr>
          <p:cNvPr id="4" name="command">
            <a:extLst xmlns:a="http://schemas.openxmlformats.org/drawingml/2006/main">
              <a:ext uri="{FF2B5EF4-FFF2-40B4-BE49-F238E27FC236}">
                <a16:creationId xmlns:a16="http://schemas.microsoft.com/office/drawing/2014/main" id="{90E61158-5ACD-4E76-9BCB-4DEAD5A19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85082"/>
            <a:ext cx="1097280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4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none" lIns="171450" tIns="171450" rIns="171450" bIns="171450">
            <a:noAutofit/>
          </a:bodyPr>
          <a:lstStyle xmlns:a="http://schemas.openxmlformats.org/drawingml/2006/main">
            <a:def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defPPr>
            <a:lvl1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lvl1pPr>
            <a:lvl2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lvl2pPr>
            <a:lvl3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lvl3pPr>
            <a:lvl4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lvl4pPr>
            <a:lvl5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lvl5pPr>
            <a:lvl6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lvl6pPr>
            <a:lvl7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lvl7pPr>
            <a:lvl8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lvl8pPr>
            <a:lvl9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pPr>
            <a:r>
              <a: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rPr>
              <a:t>$speckit-clarify</a:t>
            </a:r>
          </a:p>
          <a:p xmlns:a="http://schemas.openxmlformats.org/drawingml/2006/main">
            <a: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pPr>
            <a:r>
              <a: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rPr>
              <a:t>Prüfe die aktive SysInfoTool-Spec auf wichtige Unklarheiten.</a:t>
            </a:r>
          </a:p>
          <a:p xmlns:a="http://schemas.openxmlformats.org/drawingml/2006/main">
            <a: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pPr>
            <a:r>
              <a: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rPr>
              <a:t>Maximal fünf Fragen, einzeln, mit Empfehlung.</a:t>
            </a:r>
          </a:p>
          <a:p xmlns:a="http://schemas.openxmlformats.org/drawingml/2006/main">
            <a: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pPr>
            <a:r>
              <a: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rPr>
              <a:t>Keine Umsetzung; bereits entschiedene Punkte erhalten.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5878FC4F-F20F-47E4-96F0-C332B3D08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B5B5B"/>
                </a:solidFill>
                <a:latin typeface="Arial"/>
                <a:ea typeface="Arial"/>
                <a:cs typeface="Arial"/>
              </a:rPr>
              <a:t>absdd-image-sandbox  |  DE  |  28 / 39</a:t>
            </a:r>
          </a:p>
        </p:txBody>
      </p:sp>
    </p:spTree>
    <p:extLst>
      <p:ext uri="{BB962C8B-B14F-4D97-AF65-F5344CB8AC3E}">
        <p14:creationId xmlns:p14="http://schemas.microsoft.com/office/powerpoint/2010/main" val="1762242420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2966D461-F899-4939-9B89-55D6A442E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defPPr>
            <a:lvl1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1pPr>
            <a:lvl2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2pPr>
            <a:lvl3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3pPr>
            <a:lvl4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4pPr>
            <a:lvl5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5pPr>
            <a:lvl6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6pPr>
            <a:lvl7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7pPr>
            <a:lvl8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8pPr>
            <a:lvl9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82626"/>
                </a:solidFill>
                <a:latin typeface="Arial"/>
                <a:ea typeface="Arial"/>
                <a:cs typeface="Arial"/>
              </a:rPr>
              <a:t>Klären oder bewusst zurückstellen?</a:t>
            </a:r>
          </a:p>
        </p:txBody>
      </p:sp>
      <p:sp>
        <p:nvSpPr>
          <p:cNvPr id="2" name="heading-rule">
            <a:extLst xmlns:a="http://schemas.openxmlformats.org/drawingml/2006/main">
              <a:ext uri="{FF2B5EF4-FFF2-40B4-BE49-F238E27FC236}">
                <a16:creationId xmlns:a16="http://schemas.microsoft.com/office/drawing/2014/main" id="{AB77CDFE-0232-4705-A3EA-5D39E1084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3830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B65"/>
          </a:solidFill>
          <a:ln xmlns:a="http://schemas.openxmlformats.org/drawingml/2006/main">
            <a:noFill/>
          </a:ln>
        </p:spPr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CC269A4A-3116-4CC3-84E8-BC044F67A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1396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55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defPPr>
            <a:lvl1pPr>
              <a:defRPr sz="255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1pPr>
            <a:lvl2pPr>
              <a:defRPr sz="255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2pPr>
            <a:lvl3pPr>
              <a:defRPr sz="255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3pPr>
            <a:lvl4pPr>
              <a:defRPr sz="255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4pPr>
            <a:lvl5pPr>
              <a:defRPr sz="255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5pPr>
            <a:lvl6pPr>
              <a:defRPr sz="255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6pPr>
            <a:lvl7pPr>
              <a:defRPr sz="255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7pPr>
            <a:lvl8pPr>
              <a:defRPr sz="255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8pPr>
            <a:lvl9pPr>
              <a:defRPr sz="255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255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pPr>
            <a:r>
              <a:t>Anforderungen und Sicherheitsgrenzen jetzt entscheiden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255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pPr>
            <a:r>
              <a:t>Implementierungsdetails später im Plan behandeln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255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pPr>
            <a:r>
              <a:t>Zurückstellung mit Owner und Anlass festhalten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255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pPr>
            <a:r>
              <a:t>Bei Blockern stoppen statt eine Freigabe zu erfinden</a:t>
            </a:r>
          </a:p>
        </p:txBody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0A3D4FC0-6E93-4821-9A5C-725B6EC7F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B5B5B"/>
                </a:solidFill>
                <a:latin typeface="Arial"/>
                <a:ea typeface="Arial"/>
                <a:cs typeface="Arial"/>
              </a:rPr>
              <a:t>absdd-image-sandbox  |  DE  |  29 / 39</a:t>
            </a:r>
          </a:p>
        </p:txBody>
      </p:sp>
    </p:spTree>
    <p:extLst>
      <p:ext uri="{BB962C8B-B14F-4D97-AF65-F5344CB8AC3E}">
        <p14:creationId xmlns:p14="http://schemas.microsoft.com/office/powerpoint/2010/main" val="1919396982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DBF8A351-C949-4767-81FC-08425FC92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defPPr>
            <a:lvl1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1pPr>
            <a:lvl2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2pPr>
            <a:lvl3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3pPr>
            <a:lvl4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4pPr>
            <a:lvl5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5pPr>
            <a:lvl6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6pPr>
            <a:lvl7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7pPr>
            <a:lvl8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8pPr>
            <a:lvl9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82626"/>
                </a:solidFill>
                <a:latin typeface="Arial"/>
                <a:ea typeface="Arial"/>
                <a:cs typeface="Arial"/>
              </a:rPr>
              <a:t>Plan: technische Umsetzung vorbereiten</a:t>
            </a:r>
          </a:p>
        </p:txBody>
      </p:sp>
      <p:sp>
        <p:nvSpPr>
          <p:cNvPr id="2" name="heading-rule">
            <a:extLst xmlns:a="http://schemas.openxmlformats.org/drawingml/2006/main">
              <a:ext uri="{FF2B5EF4-FFF2-40B4-BE49-F238E27FC236}">
                <a16:creationId xmlns:a16="http://schemas.microsoft.com/office/drawing/2014/main" id="{8BA8B437-86DF-45A5-8779-1640AE650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3830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B65"/>
          </a:solidFill>
          <a:ln xmlns:a="http://schemas.openxmlformats.org/drawingml/2006/main">
            <a:noFill/>
          </a:ln>
        </p:spPr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64CAEE57-6713-4FE6-8E51-C613FD675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18562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pPr>
            <a:r>
              <a:t>Anforderungen in einen passenden technischen Weg übersetzen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pPr>
            <a:r>
              <a:t>Sicherheits- und Architekturgrenzen erhalten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pPr>
            <a:r>
              <a:t>Relevante Nachweise und Tests planen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pPr>
            <a:r>
              <a:t>Noch keine Implementierung ausführen</a:t>
            </a:r>
          </a:p>
        </p:txBody>
      </p:sp>
      <p:sp>
        <p:nvSpPr>
          <p:cNvPr id="4" name="command">
            <a:extLst xmlns:a="http://schemas.openxmlformats.org/drawingml/2006/main">
              <a:ext uri="{FF2B5EF4-FFF2-40B4-BE49-F238E27FC236}">
                <a16:creationId xmlns:a16="http://schemas.microsoft.com/office/drawing/2014/main" id="{2F7A7BD4-4282-4E00-8030-BC7E53C1B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85082"/>
            <a:ext cx="109728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4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none" lIns="171450" tIns="171450" rIns="171450" bIns="171450">
            <a:noAutofit/>
          </a:bodyPr>
          <a:lstStyle xmlns:a="http://schemas.openxmlformats.org/drawingml/2006/main">
            <a:def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defPPr>
            <a:lvl1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lvl1pPr>
            <a:lvl2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lvl2pPr>
            <a:lvl3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lvl3pPr>
            <a:lvl4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lvl4pPr>
            <a:lvl5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lvl5pPr>
            <a:lvl6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lvl6pPr>
            <a:lvl7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lvl7pPr>
            <a:lvl8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lvl8pPr>
            <a:lvl9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pPr>
            <a:r>
              <a: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rPr>
              <a:t>$speckit-plan</a:t>
            </a:r>
          </a:p>
          <a:p xmlns:a="http://schemas.openxmlformats.org/drawingml/2006/main">
            <a: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pPr>
            <a:r>
              <a: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rPr>
              <a:t>Plane nur die aktive SysInfoTool-Spec.</a:t>
            </a:r>
          </a:p>
          <a:p xmlns:a="http://schemas.openxmlformats.org/drawingml/2006/main">
            <a: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pPr>
            <a:r>
              <a: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rPr>
              <a:t>Nutze vorhandene Projektkonventionen und Testwerkzeuge.</a:t>
            </a:r>
          </a:p>
          <a:p xmlns:a="http://schemas.openxmlformats.org/drawingml/2006/main">
            <a: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pPr>
            <a:r>
              <a: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rPr>
              <a:t>Begründe N/A und dokumentiere offene Nachweise.</a:t>
            </a:r>
          </a:p>
          <a:p xmlns:a="http://schemas.openxmlformats.org/drawingml/2006/main">
            <a: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pPr>
            <a:r>
              <a: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rPr>
              <a:t>Keine Tasks erzeugen oder Implementierung starten.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7FE74DC0-6CD6-42BB-AA37-A66E468CE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B5B5B"/>
                </a:solidFill>
                <a:latin typeface="Arial"/>
                <a:ea typeface="Arial"/>
                <a:cs typeface="Arial"/>
              </a:rPr>
              <a:t>absdd-image-sandbox  |  DE  |  30 / 39</a:t>
            </a:r>
          </a:p>
        </p:txBody>
      </p:sp>
    </p:spTree>
    <p:extLst>
      <p:ext uri="{BB962C8B-B14F-4D97-AF65-F5344CB8AC3E}">
        <p14:creationId xmlns:p14="http://schemas.microsoft.com/office/powerpoint/2010/main" val="1494464388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26DD665F-CAE0-4205-94F8-2042D48CE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defPPr>
            <a:lvl1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1pPr>
            <a:lvl2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2pPr>
            <a:lvl3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3pPr>
            <a:lvl4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4pPr>
            <a:lvl5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5pPr>
            <a:lvl6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6pPr>
            <a:lvl7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7pPr>
            <a:lvl8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8pPr>
            <a:lvl9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82626"/>
                </a:solidFill>
                <a:latin typeface="Arial"/>
                <a:ea typeface="Arial"/>
                <a:cs typeface="Arial"/>
              </a:rPr>
              <a:t>Checklist: Qualität der Anforderungen</a:t>
            </a:r>
          </a:p>
        </p:txBody>
      </p:sp>
      <p:sp>
        <p:nvSpPr>
          <p:cNvPr id="2" name="heading-rule">
            <a:extLst xmlns:a="http://schemas.openxmlformats.org/drawingml/2006/main">
              <a:ext uri="{FF2B5EF4-FFF2-40B4-BE49-F238E27FC236}">
                <a16:creationId xmlns:a16="http://schemas.microsoft.com/office/drawing/2014/main" id="{C21A7278-B50A-4673-825E-E1D33E1AA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3830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B65"/>
          </a:solidFill>
          <a:ln xmlns:a="http://schemas.openxmlformats.org/drawingml/2006/main">
            <a:noFill/>
          </a:ln>
        </p:spPr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823E5891-7822-4506-8513-F920852C3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18562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pPr>
            <a:r>
              <a:t>Sind Aussagen klar und vollständig?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pPr>
            <a:r>
              <a:t>Sind Kriterien messbar und widerspruchsfrei?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pPr>
            <a:r>
              <a:t>Hat jeder Prüfpunkt einen Durchführungshinweis?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pPr>
            <a:r>
              <a:t>Das ist noch kein Implementierungs- oder Funktionstest</a:t>
            </a:r>
          </a:p>
        </p:txBody>
      </p:sp>
      <p:sp>
        <p:nvSpPr>
          <p:cNvPr id="4" name="command">
            <a:extLst xmlns:a="http://schemas.openxmlformats.org/drawingml/2006/main">
              <a:ext uri="{FF2B5EF4-FFF2-40B4-BE49-F238E27FC236}">
                <a16:creationId xmlns:a16="http://schemas.microsoft.com/office/drawing/2014/main" id="{E54287FE-C3B9-4FE6-830C-364CAA43A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85082"/>
            <a:ext cx="1097280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4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none" lIns="171450" tIns="171450" rIns="171450" bIns="171450">
            <a:noAutofit/>
          </a:bodyPr>
          <a:lstStyle xmlns:a="http://schemas.openxmlformats.org/drawingml/2006/main">
            <a:def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defPPr>
            <a:lvl1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lvl1pPr>
            <a:lvl2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lvl2pPr>
            <a:lvl3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lvl3pPr>
            <a:lvl4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lvl4pPr>
            <a:lvl5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lvl5pPr>
            <a:lvl6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lvl6pPr>
            <a:lvl7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lvl7pPr>
            <a:lvl8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lvl8pPr>
            <a:lvl9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pPr>
            <a:r>
              <a: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rPr>
              <a:t>$speckit-checklist</a:t>
            </a:r>
          </a:p>
          <a:p xmlns:a="http://schemas.openxmlformats.org/drawingml/2006/main">
            <a: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pPr>
            <a:r>
              <a: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rPr>
              <a:t>Prüfe die Qualität der aktiven Anforderungen.</a:t>
            </a:r>
          </a:p>
          <a:p xmlns:a="http://schemas.openxmlformats.org/drawingml/2006/main">
            <a: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pPr>
            <a:r>
              <a: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rPr>
              <a:t>Jeder Prüfpunkt braucht Referenz und Durchführungshinweis.</a:t>
            </a:r>
          </a:p>
          <a:p xmlns:a="http://schemas.openxmlformats.org/drawingml/2006/main">
            <a: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pPr>
            <a:r>
              <a: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rPr>
              <a:t>Keine Builds, Laufzeittests oder Implementierungsprüfung.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12D9143D-0308-4733-8683-4ABBC39E4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B5B5B"/>
                </a:solidFill>
                <a:latin typeface="Arial"/>
                <a:ea typeface="Arial"/>
                <a:cs typeface="Arial"/>
              </a:rPr>
              <a:t>absdd-image-sandbox  |  DE  |  31 / 39</a:t>
            </a:r>
          </a:p>
        </p:txBody>
      </p:sp>
    </p:spTree>
    <p:extLst>
      <p:ext uri="{BB962C8B-B14F-4D97-AF65-F5344CB8AC3E}">
        <p14:creationId xmlns:p14="http://schemas.microsoft.com/office/powerpoint/2010/main" val="468082272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573B205C-B285-488B-B645-7A0746752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defPPr>
            <a:lvl1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1pPr>
            <a:lvl2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2pPr>
            <a:lvl3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3pPr>
            <a:lvl4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4pPr>
            <a:lvl5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5pPr>
            <a:lvl6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6pPr>
            <a:lvl7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7pPr>
            <a:lvl8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8pPr>
            <a:lvl9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82626"/>
                </a:solidFill>
                <a:latin typeface="Arial"/>
                <a:ea typeface="Arial"/>
                <a:cs typeface="Arial"/>
              </a:rPr>
              <a:t>Tasks: kleine ausführbare Aufgaben</a:t>
            </a:r>
          </a:p>
        </p:txBody>
      </p:sp>
      <p:sp>
        <p:nvSpPr>
          <p:cNvPr id="2" name="heading-rule">
            <a:extLst xmlns:a="http://schemas.openxmlformats.org/drawingml/2006/main">
              <a:ext uri="{FF2B5EF4-FFF2-40B4-BE49-F238E27FC236}">
                <a16:creationId xmlns:a16="http://schemas.microsoft.com/office/drawing/2014/main" id="{86D62F1B-550B-4686-AA24-B470C159F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3830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B65"/>
          </a:solidFill>
          <a:ln xmlns:a="http://schemas.openxmlformats.org/drawingml/2006/main">
            <a:noFill/>
          </a:ln>
        </p:spPr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C485C756-D4F9-4233-A8CF-5D442BB49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18562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pPr>
            <a:r>
              <a:t>Jede Anforderung durch Aufgaben abdecken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pPr>
            <a:r>
              <a:t>Abhängigkeiten und konkrete Dateien nennen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pPr>
            <a:r>
              <a:t>[P] nur bei wirklich unabhängigen Arbeiten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pPr>
            <a:r>
              <a:t>Aufgaben erst nach Erledigung mit [X] markieren</a:t>
            </a:r>
          </a:p>
        </p:txBody>
      </p:sp>
      <p:sp>
        <p:nvSpPr>
          <p:cNvPr id="4" name="command">
            <a:extLst xmlns:a="http://schemas.openxmlformats.org/drawingml/2006/main">
              <a:ext uri="{FF2B5EF4-FFF2-40B4-BE49-F238E27FC236}">
                <a16:creationId xmlns:a16="http://schemas.microsoft.com/office/drawing/2014/main" id="{C4730B89-44D3-432D-B6AF-3863211CA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85082"/>
            <a:ext cx="1097280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4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none" lIns="171450" tIns="171450" rIns="171450" bIns="171450">
            <a:noAutofit/>
          </a:bodyPr>
          <a:lstStyle xmlns:a="http://schemas.openxmlformats.org/drawingml/2006/main">
            <a:def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defPPr>
            <a:lvl1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lvl1pPr>
            <a:lvl2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lvl2pPr>
            <a:lvl3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lvl3pPr>
            <a:lvl4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lvl4pPr>
            <a:lvl5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lvl5pPr>
            <a:lvl6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lvl6pPr>
            <a:lvl7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lvl7pPr>
            <a:lvl8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lvl8pPr>
            <a:lvl9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pPr>
            <a:r>
              <a: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rPr>
              <a:t>$speckit-tasks</a:t>
            </a:r>
          </a:p>
          <a:p xmlns:a="http://schemas.openxmlformats.org/drawingml/2006/main">
            <a: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pPr>
            <a:r>
              <a: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rPr>
              <a:t>Erzeuge tasks.md aus aktiver spec.md und plan.md.</a:t>
            </a:r>
          </a:p>
          <a:p xmlns:a="http://schemas.openxmlformats.org/drawingml/2006/main">
            <a: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pPr>
            <a:r>
              <a: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rPr>
              <a:t>Nenne Abhängigkeiten, Dateien und Validierung.</a:t>
            </a:r>
          </a:p>
          <a:p xmlns:a="http://schemas.openxmlformats.org/drawingml/2006/main">
            <a: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pPr>
            <a:r>
              <a: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rPr>
              <a:t>Keine Implementierung, kein Commit oder Push.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4E3E3BD3-EB71-4657-BFC5-0ED540AA0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B5B5B"/>
                </a:solidFill>
                <a:latin typeface="Arial"/>
                <a:ea typeface="Arial"/>
                <a:cs typeface="Arial"/>
              </a:rPr>
              <a:t>absdd-image-sandbox  |  DE  |  32 / 39</a:t>
            </a:r>
          </a:p>
        </p:txBody>
      </p:sp>
    </p:spTree>
    <p:extLst>
      <p:ext uri="{BB962C8B-B14F-4D97-AF65-F5344CB8AC3E}">
        <p14:creationId xmlns:p14="http://schemas.microsoft.com/office/powerpoint/2010/main" val="1504406582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87D5D6D6-9B24-429B-A314-F20DB51E8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defPPr>
            <a:lvl1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1pPr>
            <a:lvl2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2pPr>
            <a:lvl3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3pPr>
            <a:lvl4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4pPr>
            <a:lvl5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5pPr>
            <a:lvl6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6pPr>
            <a:lvl7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7pPr>
            <a:lvl8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8pPr>
            <a:lvl9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82626"/>
                </a:solidFill>
                <a:latin typeface="Arial"/>
                <a:ea typeface="Arial"/>
                <a:cs typeface="Arial"/>
              </a:rPr>
              <a:t>Analyze: Artefakte lesend abgleichen</a:t>
            </a:r>
          </a:p>
        </p:txBody>
      </p:sp>
      <p:sp>
        <p:nvSpPr>
          <p:cNvPr id="2" name="heading-rule">
            <a:extLst xmlns:a="http://schemas.openxmlformats.org/drawingml/2006/main">
              <a:ext uri="{FF2B5EF4-FFF2-40B4-BE49-F238E27FC236}">
                <a16:creationId xmlns:a16="http://schemas.microsoft.com/office/drawing/2014/main" id="{E71F27E0-1739-4B62-946C-7B1EAFC4F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3830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B65"/>
          </a:solidFill>
          <a:ln xmlns:a="http://schemas.openxmlformats.org/drawingml/2006/main">
            <a:noFill/>
          </a:ln>
        </p:spPr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FFF0AE38-2F01-4847-9AA0-508A6D88D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18562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pPr>
            <a:r>
              <a:t>Spec, Plan und Tasks auf Konsistenz prüfen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pPr>
            <a:r>
              <a:t>Anforderungen und Erfolgskriterien zu Aufgaben zuordnen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pPr>
            <a:r>
              <a:t>Findings mit stabilen IDs und Schweregrad melden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pPr>
            <a:r>
              <a:t>Keine Dateien während Analyze verändern</a:t>
            </a:r>
          </a:p>
        </p:txBody>
      </p:sp>
      <p:sp>
        <p:nvSpPr>
          <p:cNvPr id="4" name="command">
            <a:extLst xmlns:a="http://schemas.openxmlformats.org/drawingml/2006/main">
              <a:ext uri="{FF2B5EF4-FFF2-40B4-BE49-F238E27FC236}">
                <a16:creationId xmlns:a16="http://schemas.microsoft.com/office/drawing/2014/main" id="{B35D926D-2C4A-4BCA-B738-9F8512F96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85082"/>
            <a:ext cx="1097280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4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none" lIns="171450" tIns="171450" rIns="171450" bIns="171450">
            <a:noAutofit/>
          </a:bodyPr>
          <a:lstStyle xmlns:a="http://schemas.openxmlformats.org/drawingml/2006/main">
            <a:def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defPPr>
            <a:lvl1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lvl1pPr>
            <a:lvl2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lvl2pPr>
            <a:lvl3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lvl3pPr>
            <a:lvl4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lvl4pPr>
            <a:lvl5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lvl5pPr>
            <a:lvl6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lvl6pPr>
            <a:lvl7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lvl7pPr>
            <a:lvl8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lvl8pPr>
            <a:lvl9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pPr>
            <a:r>
              <a: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rPr>
              <a:t>$speckit-analyze</a:t>
            </a:r>
          </a:p>
          <a:p xmlns:a="http://schemas.openxmlformats.org/drawingml/2006/main">
            <a: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pPr>
            <a:r>
              <a: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rPr>
              <a:t>Prüfe aktive Spec, Plan und Tasks strikt read-only.</a:t>
            </a:r>
          </a:p>
          <a:p xmlns:a="http://schemas.openxmlformats.org/drawingml/2006/main">
            <a: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pPr>
            <a:r>
              <a: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rPr>
              <a:t>Melde Lücken, Widersprüche und fehlende Task-Abdeckung.</a:t>
            </a:r>
          </a:p>
          <a:p xmlns:a="http://schemas.openxmlformats.org/drawingml/2006/main">
            <a: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pPr>
            <a:r>
              <a: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rPr>
              <a:t>Keine Remediation, Builds, Commits oder Pushes.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5195535C-F335-43FC-A6DC-B5BDE2508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B5B5B"/>
                </a:solidFill>
                <a:latin typeface="Arial"/>
                <a:ea typeface="Arial"/>
                <a:cs typeface="Arial"/>
              </a:rPr>
              <a:t>absdd-image-sandbox  |  DE  |  33 / 39</a:t>
            </a:r>
          </a:p>
        </p:txBody>
      </p:sp>
    </p:spTree>
    <p:extLst>
      <p:ext uri="{BB962C8B-B14F-4D97-AF65-F5344CB8AC3E}">
        <p14:creationId xmlns:p14="http://schemas.microsoft.com/office/powerpoint/2010/main" val="354595758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6B359FCB-FD1B-4BBA-BAB3-0F6B7BA61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defPPr>
            <a:lvl1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1pPr>
            <a:lvl2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2pPr>
            <a:lvl3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3pPr>
            <a:lvl4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4pPr>
            <a:lvl5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5pPr>
            <a:lvl6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6pPr>
            <a:lvl7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7pPr>
            <a:lvl8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8pPr>
            <a:lvl9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82626"/>
                </a:solidFill>
                <a:latin typeface="Arial"/>
                <a:ea typeface="Arial"/>
                <a:cs typeface="Arial"/>
              </a:rPr>
              <a:t>Findings gezielt beheben</a:t>
            </a:r>
          </a:p>
        </p:txBody>
      </p:sp>
      <p:sp>
        <p:nvSpPr>
          <p:cNvPr id="2" name="heading-rule">
            <a:extLst xmlns:a="http://schemas.openxmlformats.org/drawingml/2006/main">
              <a:ext uri="{FF2B5EF4-FFF2-40B4-BE49-F238E27FC236}">
                <a16:creationId xmlns:a16="http://schemas.microsoft.com/office/drawing/2014/main" id="{2183EE9B-4B6E-4551-8B7C-AE7514434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3830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B65"/>
          </a:solidFill>
          <a:ln xmlns:a="http://schemas.openxmlformats.org/drawingml/2006/main">
            <a:noFill/>
          </a:ln>
        </p:spPr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7605E4C9-611A-4147-98B6-4B4AD2BF3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18562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pPr>
            <a:r>
              <a:t>Zuerst konkrete Findings und betroffene Dateien nennen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pPr>
            <a:r>
              <a:t>Korrekturen gesondert beauftragen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pPr>
            <a:r>
              <a:t>Danach nur den relevanten Stand erneut prüfen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pPr>
            <a:r>
              <a:t>Bei unklaren Entscheidungen stoppen</a:t>
            </a:r>
          </a:p>
        </p:txBody>
      </p:sp>
      <p:sp>
        <p:nvSpPr>
          <p:cNvPr id="4" name="command">
            <a:extLst xmlns:a="http://schemas.openxmlformats.org/drawingml/2006/main">
              <a:ext uri="{FF2B5EF4-FFF2-40B4-BE49-F238E27FC236}">
                <a16:creationId xmlns:a16="http://schemas.microsoft.com/office/drawing/2014/main" id="{5C42736C-6367-427E-8C72-75DEB2ECF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85082"/>
            <a:ext cx="1097280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4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none" lIns="171450" tIns="171450" rIns="171450" bIns="171450">
            <a:noAutofit/>
          </a:bodyPr>
          <a:lstStyle xmlns:a="http://schemas.openxmlformats.org/drawingml/2006/main">
            <a:def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defPPr>
            <a:lvl1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lvl1pPr>
            <a:lvl2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lvl2pPr>
            <a:lvl3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lvl3pPr>
            <a:lvl4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lvl4pPr>
            <a:lvl5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lvl5pPr>
            <a:lvl6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lvl6pPr>
            <a:lvl7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lvl7pPr>
            <a:lvl8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lvl8pPr>
            <a:lvl9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pPr>
            <a:r>
              <a: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rPr>
              <a:t>Behebe nur die bestätigten Findings C1 und C2.</a:t>
            </a:r>
          </a:p>
          <a:p xmlns:a="http://schemas.openxmlformats.org/drawingml/2006/main">
            <a: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pPr>
            <a:r>
              <a: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rPr>
              <a:t>Erhalte Sicherheitsgrenzen und bereits entschiedenen Scope.</a:t>
            </a:r>
          </a:p>
          <a:p xmlns:a="http://schemas.openxmlformats.org/drawingml/2006/main">
            <a: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pPr>
            <a:r>
              <a: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rPr>
              <a:t>Keine Umsetzung des Features, kein Commit oder Push.</a:t>
            </a:r>
          </a:p>
          <a:p xmlns:a="http://schemas.openxmlformats.org/drawingml/2006/main">
            <a: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pPr>
            <a:r>
              <a: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rPr>
              <a:t>Berichte die Änderungen; Analyze erfolgt danach lesend.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022315E0-D106-4E8F-9C5F-04EEB4D1B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B5B5B"/>
                </a:solidFill>
                <a:latin typeface="Arial"/>
                <a:ea typeface="Arial"/>
                <a:cs typeface="Arial"/>
              </a:rPr>
              <a:t>absdd-image-sandbox  |  DE  |  34 / 39</a:t>
            </a:r>
          </a:p>
        </p:txBody>
      </p:sp>
    </p:spTree>
    <p:extLst>
      <p:ext uri="{BB962C8B-B14F-4D97-AF65-F5344CB8AC3E}">
        <p14:creationId xmlns:p14="http://schemas.microsoft.com/office/powerpoint/2010/main" val="321617343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38A78773-FECB-426F-9696-96FAFA866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defPPr>
            <a:lvl1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1pPr>
            <a:lvl2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2pPr>
            <a:lvl3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3pPr>
            <a:lvl4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4pPr>
            <a:lvl5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5pPr>
            <a:lvl6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6pPr>
            <a:lvl7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7pPr>
            <a:lvl8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8pPr>
            <a:lvl9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82626"/>
                </a:solidFill>
                <a:latin typeface="Arial"/>
                <a:ea typeface="Arial"/>
                <a:cs typeface="Arial"/>
              </a:rPr>
              <a:t>Implement: nur mit aktuellem Auftrag</a:t>
            </a:r>
          </a:p>
        </p:txBody>
      </p:sp>
      <p:sp>
        <p:nvSpPr>
          <p:cNvPr id="2" name="heading-rule">
            <a:extLst xmlns:a="http://schemas.openxmlformats.org/drawingml/2006/main">
              <a:ext uri="{FF2B5EF4-FFF2-40B4-BE49-F238E27FC236}">
                <a16:creationId xmlns:a16="http://schemas.microsoft.com/office/drawing/2014/main" id="{5203DE0F-BCEC-4109-B15A-E244B6393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3830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B65"/>
          </a:solidFill>
          <a:ln xmlns:a="http://schemas.openxmlformats.org/drawingml/2006/main">
            <a:noFill/>
          </a:ln>
        </p:spPr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2F363415-4E08-4743-B8A7-BB730822A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18562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pPr>
            <a:r>
              <a:t>Aktuelle Spec, Plan und Tasks erneut lesen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pPr>
            <a:r>
              <a:t>Checklisten und Voraussetzungen prüfen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pPr>
            <a:r>
              <a:t>Aufgaben in ihrer Abhängigkeit umsetzen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pPr>
            <a:r>
              <a:t>Tatsächliche Tests und Stop-Gründe dokumentieren</a:t>
            </a:r>
          </a:p>
        </p:txBody>
      </p:sp>
      <p:sp>
        <p:nvSpPr>
          <p:cNvPr id="4" name="command">
            <a:extLst xmlns:a="http://schemas.openxmlformats.org/drawingml/2006/main">
              <a:ext uri="{FF2B5EF4-FFF2-40B4-BE49-F238E27FC236}">
                <a16:creationId xmlns:a16="http://schemas.microsoft.com/office/drawing/2014/main" id="{8A4CE1D0-5164-4C16-8A31-87E515C6E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85082"/>
            <a:ext cx="109728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4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none" lIns="171450" tIns="171450" rIns="171450" bIns="171450">
            <a:noAutofit/>
          </a:bodyPr>
          <a:lstStyle xmlns:a="http://schemas.openxmlformats.org/drawingml/2006/main">
            <a:def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defPPr>
            <a:lvl1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lvl1pPr>
            <a:lvl2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lvl2pPr>
            <a:lvl3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lvl3pPr>
            <a:lvl4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lvl4pPr>
            <a:lvl5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lvl5pPr>
            <a:lvl6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lvl6pPr>
            <a:lvl7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lvl7pPr>
            <a:lvl8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lvl8pPr>
            <a:lvl9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pPr>
            <a:r>
              <a: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rPr>
              <a:t>$speckit-implement</a:t>
            </a:r>
          </a:p>
          <a:p xmlns:a="http://schemas.openxmlformats.org/drawingml/2006/main">
            <a: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pPr>
            <a:r>
              <a: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rPr>
              <a:t>Implementiere nur die freigegebenen SysInfoTool-Tasks.</a:t>
            </a:r>
          </a:p>
          <a:p xmlns:a="http://schemas.openxmlformats.org/drawingml/2006/main">
            <a: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pPr>
            <a:r>
              <a: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rPr>
              <a:t>Markiere Aufgaben erst nach prüfbarer Erledigung.</a:t>
            </a:r>
          </a:p>
          <a:p xmlns:a="http://schemas.openxmlformats.org/drawingml/2006/main">
            <a: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pPr>
            <a:r>
              <a: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rPr>
              <a:t>Stoppe bei Secrets oder fehlender menschlicher Entscheidung.</a:t>
            </a:r>
          </a:p>
          <a:p xmlns:a="http://schemas.openxmlformats.org/drawingml/2006/main">
            <a: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pPr>
            <a:r>
              <a: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rPr>
              <a:t>Kein Commit, Push, Container-Neubau oder Hosting-Eingriff.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C74CB098-FE0E-472B-9B5E-9548D5B78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B5B5B"/>
                </a:solidFill>
                <a:latin typeface="Arial"/>
                <a:ea typeface="Arial"/>
                <a:cs typeface="Arial"/>
              </a:rPr>
              <a:t>absdd-image-sandbox  |  DE  |  35 / 39</a:t>
            </a:r>
          </a:p>
        </p:txBody>
      </p:sp>
    </p:spTree>
    <p:extLst>
      <p:ext uri="{BB962C8B-B14F-4D97-AF65-F5344CB8AC3E}">
        <p14:creationId xmlns:p14="http://schemas.microsoft.com/office/powerpoint/2010/main" val="880673380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28FA6B23-807C-41D9-9F3D-71871F639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defPPr>
            <a:lvl1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1pPr>
            <a:lvl2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2pPr>
            <a:lvl3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3pPr>
            <a:lvl4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4pPr>
            <a:lvl5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5pPr>
            <a:lvl6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6pPr>
            <a:lvl7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7pPr>
            <a:lvl8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8pPr>
            <a:lvl9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82626"/>
                </a:solidFill>
                <a:latin typeface="Arial"/>
                <a:ea typeface="Arial"/>
                <a:cs typeface="Arial"/>
              </a:rPr>
              <a:t>Review, Tests und sichere Daten</a:t>
            </a:r>
          </a:p>
        </p:txBody>
      </p:sp>
      <p:sp>
        <p:nvSpPr>
          <p:cNvPr id="2" name="heading-rule">
            <a:extLst xmlns:a="http://schemas.openxmlformats.org/drawingml/2006/main">
              <a:ext uri="{FF2B5EF4-FFF2-40B4-BE49-F238E27FC236}">
                <a16:creationId xmlns:a16="http://schemas.microsoft.com/office/drawing/2014/main" id="{340E442E-07B3-44BC-887D-0DBF77C9E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3830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B65"/>
          </a:solidFill>
          <a:ln xmlns:a="http://schemas.openxmlformats.org/drawingml/2006/main">
            <a:noFill/>
          </a:ln>
        </p:spPr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60EFE769-64C0-4E2A-94B8-B9783CD67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18562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pPr>
            <a:r>
              <a:t>Änderungen und neue Dateien menschlich prüfen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pPr>
            <a:r>
              <a:t>Geplante und wirklich ausgeführte Tests unterscheiden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pPr>
            <a:r>
              <a:t>Projektdateien im vorgesehenen Mount speichern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pPr>
            <a:r>
              <a:t>Commit und Push bewusst getrennt entscheiden</a:t>
            </a:r>
          </a:p>
        </p:txBody>
      </p:sp>
      <p:sp>
        <p:nvSpPr>
          <p:cNvPr id="4" name="command">
            <a:extLst xmlns:a="http://schemas.openxmlformats.org/drawingml/2006/main">
              <a:ext uri="{FF2B5EF4-FFF2-40B4-BE49-F238E27FC236}">
                <a16:creationId xmlns:a16="http://schemas.microsoft.com/office/drawing/2014/main" id="{3E849EA2-EE8A-4A79-BDBC-4DA4D8683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85082"/>
            <a:ext cx="1097280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4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none" lIns="171450" tIns="171450" rIns="171450" bIns="171450">
            <a:noAutofit/>
          </a:bodyPr>
          <a:lstStyle xmlns:a="http://schemas.openxmlformats.org/drawingml/2006/main">
            <a:def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defPPr>
            <a:lvl1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lvl1pPr>
            <a:lvl2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lvl2pPr>
            <a:lvl3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lvl3pPr>
            <a:lvl4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lvl4pPr>
            <a:lvl5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lvl5pPr>
            <a:lvl6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lvl6pPr>
            <a:lvl7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lvl7pPr>
            <a:lvl8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lvl8pPr>
            <a:lvl9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pPr>
            <a:r>
              <a: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rPr>
              <a:t>git status --short</a:t>
            </a:r>
          </a:p>
          <a:p xmlns:a="http://schemas.openxmlformats.org/drawingml/2006/main">
            <a: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pPr>
            <a:r>
              <a: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rPr>
              <a:t>git diff</a:t>
            </a:r>
          </a:p>
          <a:p xmlns:a="http://schemas.openxmlformats.org/drawingml/2006/main">
            <a: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pPr>
            <a:r>
              <a: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rPr>
              <a:t># Im Anwendungsprojekt / in the application project:</a:t>
            </a:r>
          </a:p>
          <a:p xmlns:a="http://schemas.openxmlformats.org/drawingml/2006/main">
            <a: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pPr>
            <a:r>
              <a: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rPr>
              <a:t># dokumentierte Projekttests / documented project tests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3D8A3AFB-0A87-4AAF-871F-90D44E284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B5B5B"/>
                </a:solidFill>
                <a:latin typeface="Arial"/>
                <a:ea typeface="Arial"/>
                <a:cs typeface="Arial"/>
              </a:rPr>
              <a:t>absdd-image-sandbox  |  DE  |  36 / 39</a:t>
            </a:r>
          </a:p>
        </p:txBody>
      </p:sp>
    </p:spTree>
    <p:extLst>
      <p:ext uri="{BB962C8B-B14F-4D97-AF65-F5344CB8AC3E}">
        <p14:creationId xmlns:p14="http://schemas.microsoft.com/office/powerpoint/2010/main" val="916092963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85E68C27-12FE-4412-9680-47FDF8B30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defPPr>
            <a:lvl1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1pPr>
            <a:lvl2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2pPr>
            <a:lvl3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3pPr>
            <a:lvl4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4pPr>
            <a:lvl5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5pPr>
            <a:lvl6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6pPr>
            <a:lvl7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7pPr>
            <a:lvl8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8pPr>
            <a:lvl9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82626"/>
                </a:solidFill>
                <a:latin typeface="Arial"/>
                <a:ea typeface="Arial"/>
                <a:cs typeface="Arial"/>
              </a:rPr>
              <a:t>Die Sitzung sauber beenden</a:t>
            </a:r>
          </a:p>
        </p:txBody>
      </p:sp>
      <p:sp>
        <p:nvSpPr>
          <p:cNvPr id="2" name="heading-rule">
            <a:extLst xmlns:a="http://schemas.openxmlformats.org/drawingml/2006/main">
              <a:ext uri="{FF2B5EF4-FFF2-40B4-BE49-F238E27FC236}">
                <a16:creationId xmlns:a16="http://schemas.microsoft.com/office/drawing/2014/main" id="{611D82B8-CCC7-41B5-A8ED-60E4B3CDF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3830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B65"/>
          </a:solidFill>
          <a:ln xmlns:a="http://schemas.openxmlformats.org/drawingml/2006/main">
            <a:noFill/>
          </a:ln>
        </p:spPr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45C1CD2B-94CF-4A6B-92C2-9A0558167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18562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pPr>
            <a:r>
              <a:t>Arbeit im Projekt-Mount speichern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pPr>
            <a:r>
              <a:t>Container-Shell verlassen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pPr>
            <a:r>
              <a:t>Audit-Wrapper auf dem Host ausführen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pPr>
            <a:r>
              <a:t>Keine Volume-Löschung im normalen Alltag</a:t>
            </a:r>
          </a:p>
        </p:txBody>
      </p:sp>
      <p:sp>
        <p:nvSpPr>
          <p:cNvPr id="4" name="command">
            <a:extLst xmlns:a="http://schemas.openxmlformats.org/drawingml/2006/main">
              <a:ext uri="{FF2B5EF4-FFF2-40B4-BE49-F238E27FC236}">
                <a16:creationId xmlns:a16="http://schemas.microsoft.com/office/drawing/2014/main" id="{0BADB9AE-5667-457F-B3E1-F7D75C9A0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85082"/>
            <a:ext cx="1097280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4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none" lIns="171450" tIns="171450" rIns="171450" bIns="171450">
            <a:noAutofit/>
          </a:bodyPr>
          <a:lstStyle xmlns:a="http://schemas.openxmlformats.org/drawingml/2006/main">
            <a:def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defPPr>
            <a:lvl1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lvl1pPr>
            <a:lvl2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lvl2pPr>
            <a:lvl3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lvl3pPr>
            <a:lvl4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lvl4pPr>
            <a:lvl5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lvl5pPr>
            <a:lvl6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lvl6pPr>
            <a:lvl7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lvl7pPr>
            <a:lvl8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lvl8pPr>
            <a:lvl9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pPr>
            <a:r>
              <a: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rPr>
              <a:t># Host, Bash:</a:t>
            </a:r>
          </a:p>
          <a:p xmlns:a="http://schemas.openxmlformats.org/drawingml/2006/main">
            <a: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pPr>
            <a:r>
              <a: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rPr>
              <a:t>bash scripts/compose-down-with-audit.sh --podman</a:t>
            </a:r>
          </a:p>
          <a:p xmlns:a="http://schemas.openxmlformats.org/drawingml/2006/main">
            <a: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pPr>
            <a:r>
              <a: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rPr>
              <a:t># Host, PowerShell 7 (Alternative):</a:t>
            </a:r>
          </a:p>
          <a:p xmlns:a="http://schemas.openxmlformats.org/drawingml/2006/main">
            <a: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pPr>
            <a:r>
              <a: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rPr>
              <a:t>.\scripts\compose-down-with-audit.ps1 -Engine podman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4DBB264F-F693-484D-A2E7-9C656715A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B5B5B"/>
                </a:solidFill>
                <a:latin typeface="Arial"/>
                <a:ea typeface="Arial"/>
                <a:cs typeface="Arial"/>
              </a:rPr>
              <a:t>absdd-image-sandbox  |  DE  |  37 / 39</a:t>
            </a:r>
          </a:p>
        </p:txBody>
      </p:sp>
    </p:spTree>
    <p:extLst>
      <p:ext uri="{BB962C8B-B14F-4D97-AF65-F5344CB8AC3E}">
        <p14:creationId xmlns:p14="http://schemas.microsoft.com/office/powerpoint/2010/main" val="345768236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26796EFC-DFF9-46B1-A3BB-BA6DE10A5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defPPr>
            <a:lvl1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1pPr>
            <a:lvl2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2pPr>
            <a:lvl3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3pPr>
            <a:lvl4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4pPr>
            <a:lvl5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5pPr>
            <a:lvl6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6pPr>
            <a:lvl7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7pPr>
            <a:lvl8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8pPr>
            <a:lvl9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82626"/>
                </a:solidFill>
                <a:latin typeface="Arial"/>
                <a:ea typeface="Arial"/>
                <a:cs typeface="Arial"/>
              </a:rPr>
              <a:t>Begriffe zum Mitnehmen</a:t>
            </a:r>
          </a:p>
        </p:txBody>
      </p:sp>
      <p:sp>
        <p:nvSpPr>
          <p:cNvPr id="2" name="heading-rule">
            <a:extLst xmlns:a="http://schemas.openxmlformats.org/drawingml/2006/main">
              <a:ext uri="{FF2B5EF4-FFF2-40B4-BE49-F238E27FC236}">
                <a16:creationId xmlns:a16="http://schemas.microsoft.com/office/drawing/2014/main" id="{BCF32A1B-ECB1-47EF-A036-92236EC24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3830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B65"/>
          </a:solidFill>
          <a:ln xmlns:a="http://schemas.openxmlformats.org/drawingml/2006/main">
            <a:noFill/>
          </a:ln>
        </p:spPr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50AED173-8AF8-4714-9F0C-9BA9E078B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1396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55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defPPr>
            <a:lvl1pPr>
              <a:defRPr sz="255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1pPr>
            <a:lvl2pPr>
              <a:defRPr sz="255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2pPr>
            <a:lvl3pPr>
              <a:defRPr sz="255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3pPr>
            <a:lvl4pPr>
              <a:defRPr sz="255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4pPr>
            <a:lvl5pPr>
              <a:defRPr sz="255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5pPr>
            <a:lvl6pPr>
              <a:defRPr sz="255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6pPr>
            <a:lvl7pPr>
              <a:defRPr sz="255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7pPr>
            <a:lvl8pPr>
              <a:defRPr sz="255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8pPr>
            <a:lvl9pPr>
              <a:defRPr sz="255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255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pPr>
            <a:r>
              <a:t>Spec: prüfbare Anforderungen; Plan: technischer Weg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255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pPr>
            <a:r>
              <a:t>Tasks: kleine Aufgaben; Evidence: tatsächlicher Nachweis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255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pPr>
            <a:r>
              <a:t>Open: offen; N/A: begründet nicht anwendbar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255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pPr>
            <a:r>
              <a:t>Ready ist keine Start-, Produkt- oder Release-Freigabe</a:t>
            </a:r>
          </a:p>
        </p:txBody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C1D75684-28ED-4007-835F-44E4F2E76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B5B5B"/>
                </a:solidFill>
                <a:latin typeface="Arial"/>
                <a:ea typeface="Arial"/>
                <a:cs typeface="Arial"/>
              </a:rPr>
              <a:t>absdd-image-sandbox  |  DE  |  38 / 39</a:t>
            </a:r>
          </a:p>
        </p:txBody>
      </p:sp>
    </p:spTree>
    <p:extLst>
      <p:ext uri="{BB962C8B-B14F-4D97-AF65-F5344CB8AC3E}">
        <p14:creationId xmlns:p14="http://schemas.microsoft.com/office/powerpoint/2010/main" val="1041179703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983B63E7-475F-4F38-A5EC-B20924654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defPPr>
            <a:lvl1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1pPr>
            <a:lvl2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2pPr>
            <a:lvl3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3pPr>
            <a:lvl4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4pPr>
            <a:lvl5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5pPr>
            <a:lvl6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6pPr>
            <a:lvl7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7pPr>
            <a:lvl8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8pPr>
            <a:lvl9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82626"/>
                </a:solidFill>
                <a:latin typeface="Arial"/>
                <a:ea typeface="Arial"/>
                <a:cs typeface="Arial"/>
              </a:rPr>
              <a:t>Nächster Schritt und Materialien</a:t>
            </a:r>
          </a:p>
        </p:txBody>
      </p:sp>
      <p:sp>
        <p:nvSpPr>
          <p:cNvPr id="2" name="heading-rule">
            <a:extLst xmlns:a="http://schemas.openxmlformats.org/drawingml/2006/main">
              <a:ext uri="{FF2B5EF4-FFF2-40B4-BE49-F238E27FC236}">
                <a16:creationId xmlns:a16="http://schemas.microsoft.com/office/drawing/2014/main" id="{23839FE1-A209-447E-8F35-FE59F3EF0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3830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B65"/>
          </a:solidFill>
          <a:ln xmlns:a="http://schemas.openxmlformats.org/drawingml/2006/main">
            <a:noFill/>
          </a:ln>
        </p:spPr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982D44D0-05E6-4CBE-AD35-657EE6543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1396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55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defPPr>
            <a:lvl1pPr>
              <a:defRPr sz="255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1pPr>
            <a:lvl2pPr>
              <a:defRPr sz="255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2pPr>
            <a:lvl3pPr>
              <a:defRPr sz="255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3pPr>
            <a:lvl4pPr>
              <a:defRPr sz="255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4pPr>
            <a:lvl5pPr>
              <a:defRPr sz="255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5pPr>
            <a:lvl6pPr>
              <a:defRPr sz="255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6pPr>
            <a:lvl7pPr>
              <a:defRPr sz="255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7pPr>
            <a:lvl8pPr>
              <a:defRPr sz="255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8pPr>
            <a:lvl9pPr>
              <a:defRPr sz="255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255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pPr>
            <a:r>
              <a:t>Lernweg und passende Toolchain wählen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255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pPr>
            <a:r>
              <a:t>Ein kleines, ausdrücklich genehmigtes Projekt beginnen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255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pPr>
            <a:r>
              <a:t>Fragen und offene Nachweise mit der Lernbegleitung klären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255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pPr>
            <a:r>
              <a:t>Markdown, Sprecherhinweise und Profilmatrix mitnehmen</a:t>
            </a:r>
          </a:p>
        </p:txBody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7C0EFF19-DD93-4614-AC5E-8F41B2076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B5B5B"/>
                </a:solidFill>
                <a:latin typeface="Arial"/>
                <a:ea typeface="Arial"/>
                <a:cs typeface="Arial"/>
              </a:rPr>
              <a:t>absdd-image-sandbox  |  DE  |  39 / 39</a:t>
            </a:r>
          </a:p>
        </p:txBody>
      </p:sp>
    </p:spTree>
    <p:extLst>
      <p:ext uri="{BB962C8B-B14F-4D97-AF65-F5344CB8AC3E}">
        <p14:creationId xmlns:p14="http://schemas.microsoft.com/office/powerpoint/2010/main" val="23316641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2026-10-25T16:25:32.3150000Z</dcterms:created>
  <dcterms:modified xsi:type="dcterms:W3CDTF">2026-10-25T16:25:32.3150000Z</dcterms:modified>
</coreProperties>
</file>