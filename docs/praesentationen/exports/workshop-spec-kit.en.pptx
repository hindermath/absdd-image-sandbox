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287bd76994579" /><Relationship Type="http://schemas.openxmlformats.org/officeDocument/2006/relationships/extended-properties" Target="/docProps/app.xml" Id="R4f2dc891e5924dae" /><Relationship Type="http://schemas.openxmlformats.org/officeDocument/2006/relationships/officeDocument" Target="/ppt/presentation.xml" Id="R8e4868425cff45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cb85b948e4782"/>
  </p:sldMasterIdLst>
  <p:notesMasterIdLst>
    <p:notesMasterId xmlns:r="http://schemas.openxmlformats.org/officeDocument/2006/relationships" r:id="R817a8add6d3543b3"/>
  </p:notesMasterIdLst>
  <p:sldIdLst>
    <p:sldId xmlns:r="http://schemas.openxmlformats.org/officeDocument/2006/relationships" id="256" r:id="R23f2ba16e62e4162"/>
    <p:sldId xmlns:r="http://schemas.openxmlformats.org/officeDocument/2006/relationships" id="257" r:id="R9a8526a68d354b00"/>
    <p:sldId xmlns:r="http://schemas.openxmlformats.org/officeDocument/2006/relationships" id="258" r:id="R2097a9c62cc5438f"/>
    <p:sldId xmlns:r="http://schemas.openxmlformats.org/officeDocument/2006/relationships" id="259" r:id="Rd975db36bd6e408c"/>
    <p:sldId xmlns:r="http://schemas.openxmlformats.org/officeDocument/2006/relationships" id="260" r:id="R7d61f7bc48f34122"/>
    <p:sldId xmlns:r="http://schemas.openxmlformats.org/officeDocument/2006/relationships" id="261" r:id="R7a928814b7d94d4e"/>
    <p:sldId xmlns:r="http://schemas.openxmlformats.org/officeDocument/2006/relationships" id="262" r:id="Rdc5da7cb94874b40"/>
    <p:sldId xmlns:r="http://schemas.openxmlformats.org/officeDocument/2006/relationships" id="263" r:id="Rf54802984c5041d6"/>
    <p:sldId xmlns:r="http://schemas.openxmlformats.org/officeDocument/2006/relationships" id="264" r:id="Rfff31630378a4192"/>
    <p:sldId xmlns:r="http://schemas.openxmlformats.org/officeDocument/2006/relationships" id="265" r:id="Rddbae0b8c1f74b12"/>
    <p:sldId xmlns:r="http://schemas.openxmlformats.org/officeDocument/2006/relationships" id="266" r:id="R01ab1fd5ea6f41b7"/>
    <p:sldId xmlns:r="http://schemas.openxmlformats.org/officeDocument/2006/relationships" id="267" r:id="Raca41adaa9614fa8"/>
    <p:sldId xmlns:r="http://schemas.openxmlformats.org/officeDocument/2006/relationships" id="268" r:id="Rad96f93383534871"/>
    <p:sldId xmlns:r="http://schemas.openxmlformats.org/officeDocument/2006/relationships" id="269" r:id="Ra16b00b88c644b46"/>
    <p:sldId xmlns:r="http://schemas.openxmlformats.org/officeDocument/2006/relationships" id="270" r:id="R324d9123febe4845"/>
    <p:sldId xmlns:r="http://schemas.openxmlformats.org/officeDocument/2006/relationships" id="271" r:id="R55bb578c1ca343da"/>
    <p:sldId xmlns:r="http://schemas.openxmlformats.org/officeDocument/2006/relationships" id="272" r:id="R86a86592ca134458"/>
    <p:sldId xmlns:r="http://schemas.openxmlformats.org/officeDocument/2006/relationships" id="273" r:id="R8594cc055955423c"/>
    <p:sldId xmlns:r="http://schemas.openxmlformats.org/officeDocument/2006/relationships" id="274" r:id="R6ab197cf123249cb"/>
    <p:sldId xmlns:r="http://schemas.openxmlformats.org/officeDocument/2006/relationships" id="275" r:id="R080da7fa3d694a03"/>
    <p:sldId xmlns:r="http://schemas.openxmlformats.org/officeDocument/2006/relationships" id="276" r:id="R2c7ac77ed9954de1"/>
    <p:sldId xmlns:r="http://schemas.openxmlformats.org/officeDocument/2006/relationships" id="277" r:id="Rc88a353748b14707"/>
    <p:sldId xmlns:r="http://schemas.openxmlformats.org/officeDocument/2006/relationships" id="278" r:id="R9114c8c6ef9b4369"/>
    <p:sldId xmlns:r="http://schemas.openxmlformats.org/officeDocument/2006/relationships" id="279" r:id="R0dd5f2cc9ee74fdb"/>
    <p:sldId xmlns:r="http://schemas.openxmlformats.org/officeDocument/2006/relationships" id="280" r:id="R5552a6a839a744a5"/>
    <p:sldId xmlns:r="http://schemas.openxmlformats.org/officeDocument/2006/relationships" id="281" r:id="R4f39b90b1a884ad7"/>
    <p:sldId xmlns:r="http://schemas.openxmlformats.org/officeDocument/2006/relationships" id="282" r:id="R9166c5c6c1ef40b6"/>
    <p:sldId xmlns:r="http://schemas.openxmlformats.org/officeDocument/2006/relationships" id="283" r:id="R80da6100bd0a4409"/>
    <p:sldId xmlns:r="http://schemas.openxmlformats.org/officeDocument/2006/relationships" id="284" r:id="R32d827e67b1b4689"/>
    <p:sldId xmlns:r="http://schemas.openxmlformats.org/officeDocument/2006/relationships" id="285" r:id="R1e9ae9df2dd54f5d"/>
    <p:sldId xmlns:r="http://schemas.openxmlformats.org/officeDocument/2006/relationships" id="286" r:id="R33224dc24e6248ad"/>
    <p:sldId xmlns:r="http://schemas.openxmlformats.org/officeDocument/2006/relationships" id="287" r:id="Rd0fb4a7a15154bb4"/>
    <p:sldId xmlns:r="http://schemas.openxmlformats.org/officeDocument/2006/relationships" id="288" r:id="Ra90ad064a6744152"/>
    <p:sldId xmlns:r="http://schemas.openxmlformats.org/officeDocument/2006/relationships" id="289" r:id="R487bc4be1e9f4d48"/>
    <p:sldId xmlns:r="http://schemas.openxmlformats.org/officeDocument/2006/relationships" id="290" r:id="Re086f16c330742bd"/>
    <p:sldId xmlns:r="http://schemas.openxmlformats.org/officeDocument/2006/relationships" id="291" r:id="R912172ca04f34fa7"/>
    <p:sldId xmlns:r="http://schemas.openxmlformats.org/officeDocument/2006/relationships" id="292" r:id="Rf2e4db756d4f4daa"/>
    <p:sldId xmlns:r="http://schemas.openxmlformats.org/officeDocument/2006/relationships" id="293" r:id="R2c214252a4634314"/>
    <p:sldId xmlns:r="http://schemas.openxmlformats.org/officeDocument/2006/relationships" id="294" r:id="R996247ef40e84d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1dc71ccc545c1" /><Relationship Type="http://schemas.openxmlformats.org/officeDocument/2006/relationships/slideMaster" Target="/ppt/slideMasters/slideMaster1.xml" Id="Rb74cb85b948e4782" /><Relationship Type="http://schemas.openxmlformats.org/officeDocument/2006/relationships/notesMaster" Target="/ppt/notesMasters/notesMaster1.xml" Id="R817a8add6d3543b3" /><Relationship Type="http://schemas.openxmlformats.org/officeDocument/2006/relationships/presProps" Target="/ppt/presProps.xml" Id="R605cd3ac8adb4121" /><Relationship Type="http://schemas.openxmlformats.org/officeDocument/2006/relationships/tableStyles" Target="/ppt/tableStyles.xml" Id="Rf7ebfa6f7dd6484d" /><Relationship Type="http://schemas.openxmlformats.org/officeDocument/2006/relationships/slide" Target="/ppt/slides/slide1.xml" Id="R23f2ba16e62e4162" /><Relationship Type="http://schemas.openxmlformats.org/officeDocument/2006/relationships/slide" Target="/ppt/slides/slide2.xml" Id="R9a8526a68d354b00" /><Relationship Type="http://schemas.openxmlformats.org/officeDocument/2006/relationships/slide" Target="/ppt/slides/slide3.xml" Id="R2097a9c62cc5438f" /><Relationship Type="http://schemas.openxmlformats.org/officeDocument/2006/relationships/slide" Target="/ppt/slides/slide4.xml" Id="Rd975db36bd6e408c" /><Relationship Type="http://schemas.openxmlformats.org/officeDocument/2006/relationships/slide" Target="/ppt/slides/slide5.xml" Id="R7d61f7bc48f34122" /><Relationship Type="http://schemas.openxmlformats.org/officeDocument/2006/relationships/slide" Target="/ppt/slides/slide6.xml" Id="R7a928814b7d94d4e" /><Relationship Type="http://schemas.openxmlformats.org/officeDocument/2006/relationships/slide" Target="/ppt/slides/slide7.xml" Id="Rdc5da7cb94874b40" /><Relationship Type="http://schemas.openxmlformats.org/officeDocument/2006/relationships/slide" Target="/ppt/slides/slide8.xml" Id="Rf54802984c5041d6" /><Relationship Type="http://schemas.openxmlformats.org/officeDocument/2006/relationships/slide" Target="/ppt/slides/slide9.xml" Id="Rfff31630378a4192" /><Relationship Type="http://schemas.openxmlformats.org/officeDocument/2006/relationships/slide" Target="/ppt/slides/slide10.xml" Id="Rddbae0b8c1f74b12" /><Relationship Type="http://schemas.openxmlformats.org/officeDocument/2006/relationships/slide" Target="/ppt/slides/slide11.xml" Id="R01ab1fd5ea6f41b7" /><Relationship Type="http://schemas.openxmlformats.org/officeDocument/2006/relationships/slide" Target="/ppt/slides/slide12.xml" Id="Raca41adaa9614fa8" /><Relationship Type="http://schemas.openxmlformats.org/officeDocument/2006/relationships/slide" Target="/ppt/slides/slide13.xml" Id="Rad96f93383534871" /><Relationship Type="http://schemas.openxmlformats.org/officeDocument/2006/relationships/slide" Target="/ppt/slides/slide14.xml" Id="Ra16b00b88c644b46" /><Relationship Type="http://schemas.openxmlformats.org/officeDocument/2006/relationships/slide" Target="/ppt/slides/slide15.xml" Id="R324d9123febe4845" /><Relationship Type="http://schemas.openxmlformats.org/officeDocument/2006/relationships/slide" Target="/ppt/slides/slide16.xml" Id="R55bb578c1ca343da" /><Relationship Type="http://schemas.openxmlformats.org/officeDocument/2006/relationships/slide" Target="/ppt/slides/slide17.xml" Id="R86a86592ca134458" /><Relationship Type="http://schemas.openxmlformats.org/officeDocument/2006/relationships/slide" Target="/ppt/slides/slide18.xml" Id="R8594cc055955423c" /><Relationship Type="http://schemas.openxmlformats.org/officeDocument/2006/relationships/slide" Target="/ppt/slides/slide19.xml" Id="R6ab197cf123249cb" /><Relationship Type="http://schemas.openxmlformats.org/officeDocument/2006/relationships/slide" Target="/ppt/slides/slide20.xml" Id="R080da7fa3d694a03" /><Relationship Type="http://schemas.openxmlformats.org/officeDocument/2006/relationships/slide" Target="/ppt/slides/slide21.xml" Id="R2c7ac77ed9954de1" /><Relationship Type="http://schemas.openxmlformats.org/officeDocument/2006/relationships/slide" Target="/ppt/slides/slide22.xml" Id="Rc88a353748b14707" /><Relationship Type="http://schemas.openxmlformats.org/officeDocument/2006/relationships/slide" Target="/ppt/slides/slide23.xml" Id="R9114c8c6ef9b4369" /><Relationship Type="http://schemas.openxmlformats.org/officeDocument/2006/relationships/slide" Target="/ppt/slides/slide24.xml" Id="R0dd5f2cc9ee74fdb" /><Relationship Type="http://schemas.openxmlformats.org/officeDocument/2006/relationships/slide" Target="/ppt/slides/slide25.xml" Id="R5552a6a839a744a5" /><Relationship Type="http://schemas.openxmlformats.org/officeDocument/2006/relationships/slide" Target="/ppt/slides/slide26.xml" Id="R4f39b90b1a884ad7" /><Relationship Type="http://schemas.openxmlformats.org/officeDocument/2006/relationships/slide" Target="/ppt/slides/slide27.xml" Id="R9166c5c6c1ef40b6" /><Relationship Type="http://schemas.openxmlformats.org/officeDocument/2006/relationships/slide" Target="/ppt/slides/slide28.xml" Id="R80da6100bd0a4409" /><Relationship Type="http://schemas.openxmlformats.org/officeDocument/2006/relationships/slide" Target="/ppt/slides/slide29.xml" Id="R32d827e67b1b4689" /><Relationship Type="http://schemas.openxmlformats.org/officeDocument/2006/relationships/slide" Target="/ppt/slides/slide30.xml" Id="R1e9ae9df2dd54f5d" /><Relationship Type="http://schemas.openxmlformats.org/officeDocument/2006/relationships/slide" Target="/ppt/slides/slide31.xml" Id="R33224dc24e6248ad" /><Relationship Type="http://schemas.openxmlformats.org/officeDocument/2006/relationships/slide" Target="/ppt/slides/slide32.xml" Id="Rd0fb4a7a15154bb4" /><Relationship Type="http://schemas.openxmlformats.org/officeDocument/2006/relationships/slide" Target="/ppt/slides/slide33.xml" Id="Ra90ad064a6744152" /><Relationship Type="http://schemas.openxmlformats.org/officeDocument/2006/relationships/slide" Target="/ppt/slides/slide34.xml" Id="R487bc4be1e9f4d48" /><Relationship Type="http://schemas.openxmlformats.org/officeDocument/2006/relationships/slide" Target="/ppt/slides/slide35.xml" Id="Re086f16c330742bd" /><Relationship Type="http://schemas.openxmlformats.org/officeDocument/2006/relationships/slide" Target="/ppt/slides/slide36.xml" Id="R912172ca04f34fa7" /><Relationship Type="http://schemas.openxmlformats.org/officeDocument/2006/relationships/slide" Target="/ppt/slides/slide37.xml" Id="Rf2e4db756d4f4daa" /><Relationship Type="http://schemas.openxmlformats.org/officeDocument/2006/relationships/slide" Target="/ppt/slides/slide38.xml" Id="R2c214252a4634314" /><Relationship Type="http://schemas.openxmlformats.org/officeDocument/2006/relationships/slide" Target="/ppt/slides/slide39.xml" Id="R996247ef40e8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6a57575054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6e7ffa35ec44f0" /><Relationship Type="http://schemas.openxmlformats.org/officeDocument/2006/relationships/notesMaster" Target="/ppt/notesMasters/notesMaster1.xml" Id="Rba668860dd66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753740d54e4a1f" /><Relationship Type="http://schemas.openxmlformats.org/officeDocument/2006/relationships/notesMaster" Target="/ppt/notesMasters/notesMaster1.xml" Id="R26abc952ddca41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bd7e23da774772" /><Relationship Type="http://schemas.openxmlformats.org/officeDocument/2006/relationships/notesMaster" Target="/ppt/notesMasters/notesMaster1.xml" Id="R6fa81ea28b884e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1e8ffb764f4392" /><Relationship Type="http://schemas.openxmlformats.org/officeDocument/2006/relationships/notesMaster" Target="/ppt/notesMasters/notesMaster1.xml" Id="R223ab5ba022249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34f0cfa16744ec" /><Relationship Type="http://schemas.openxmlformats.org/officeDocument/2006/relationships/notesMaster" Target="/ppt/notesMasters/notesMaster1.xml" Id="Rf8aea480f87642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1ed73c321044c1" /><Relationship Type="http://schemas.openxmlformats.org/officeDocument/2006/relationships/notesMaster" Target="/ppt/notesMasters/notesMaster1.xml" Id="R311c08e80c5e4f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ff422a43a0430a" /><Relationship Type="http://schemas.openxmlformats.org/officeDocument/2006/relationships/notesMaster" Target="/ppt/notesMasters/notesMaster1.xml" Id="R9ef8416760914d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92da53021a4228" /><Relationship Type="http://schemas.openxmlformats.org/officeDocument/2006/relationships/notesMaster" Target="/ppt/notesMasters/notesMaster1.xml" Id="Rf5a80f9765f34d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33d95aa2f04ad1" /><Relationship Type="http://schemas.openxmlformats.org/officeDocument/2006/relationships/notesMaster" Target="/ppt/notesMasters/notesMaster1.xml" Id="Re320f2338a9246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ddd2be480947f4" /><Relationship Type="http://schemas.openxmlformats.org/officeDocument/2006/relationships/notesMaster" Target="/ppt/notesMasters/notesMaster1.xml" Id="R1722be4600344c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22a3832e014b98" /><Relationship Type="http://schemas.openxmlformats.org/officeDocument/2006/relationships/notesMaster" Target="/ppt/notesMasters/notesMaster1.xml" Id="R7877c6d6822443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fa0dc2c261451d" /><Relationship Type="http://schemas.openxmlformats.org/officeDocument/2006/relationships/notesMaster" Target="/ppt/notesMasters/notesMaster1.xml" Id="R897cb1db51c444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9afd220ca84cab" /><Relationship Type="http://schemas.openxmlformats.org/officeDocument/2006/relationships/notesMaster" Target="/ppt/notesMasters/notesMaster1.xml" Id="Reb9abdf88de440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40cb5b616141e8" /><Relationship Type="http://schemas.openxmlformats.org/officeDocument/2006/relationships/notesMaster" Target="/ppt/notesMasters/notesMaster1.xml" Id="Rdbad9e146ebe4e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6149dceb5a4550" /><Relationship Type="http://schemas.openxmlformats.org/officeDocument/2006/relationships/notesMaster" Target="/ppt/notesMasters/notesMaster1.xml" Id="Rb2744b0afea044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a5cc35e6544285" /><Relationship Type="http://schemas.openxmlformats.org/officeDocument/2006/relationships/notesMaster" Target="/ppt/notesMasters/notesMaster1.xml" Id="Rdf8db1fcde554b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f2860e747e4f22" /><Relationship Type="http://schemas.openxmlformats.org/officeDocument/2006/relationships/notesMaster" Target="/ppt/notesMasters/notesMaster1.xml" Id="Rb6d54e345f6244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f53d4870444f9d" /><Relationship Type="http://schemas.openxmlformats.org/officeDocument/2006/relationships/notesMaster" Target="/ppt/notesMasters/notesMaster1.xml" Id="R8265a8b992af40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93558ba84c4c83" /><Relationship Type="http://schemas.openxmlformats.org/officeDocument/2006/relationships/notesMaster" Target="/ppt/notesMasters/notesMaster1.xml" Id="R7da2e29fc13548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4ebd6646c94a9e" /><Relationship Type="http://schemas.openxmlformats.org/officeDocument/2006/relationships/notesMaster" Target="/ppt/notesMasters/notesMaster1.xml" Id="Rabb5b7cfcb314ed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3bb56819e14276" /><Relationship Type="http://schemas.openxmlformats.org/officeDocument/2006/relationships/notesMaster" Target="/ppt/notesMasters/notesMaster1.xml" Id="R7c5e627584e046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be7e7237cd4c37" /><Relationship Type="http://schemas.openxmlformats.org/officeDocument/2006/relationships/notesMaster" Target="/ppt/notesMasters/notesMaster1.xml" Id="R200e7178c3bf44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a7ef24bb8d43d7" /><Relationship Type="http://schemas.openxmlformats.org/officeDocument/2006/relationships/notesMaster" Target="/ppt/notesMasters/notesMaster1.xml" Id="Rc931ac8fe91d4a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2ac88cc9ee421c" /><Relationship Type="http://schemas.openxmlformats.org/officeDocument/2006/relationships/notesMaster" Target="/ppt/notesMasters/notesMaster1.xml" Id="R89b3b19aa4f343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015f5aa0184b49" /><Relationship Type="http://schemas.openxmlformats.org/officeDocument/2006/relationships/notesMaster" Target="/ppt/notesMasters/notesMaster1.xml" Id="R36be37f2ea254e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bd12c9117ba4f29" /><Relationship Type="http://schemas.openxmlformats.org/officeDocument/2006/relationships/notesMaster" Target="/ppt/notesMasters/notesMaster1.xml" Id="R133de187a7b240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8f2f85a112543cc" /><Relationship Type="http://schemas.openxmlformats.org/officeDocument/2006/relationships/notesMaster" Target="/ppt/notesMasters/notesMaster1.xml" Id="R21e9247ff095436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827b9984fa4c45" /><Relationship Type="http://schemas.openxmlformats.org/officeDocument/2006/relationships/notesMaster" Target="/ppt/notesMasters/notesMaster1.xml" Id="R62da26ba9d834a6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00314330a14bfd" /><Relationship Type="http://schemas.openxmlformats.org/officeDocument/2006/relationships/notesMaster" Target="/ppt/notesMasters/notesMaster1.xml" Id="R288be59f2151456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bed4706e74b40d3" /><Relationship Type="http://schemas.openxmlformats.org/officeDocument/2006/relationships/notesMaster" Target="/ppt/notesMasters/notesMaster1.xml" Id="Rc224f105cedb4de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a932a2cabb24834" /><Relationship Type="http://schemas.openxmlformats.org/officeDocument/2006/relationships/notesMaster" Target="/ppt/notesMasters/notesMaster1.xml" Id="R4d5c27dba5704b5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916e9ec2e924781" /><Relationship Type="http://schemas.openxmlformats.org/officeDocument/2006/relationships/notesMaster" Target="/ppt/notesMasters/notesMaster1.xml" Id="R107fd355bb8d4f8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694da37e94049ea" /><Relationship Type="http://schemas.openxmlformats.org/officeDocument/2006/relationships/notesMaster" Target="/ppt/notesMasters/notesMaster1.xml" Id="R056471adabf04bb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e4a109e74684b8b" /><Relationship Type="http://schemas.openxmlformats.org/officeDocument/2006/relationships/notesMaster" Target="/ppt/notesMasters/notesMaster1.xml" Id="R5242463f85004f3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3484203f2a74f80" /><Relationship Type="http://schemas.openxmlformats.org/officeDocument/2006/relationships/notesMaster" Target="/ppt/notesMasters/notesMaster1.xml" Id="R0cf60262b9994b3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6cae117c184984" /><Relationship Type="http://schemas.openxmlformats.org/officeDocument/2006/relationships/notesMaster" Target="/ppt/notesMasters/notesMaster1.xml" Id="Rfc13fe2ba28141b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f9c5c84f4864a4f" /><Relationship Type="http://schemas.openxmlformats.org/officeDocument/2006/relationships/notesMaster" Target="/ppt/notesMasters/notesMaster1.xml" Id="R4f4a2dcf8eb544e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826245b2b1f447a" /><Relationship Type="http://schemas.openxmlformats.org/officeDocument/2006/relationships/notesMaster" Target="/ppt/notesMasters/notesMaster1.xml" Id="R052aaead4df349d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deb9ad3b8df4f19" /><Relationship Type="http://schemas.openxmlformats.org/officeDocument/2006/relationships/notesMaster" Target="/ppt/notesMasters/notesMaster1.xml" Id="Rf6243f3a43584a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W01</a:t>
            </a:r>
          </a:p>
          <a:p xmlns:a="http://schemas.openxmlformats.org/drawingml/2006/main">
            <a:r>
              <a:t>AI means artificial intelligence. A container is a restricted working</a:t>
            </a:r>
          </a:p>
          <a:p xmlns:a="http://schemas.openxmlformats.org/drawingml/2006/main">
            <a:r>
              <a:t>environment, not a complete security guarantee. This workshop assumes an</a:t>
            </a:r>
          </a:p>
          <a:p xmlns:a="http://schemas.openxmlformats.org/drawingml/2006/main">
            <a:r>
              <a:t>environment prepared by an instructor. All four IT training occupations</a:t>
            </a:r>
          </a:p>
          <a:p xmlns:a="http://schemas.openxmlformats.org/drawingml/2006/main">
            <a:r>
              <a:t>and all four IT-specialist tracks can use the same introduction.</a:t>
            </a:r>
          </a:p>
          <a:p xmlns:a="http://schemas.openxmlformats.org/drawingml/2006/main">
            <a:r>
              <a:t>Practical tasks require the applicable project authority.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W02</a:t>
            </a:r>
          </a:p>
          <a:p xmlns:a="http://schemas.openxmlformats.org/drawingml/2006/main">
            <a:r>
              <a:t>Spec Kit divides a request into requirements, planning and tasks. A</a:t>
            </a:r>
          </a:p>
          <a:p xmlns:a="http://schemas.openxmlformats.org/drawingml/2006/main">
            <a:r>
              <a:t>review is a deliberate assessment by another person or an explicitly</a:t>
            </a:r>
          </a:p>
          <a:p xmlns:a="http://schemas.openxmlformats.org/drawingml/2006/main">
            <a:r>
              <a:t>assigned agent. Explaining a step does not authorize it automatically.</a:t>
            </a:r>
          </a:p>
          <a:p xmlns:a="http://schemas.openxmlformats.org/drawingml/2006/main">
            <a:r>
              <a:t>The group may pause after any phase. See this repository's learner index</a:t>
            </a:r>
          </a:p>
          <a:p xmlns:a="http://schemas.openxmlformats.org/drawingml/2006/main">
            <a:r>
              <a:t>and FAQ for details.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W03</a:t>
            </a:r>
          </a:p>
          <a:p xmlns:a="http://schemas.openxmlformats.org/drawingml/2006/main">
            <a:r>
              <a:t>A writable mount allows changes and deletion on the host too. A volume</a:t>
            </a:r>
          </a:p>
          <a:p xmlns:a="http://schemas.openxmlformats.org/drawingml/2006/main">
            <a:r>
              <a:t>is persistent storage managed by Podman. Neither is a backup. A desktop</a:t>
            </a:r>
          </a:p>
          <a:p xmlns:a="http://schemas.openxmlformats.org/drawingml/2006/main">
            <a:r>
              <a:t>IDE or agent app is not automatically connected to the container CLI.</a:t>
            </a:r>
          </a:p>
          <a:p xmlns:a="http://schemas.openxmlformats.org/drawingml/2006/main">
            <a:r>
              <a:t>Diagram alternative: the host provides a selected project folder; the</a:t>
            </a:r>
          </a:p>
          <a:p xmlns:a="http://schemas.openxmlformats.org/drawingml/2006/main">
            <a:r>
              <a:t>container accesses it through a mount; agent state lives in separate</a:t>
            </a:r>
          </a:p>
          <a:p xmlns:a="http://schemas.openxmlformats.org/drawingml/2006/main">
            <a:r>
              <a:t>volumes.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W04</a:t>
            </a:r>
          </a:p>
          <a:p xmlns:a="http://schemas.openxmlformats.org/drawingml/2006/main">
            <a:r>
              <a:t>Location: host, in the sandbox checkout, using Bash or PowerShell 7.</a:t>
            </a:r>
          </a:p>
          <a:p xmlns:a="http://schemas.openxmlformats.org/drawingml/2006/main">
            <a:r>
              <a:t>Podman should respond; config validates Compose without building or</a:t>
            </a:r>
          </a:p>
          <a:p xmlns:a="http://schemas.openxmlformats.org/drawingml/2006/main">
            <a:r>
              <a:t>starting. Rootless means operating without root privileges on that Linux</a:t>
            </a:r>
          </a:p>
          <a:p xmlns:a="http://schemas.openxmlformats.org/drawingml/2006/main">
            <a:r>
              <a:t>system. Windows and Ubuntu/WSL2 use separate Podman runtimes. ARM64</a:t>
            </a:r>
          </a:p>
          <a:p xmlns:a="http://schemas.openxmlformats.org/drawingml/2006/main">
            <a:r>
              <a:t>success proves neither AMD64 acceptance nor native Linux hardware</a:t>
            </a:r>
          </a:p>
          <a:p xmlns:a="http://schemas.openxmlformats.org/drawingml/2006/main">
            <a:r>
              <a:t>coverage. See installation and troubleshooting guides.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W05</a:t>
            </a:r>
          </a:p>
          <a:p xmlns:a="http://schemas.openxmlformats.org/drawingml/2006/main">
            <a:r>
              <a:t>Location: host in the personal checkout. Forks preserve reference</a:t>
            </a:r>
          </a:p>
          <a:p xmlns:a="http://schemas.openxmlformats.org/drawingml/2006/main">
            <a:r>
              <a:t>history and remain the default. Templates create independent history;</a:t>
            </a:r>
          </a:p>
          <a:p xmlns:a="http://schemas.openxmlformats.org/drawingml/2006/main">
            <a:r>
              <a:t>this additional profile is prepared, not enabled. Naming a remote does</a:t>
            </a:r>
          </a:p>
          <a:p xmlns:a="http://schemas.openxmlformats.org/drawingml/2006/main">
            <a:r>
              <a:t>not join histories: no blind upstream or unrelated-history merges.</a:t>
            </a:r>
          </a:p>
          <a:p xmlns:a="http://schemas.openxmlformats.org/drawingml/2006/main">
            <a:r>
              <a:t>Copied approvals, statistics and run states are source context only.</a:t>
            </a:r>
          </a:p>
          <a:p xmlns:a="http://schemas.openxmlformats.org/drawingml/2006/main">
            <a:r>
              <a:t>SysInfo/web still need empty product repos plus one learning package,</a:t>
            </a:r>
          </a:p>
          <a:p xmlns:a="http://schemas.openxmlformats.org/drawingml/2006/main">
            <a:r>
              <a:t>not the whole sandbox. Keep Home Baseline separate. The commands are</a:t>
            </a:r>
          </a:p>
          <a:p xmlns:a="http://schemas.openxmlformats.org/drawingml/2006/main">
            <a:r>
              <a:t>read-only but may show private URLs; sanitize output. Institutional</a:t>
            </a:r>
          </a:p>
          <a:p xmlns:a="http://schemas.openxmlformats.org/drawingml/2006/main">
            <a:r>
              <a:t>GitLab, Codeberg, Forgejo and other Git systems remain valid.</a:t>
            </a:r>
          </a:p>
          <a:p xmlns:a="http://schemas.openxmlformats.org/drawingml/2006/main">
            <a:r>
              <a:t>Commit/push require separate decisions. See</a:t>
            </a:r>
          </a:p>
          <a:p xmlns:a="http://schemas.openxmlformats.org/drawingml/2006/main">
            <a:r>
              <a:t>docs/fuer-lernende/template-profil.md.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W06</a:t>
            </a:r>
          </a:p>
          <a:p xmlns:a="http://schemas.openxmlformats.org/drawingml/2006/main">
            <a:r>
              <a:t>Location: host sandbox checkout, Bash. PowerShell alternative: if (-not</a:t>
            </a:r>
          </a:p>
          <a:p xmlns:a="http://schemas.openxmlformats.org/drawingml/2006/main">
            <a:r>
              <a:t>(Test-Path -LiteralPath .env)) { Copy-Item .env.example .env }; repeat</a:t>
            </a:r>
          </a:p>
          <a:p xmlns:a="http://schemas.openxmlformats.org/drawingml/2006/main">
            <a:r>
              <a:t>for opencode.env. On Windows protect files using filesystem permissions,</a:t>
            </a:r>
          </a:p>
          <a:p xmlns:a="http://schemas.openxmlformats.org/drawingml/2006/main">
            <a:r>
              <a:t>not a generic chmod instruction. Existing files must remain unchanged.</a:t>
            </a:r>
          </a:p>
          <a:p xmlns:a="http://schemas.openxmlformats.org/drawingml/2006/main">
            <a:r>
              <a:t>Compose reads .env; the image does not embed it. New mounts require</a:t>
            </a:r>
          </a:p>
          <a:p xmlns:a="http://schemas.openxmlformats.org/drawingml/2006/main">
            <a:r>
              <a:t>deliberate container recreation, not necessarily rebuilding. See</a:t>
            </a:r>
          </a:p>
          <a:p xmlns:a="http://schemas.openxmlformats.org/drawingml/2006/main">
            <a:r>
              <a:t>installation and FAQ.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W07</a:t>
            </a:r>
          </a:p>
          <a:p xmlns:a="http://schemas.openxmlformats.org/drawingml/2006/main">
            <a:r>
              <a:t>Run the first command on the host and the remaining commands inside the</a:t>
            </a:r>
          </a:p>
          <a:p xmlns:a="http://schemas.openxmlformats.org/drawingml/2006/main">
            <a:r>
              <a:t>opened container shell. Expect adedev, a nonzero UID and the Hello</a:t>
            </a:r>
          </a:p>
          <a:p xmlns:a="http://schemas.openxmlformats.org/drawingml/2006/main">
            <a:r>
              <a:t>output. Use the relevant toolchain guide for C#, Java, Go, Rust or</a:t>
            </a:r>
          </a:p>
          <a:p xmlns:a="http://schemas.openxmlformats.org/drawingml/2006/main">
            <a:r>
              <a:t>Swift. A host IDE may edit files; no additional host compiler is</a:t>
            </a:r>
          </a:p>
          <a:p xmlns:a="http://schemas.openxmlformats.org/drawingml/2006/main">
            <a:r>
              <a:t>required. This does not prove perfect isolation or platform acceptance.</a:t>
            </a:r>
          </a:p>
          <a:p xmlns:a="http://schemas.openxmlformats.org/drawingml/2006/main">
            <a:r>
              <a:t>See first steps.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W08</a:t>
            </a:r>
          </a:p>
          <a:p xmlns:a="http://schemas.openxmlformats.org/drawingml/2006/main">
            <a:r>
              <a:t>An agent CLI is a command-line program running an AI agent. Installation</a:t>
            </a:r>
          </a:p>
          <a:p xmlns:a="http://schemas.openxmlformats.org/drawingml/2006/main">
            <a:r>
              <a:t>does not approve a provider, model or dataset. OpenCode 2 explicitly</a:t>
            </a:r>
          </a:p>
          <a:p xmlns:a="http://schemas.openxmlformats.org/drawingml/2006/main">
            <a:r>
              <a:t>retains open control and audit follow-ups in this sandbox. Use only a</a:t>
            </a:r>
          </a:p>
          <a:p xmlns:a="http://schemas.openxmlformats.org/drawingml/2006/main">
            <a:r>
              <a:t>project-approved agent for practical work. The prompt dispatcher</a:t>
            </a:r>
          </a:p>
          <a:p xmlns:a="http://schemas.openxmlformats.org/drawingml/2006/main">
            <a:r>
              <a:t>supports individual requests without bypassing sign-in or approvals. See</a:t>
            </a:r>
          </a:p>
          <a:p xmlns:a="http://schemas.openxmlformats.org/drawingml/2006/main">
            <a:r>
              <a:t>the agent and dispatcher guides.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W09</a:t>
            </a:r>
          </a:p>
          <a:p xmlns:a="http://schemas.openxmlformats.org/drawingml/2006/main">
            <a:r>
              <a:t>Location: an approved agent's chat in the application project, not the</a:t>
            </a:r>
          </a:p>
          <a:p xmlns:a="http://schemas.openxmlformats.org/drawingml/2006/main">
            <a:r>
              <a:t>shell. /init is not a universal command. Read existing files before</a:t>
            </a:r>
          </a:p>
          <a:p xmlns:a="http://schemas.openxmlformats.org/drawingml/2006/main">
            <a:r>
              <a:t>changing them; do not replace established rules wholesale. This sandbox</a:t>
            </a:r>
          </a:p>
          <a:p xmlns:a="http://schemas.openxmlformats.org/drawingml/2006/main">
            <a:r>
              <a:t>maintains five shared agent-guidance surfaces. Each application project</a:t>
            </a:r>
          </a:p>
          <a:p xmlns:a="http://schemas.openxmlformats.org/drawingml/2006/main">
            <a:r>
              <a:t>defines its own maintained surfaces.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W10</a:t>
            </a:r>
          </a:p>
          <a:p xmlns:a="http://schemas.openxmlformats.org/drawingml/2006/main">
            <a:r>
              <a:t>Location: container Bash in the prepared application project. Expect the</a:t>
            </a:r>
          </a:p>
          <a:p xmlns:a="http://schemas.openxmlformats.org/drawingml/2006/main">
            <a:r>
              <a:t>CLI version and tool availability. Initialization writes project</a:t>
            </a:r>
          </a:p>
          <a:p xmlns:a="http://schemas.openxmlformats.org/drawingml/2006/main">
            <a:r>
              <a:t>artifacts and therefore needs separate authority. For existing files,</a:t>
            </a:r>
          </a:p>
          <a:p xmlns:a="http://schemas.openxmlformats.org/drawingml/2006/main">
            <a:r>
              <a:t>clarify purpose, backup and changes first. Linux scripts match the</a:t>
            </a:r>
          </a:p>
          <a:p xmlns:a="http://schemas.openxmlformats.org/drawingml/2006/main">
            <a:r>
              <a:t>container; installed PowerShell is distinct from the Windows host. The</a:t>
            </a:r>
          </a:p>
          <a:p xmlns:a="http://schemas.openxmlformats.org/drawingml/2006/main">
            <a:r>
              <a:t>Dockerfile is the version source. Reading the slide runs no command.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W11</a:t>
            </a:r>
          </a:p>
          <a:p xmlns:a="http://schemas.openxmlformats.org/drawingml/2006/main">
            <a:r>
              <a:t>Agent-chat examples: Codex $speckit-analyze; OpenCode /speckit.analyze;</a:t>
            </a:r>
          </a:p>
          <a:p xmlns:a="http://schemas.openxmlformats.org/drawingml/2006/main">
            <a:r>
              <a:t>Claude Code, Antigravity and Copilot may use /speckit-analyze through</a:t>
            </a:r>
          </a:p>
          <a:p xmlns:a="http://schemas.openxmlformats.org/drawingml/2006/main">
            <a:r>
              <a:t>their installed skills. These examples approve no agent. The following</a:t>
            </a:r>
          </a:p>
          <a:p xmlns:a="http://schemas.openxmlformats.org/drawingml/2006/main">
            <a:r>
              <a:t>prompts use Codex syntax. Adapt only the invocation for another</a:t>
            </a:r>
          </a:p>
          <a:p xmlns:a="http://schemas.openxmlformats.org/drawingml/2006/main">
            <a:r>
              <a:t>integration, preserving scope and safety boundaries. Check installed</a:t>
            </a:r>
          </a:p>
          <a:p xmlns:a="http://schemas.openxmlformats.org/drawingml/2006/main">
            <a:r>
              <a:t>integrations before a live demonstration.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W12</a:t>
            </a:r>
          </a:p>
          <a:p xmlns:a="http://schemas.openxmlformats.org/drawingml/2006/main">
            <a:r>
              <a:t>Location: container Bash in the initialized application project. Expect</a:t>
            </a:r>
          </a:p>
          <a:p xmlns:a="http://schemas.openxmlformats.org/drawingml/2006/main">
            <a:r>
              <a:t>installed presets and existing changes. Repository matrices provide</a:t>
            </a:r>
          </a:p>
          <a:p xmlns:a="http://schemas.openxmlformats.org/drawingml/2006/main">
            <a:r>
              <a:t>reviewed versions, priorities and archive locations. Do not switch</a:t>
            </a:r>
          </a:p>
          <a:p xmlns:a="http://schemas.openxmlformats.org/drawingml/2006/main">
            <a:r>
              <a:t>silently to latest. A new version may affect evidence and source</a:t>
            </a:r>
          </a:p>
          <a:p xmlns:a="http://schemas.openxmlformats.org/drawingml/2006/main">
            <a:r>
              <a:t>bindings. The instructor decides which profiles and installation</a:t>
            </a:r>
          </a:p>
          <a:p xmlns:a="http://schemas.openxmlformats.org/drawingml/2006/main">
            <a:r>
              <a:t>authority apply.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W13</a:t>
            </a:r>
          </a:p>
          <a:p xmlns:a="http://schemas.openxmlformats.org/drawingml/2006/main">
            <a:r>
              <a:t>These six areas form the conceptual foundation. The local standard</a:t>
            </a:r>
          </a:p>
          <a:p xmlns:a="http://schemas.openxmlformats.org/drawingml/2006/main">
            <a:r>
              <a:t>profile contains eight packages, adding Autonomous Run and Parallel</a:t>
            </a:r>
          </a:p>
          <a:p xmlns:a="http://schemas.openxmlformats.org/drawingml/2006/main">
            <a:r>
              <a:t>Autonomous Run. Installing them grants no autonomous authority. Prefer</a:t>
            </a:r>
          </a:p>
          <a:p xmlns:a="http://schemas.openxmlformats.org/drawingml/2006/main">
            <a:r>
              <a:t>existing approved profiles for the workshop. The local pilot matrix</a:t>
            </a:r>
          </a:p>
          <a:p xmlns:a="http://schemas.openxmlformats.org/drawingml/2006/main">
            <a:r>
              <a:t>contains fourteen packages, not a universal requirement for learner</a:t>
            </a:r>
          </a:p>
          <a:p xmlns:a="http://schemas.openxmlformats.org/drawingml/2006/main">
            <a:r>
              <a:t>projects.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W14</a:t>
            </a:r>
          </a:p>
          <a:p xmlns:a="http://schemas.openxmlformats.org/drawingml/2006/main">
            <a:r>
              <a:t>A secret is confidential access information. A supply chain includes</a:t>
            </a:r>
          </a:p>
          <a:p xmlns:a="http://schemas.openxmlformats.org/drawingml/2006/main">
            <a:r>
              <a:t>sources, packages and build steps. An architectural decision explains a</a:t>
            </a:r>
          </a:p>
          <a:p xmlns:a="http://schemas.openxmlformats.org/drawingml/2006/main">
            <a:r>
              <a:t>deliberate choice, alternatives and consequences. Example: mount the</a:t>
            </a:r>
          </a:p>
          <a:p xmlns:a="http://schemas.openxmlformats.org/drawingml/2006/main">
            <a:r>
              <a:t>project folder, not the entire host home. An SBOM lists components; it</a:t>
            </a:r>
          </a:p>
          <a:p xmlns:a="http://schemas.openxmlformats.org/drawingml/2006/main">
            <a:r>
              <a:t>does not prove vulnerability clearance or approval.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W15</a:t>
            </a:r>
          </a:p>
          <a:p xmlns:a="http://schemas.openxmlformats.org/drawingml/2006/main">
            <a:r>
              <a:t>iSAQB provides an architecture review baseline; beginners can start with</a:t>
            </a:r>
          </a:p>
          <a:p xmlns:a="http://schemas.openxmlformats.org/drawingml/2006/main">
            <a:r>
              <a:t>understandable components and decisions. A11Y abbreviates accessibility.</a:t>
            </a:r>
          </a:p>
          <a:p xmlns:a="http://schemas.openxmlformats.org/drawingml/2006/main">
            <a:r>
              <a:t>WCAG 2.2 AA is a target for applicable criteria, not an automatic</a:t>
            </a:r>
          </a:p>
          <a:p xmlns:a="http://schemas.openxmlformats.org/drawingml/2006/main">
            <a:r>
              <a:t>property of these slides. Human checks cover keyboard use, screen</a:t>
            </a:r>
          </a:p>
          <a:p xmlns:a="http://schemas.openxmlformats.org/drawingml/2006/main">
            <a:r>
              <a:t>readers, reading order and comprehension. CEFR B2 is the language</a:t>
            </a:r>
          </a:p>
          <a:p xmlns:a="http://schemas.openxmlformats.org/drawingml/2006/main">
            <a:r>
              <a:t>target.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W16</a:t>
            </a:r>
          </a:p>
          <a:p xmlns:a="http://schemas.openxmlformats.org/drawingml/2006/main">
            <a:r>
              <a:t>Parity means consistent meaning, not identical software on every</a:t>
            </a:r>
          </a:p>
          <a:p xmlns:a="http://schemas.openxmlformats.org/drawingml/2006/main">
            <a:r>
              <a:t>platform. Testing Bash and PowerShell on one host does not establish</a:t>
            </a:r>
          </a:p>
          <a:p xmlns:a="http://schemas.openxmlformats.org/drawingml/2006/main">
            <a:r>
              <a:t>native Windows acceptance. Missing checks stay Open with an owner, next</a:t>
            </a:r>
          </a:p>
          <a:p xmlns:a="http://schemas.openxmlformats.org/drawingml/2006/main">
            <a:r>
              <a:t>step and re-evaluation trigger. The container remains Linux even when</a:t>
            </a:r>
          </a:p>
          <a:p xmlns:a="http://schemas.openxmlformats.org/drawingml/2006/main">
            <a:r>
              <a:t>running PowerShell.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W17</a:t>
            </a:r>
          </a:p>
          <a:p xmlns:a="http://schemas.openxmlformats.org/drawingml/2006/main">
            <a:r>
              <a:t>Location: container Bash in the application project; /ade-dev-sandbox is</a:t>
            </a:r>
          </a:p>
          <a:p xmlns:a="http://schemas.openxmlformats.org/drawingml/2006/main">
            <a:r>
              <a:t>the existing repository mount. Expect a preview, not installation.</a:t>
            </a:r>
          </a:p>
          <a:p xmlns:a="http://schemas.openxmlformats.org/drawingml/2006/main">
            <a:r>
              <a:t>Preserve local modifications and versions. Omitting --dry-run writes</a:t>
            </a:r>
          </a:p>
          <a:p xmlns:a="http://schemas.openxmlformats.org/drawingml/2006/main">
            <a:r>
              <a:t>changes and needs a separate request. Do not mix this script's options</a:t>
            </a:r>
          </a:p>
          <a:p xmlns:a="http://schemas.openxmlformats.org/drawingml/2006/main">
            <a:r>
              <a:t>with another sandbox's tools. Ask your instructor if the mount is</a:t>
            </a:r>
          </a:p>
          <a:p xmlns:a="http://schemas.openxmlformats.org/drawingml/2006/main">
            <a:r>
              <a:t>missing; do not download a replacement installer.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W18</a:t>
            </a:r>
          </a:p>
          <a:p xmlns:a="http://schemas.openxmlformats.org/drawingml/2006/main">
            <a:r>
              <a:t>Matrices live under scripts/config/. The fourteen-package profile is</a:t>
            </a:r>
          </a:p>
          <a:p xmlns:a="http://schemas.openxmlformats.org/drawingml/2006/main">
            <a:r>
              <a:t>explicitly an optional statistics pilot. Do not pin models in feature</a:t>
            </a:r>
          </a:p>
          <a:p xmlns:a="http://schemas.openxmlformats.org/drawingml/2006/main">
            <a:r>
              <a:t>specifications or infer provider/platform approval from preset</a:t>
            </a:r>
          </a:p>
          <a:p xmlns:a="http://schemas.openxmlformats.org/drawingml/2006/main">
            <a:r>
              <a:t>installation. Review purpose, prerequisites and impact with the</a:t>
            </a:r>
          </a:p>
          <a:p xmlns:a="http://schemas.openxmlformats.org/drawingml/2006/main">
            <a:r>
              <a:t>instructor. Assurance package and evidence-schema versions are different</a:t>
            </a:r>
          </a:p>
          <a:p xmlns:a="http://schemas.openxmlformats.org/drawingml/2006/main">
            <a:r>
              <a:t>concepts.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W19</a:t>
            </a:r>
          </a:p>
          <a:p xmlns:a="http://schemas.openxmlformats.org/drawingml/2006/main">
            <a:r>
              <a:t>Location: container Bash in the project. --check-only inspects the</a:t>
            </a:r>
          </a:p>
          <a:p xmlns:a="http://schemas.openxmlformats.org/drawingml/2006/main">
            <a:r>
              <a:t>selected matrix without writing. This example uses the eight-package</a:t>
            </a:r>
          </a:p>
          <a:p xmlns:a="http://schemas.openxmlformats.org/drawingml/2006/main">
            <a:r>
              <a:t>standard profile; supply --preset-config for another approved profile.</a:t>
            </a:r>
          </a:p>
          <a:p xmlns:a="http://schemas.openxmlformats.org/drawingml/2006/main">
            <a:r>
              <a:t>Do not hide failures with --force. Validation, technical fulfillment and</a:t>
            </a:r>
          </a:p>
          <a:p xmlns:a="http://schemas.openxmlformats.org/drawingml/2006/main">
            <a:r>
              <a:t>human approval are separate states.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W20</a:t>
            </a:r>
          </a:p>
          <a:p xmlns:a="http://schemas.openxmlformats.org/drawingml/2006/main">
            <a:r>
              <a:t>An intake is a requirements document preceding a feature run. A receipt</a:t>
            </a:r>
          </a:p>
          <a:p xmlns:a="http://schemas.openxmlformats.org/drawingml/2006/main">
            <a:r>
              <a:t>records provenance and source bindings; a hash is a content checksum.</a:t>
            </a:r>
          </a:p>
          <a:p xmlns:a="http://schemas.openxmlformats.org/drawingml/2006/main">
            <a:r>
              <a:t>Changing bound sources may require an update and review. Preserve intake</a:t>
            </a:r>
          </a:p>
          <a:p xmlns:a="http://schemas.openxmlformats.org/drawingml/2006/main">
            <a:r>
              <a:t>identities and archive predecessors; do not replace sources merely to</a:t>
            </a:r>
          </a:p>
          <a:p xmlns:a="http://schemas.openxmlformats.org/drawingml/2006/main">
            <a:r>
              <a:t>satisfy a validator. Use a separately authorized workshop example, never</a:t>
            </a:r>
          </a:p>
          <a:p xmlns:a="http://schemas.openxmlformats.org/drawingml/2006/main">
            <a:r>
              <a:t>execute active sandbox intakes.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W21</a:t>
            </a:r>
          </a:p>
          <a:p xmlns:a="http://schemas.openxmlformats.org/drawingml/2006/main">
            <a:r>
              <a:t>An intake series orders requests through dependencies. Its</a:t>
            </a:r>
          </a:p>
          <a:p xmlns:a="http://schemas.openxmlformats.org/drawingml/2006/main">
            <a:r>
              <a:t>machine-readable manifest governs; text and diagrams explain the same</a:t>
            </a:r>
          </a:p>
          <a:p xmlns:a="http://schemas.openxmlformats.org/drawingml/2006/main">
            <a:r>
              <a:t>state. Independent review checks meaning, not just hashes. Successful</a:t>
            </a:r>
          </a:p>
          <a:p xmlns:a="http://schemas.openxmlformats.org/drawingml/2006/main">
            <a:r>
              <a:t>requirements review grants no technical, legal, privacy, provider or</a:t>
            </a:r>
          </a:p>
          <a:p xmlns:a="http://schemas.openxmlformats.org/drawingml/2006/main">
            <a:r>
              <a:t>release approval. This workshop does not alter the active sandbox</a:t>
            </a:r>
          </a:p>
          <a:p xmlns:a="http://schemas.openxmlformats.org/drawingml/2006/main">
            <a:r>
              <a:t>series.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W22</a:t>
            </a:r>
          </a:p>
          <a:p xmlns:a="http://schemas.openxmlformats.org/drawingml/2006/main">
            <a:r>
              <a:t>Autonomous Run governs an explicitly requested run; Parallel Autonomous</a:t>
            </a:r>
          </a:p>
          <a:p xmlns:a="http://schemas.openxmlformats.org/drawingml/2006/main">
            <a:r>
              <a:t>Run coordinates separated runs. Neither grants blanket authority.</a:t>
            </a:r>
          </a:p>
          <a:p xmlns:a="http://schemas.openxmlformats.org/drawingml/2006/main">
            <a:r>
              <a:t>Secrets, formal approvals and platform rules remain human</a:t>
            </a:r>
          </a:p>
          <a:p xmlns:a="http://schemas.openxmlformats.org/drawingml/2006/main">
            <a:r>
              <a:t>responsibilities. Report stopping conditions clearly. Model names do not</a:t>
            </a:r>
          </a:p>
          <a:p xmlns:a="http://schemas.openxmlformats.org/drawingml/2006/main">
            <a:r>
              <a:t>belong in reproducible spec.md, plan.md or tasks.md artifacts.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W23</a:t>
            </a:r>
          </a:p>
          <a:p xmlns:a="http://schemas.openxmlformats.org/drawingml/2006/main">
            <a:r>
              <a:t>A follow-up is the next planned action; a trigger is a reason to</a:t>
            </a:r>
          </a:p>
          <a:p xmlns:a="http://schemas.openxmlformats.org/drawingml/2006/main">
            <a:r>
              <a:t>reassess. Successful PDF creation does not prove PDF accessibility; an</a:t>
            </a:r>
          </a:p>
          <a:p xmlns:a="http://schemas.openxmlformats.org/drawingml/2006/main">
            <a:r>
              <a:t>SBOM does not prove vulnerability clearance. Project statistics describe</a:t>
            </a:r>
          </a:p>
          <a:p xmlns:a="http://schemas.openxmlformats.org/drawingml/2006/main">
            <a:r>
              <a:t>recorded delivery activity, not working hours or personal productivity.</a:t>
            </a:r>
          </a:p>
          <a:p xmlns:a="http://schemas.openxmlformats.org/drawingml/2006/main">
            <a:r>
              <a:t>Do not install the optional pilot profile without a project decision.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W24</a:t>
            </a:r>
          </a:p>
          <a:p xmlns:a="http://schemas.openxmlformats.org/drawingml/2006/main">
            <a:r>
              <a:t>Location: container Bash in the application project. Git diff omits</a:t>
            </a:r>
          </a:p>
          <a:p xmlns:a="http://schemas.openxmlformats.org/drawingml/2006/main">
            <a:r>
              <a:t>untracked files, so inspect status and new files too. Clarify backup and</a:t>
            </a:r>
          </a:p>
          <a:p xmlns:a="http://schemas.openxmlformats.org/drawingml/2006/main">
            <a:r>
              <a:t>impact before updates. The embedded Home Baseline is read-only, not a</a:t>
            </a:r>
          </a:p>
          <a:p xmlns:a="http://schemas.openxmlformats.org/drawingml/2006/main">
            <a:r>
              <a:t>workshop edit target. No home sync runs automatically. Installers and</a:t>
            </a:r>
          </a:p>
          <a:p xmlns:a="http://schemas.openxmlformats.org/drawingml/2006/main">
            <a:r>
              <a:t>host permissions differ outside this sandbox; there is no silent</a:t>
            </a:r>
          </a:p>
          <a:p xmlns:a="http://schemas.openxmlformats.org/drawingml/2006/main">
            <a:r>
              <a:t>fallback.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W25</a:t>
            </a:r>
          </a:p>
          <a:p xmlns:a="http://schemas.openxmlformats.org/drawingml/2006/main">
            <a:r>
              <a:t>Possible request: a console program displays three predefined example</a:t>
            </a:r>
          </a:p>
          <a:p xmlns:a="http://schemas.openxmlformats.org/drawingml/2006/main">
            <a:r>
              <a:t>values with German and English labels. Describe failure cases and</a:t>
            </a:r>
          </a:p>
          <a:p xmlns:a="http://schemas.openxmlformats.org/drawingml/2006/main">
            <a:r>
              <a:t>success criteria before implementation. C#/.NET, Java, Go, Rust, Python</a:t>
            </a:r>
          </a:p>
          <a:p xmlns:a="http://schemas.openxmlformats.org/drawingml/2006/main">
            <a:r>
              <a:t>and Swift are alternative toolchains, not simultaneous requirements.</a:t>
            </a:r>
          </a:p>
          <a:p xmlns:a="http://schemas.openxmlformats.org/drawingml/2006/main">
            <a:r>
              <a:t>Python and PowerShell provide scripting foundations. This example needs</a:t>
            </a:r>
          </a:p>
          <a:p xmlns:a="http://schemas.openxmlformats.org/drawingml/2006/main">
            <a:r>
              <a:t>no real API keys or provider calls.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W26</a:t>
            </a:r>
          </a:p>
          <a:p xmlns:a="http://schemas.openxmlformats.org/drawingml/2006/main">
            <a:r>
              <a:t>Location: agent chat in the separately authorized application project.</a:t>
            </a:r>
          </a:p>
          <a:p xmlns:a="http://schemas.openxmlformats.org/drawingml/2006/main">
            <a:r>
              <a:t>MUST is mandatory, SHOULD a recommendation with reasoned exceptions, MAY</a:t>
            </a:r>
          </a:p>
          <a:p xmlns:a="http://schemas.openxmlformats.org/drawingml/2006/main">
            <a:r>
              <a:t>a permitted option. Constitution changes may affect dependent artifacts;</a:t>
            </a:r>
          </a:p>
          <a:p xmlns:a="http://schemas.openxmlformats.org/drawingml/2006/main">
            <a:r>
              <a:t>make impacts visible. This example does not change the sandbox</a:t>
            </a:r>
          </a:p>
          <a:p xmlns:a="http://schemas.openxmlformats.org/drawingml/2006/main">
            <a:r>
              <a:t>repository's constitution. Read and decide on each concrete change.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W27</a:t>
            </a:r>
          </a:p>
          <a:p xmlns:a="http://schemas.openxmlformats.org/drawingml/2006/main">
            <a:r>
              <a:t>A functional requirement describes desired behavior; an acceptance</a:t>
            </a:r>
          </a:p>
          <a:p xmlns:a="http://schemas.openxmlformats.org/drawingml/2006/main">
            <a:r>
              <a:t>criterion makes fulfillment checkable. A user story explains a person's</a:t>
            </a:r>
          </a:p>
          <a:p xmlns:a="http://schemas.openxmlformats.org/drawingml/2006/main">
            <a:r>
              <a:t>need. Introduce these terms using a small example. Name an existing</a:t>
            </a:r>
          </a:p>
          <a:p xmlns:a="http://schemas.openxmlformats.org/drawingml/2006/main">
            <a:r>
              <a:t>requirements document as binding input rather than inventing replacement</a:t>
            </a:r>
          </a:p>
          <a:p xmlns:a="http://schemas.openxmlformats.org/drawingml/2006/main">
            <a:r>
              <a:t>requirements. Active sandbox specifications remain untouched.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W28</a:t>
            </a:r>
          </a:p>
          <a:p xmlns:a="http://schemas.openxmlformats.org/drawingml/2006/main">
            <a:r>
              <a:t>Material decisions include which data may be shown and what happens for</a:t>
            </a:r>
          </a:p>
          <a:p xmlns:a="http://schemas.openxmlformats.org/drawingml/2006/main">
            <a:r>
              <a:t>an unknown language. Do not ask merely about preferred wording.</a:t>
            </a:r>
          </a:p>
          <a:p xmlns:a="http://schemas.openxmlformats.org/drawingml/2006/main">
            <a:r>
              <a:t>Technical details may belong in planning. Repeat only when new material</a:t>
            </a:r>
          </a:p>
          <a:p xmlns:a="http://schemas.openxmlformats.org/drawingml/2006/main">
            <a:r>
              <a:t>questions arise, not until an arbitrary green claim appears.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W29</a:t>
            </a:r>
          </a:p>
          <a:p xmlns:a="http://schemas.openxmlformats.org/drawingml/2006/main">
            <a:r>
              <a:t>Deferred means deliberately postponed, not completed. Example: plan</a:t>
            </a:r>
          </a:p>
          <a:p xmlns:a="http://schemas.openxmlformats.org/drawingml/2006/main">
            <a:r>
              <a:t>internal file layout later, but decide permitted data before planning.</a:t>
            </a:r>
          </a:p>
          <a:p xmlns:a="http://schemas.openxmlformats.org/drawingml/2006/main">
            <a:r>
              <a:t>Open items need owner, follow-up and re-evaluation trigger. A</a:t>
            </a:r>
          </a:p>
          <a:p xmlns:a="http://schemas.openxmlformats.org/drawingml/2006/main">
            <a:r>
              <a:t>non-specialist must understand which actions remain prohibited until a</a:t>
            </a:r>
          </a:p>
          <a:p xmlns:a="http://schemas.openxmlformats.org/drawingml/2006/main">
            <a:r>
              <a:t>decision.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W30</a:t>
            </a:r>
          </a:p>
          <a:p xmlns:a="http://schemas.openxmlformats.org/drawingml/2006/main">
            <a:r>
              <a:t>A plan describes how: components, interfaces, data flow, failure cases</a:t>
            </a:r>
          </a:p>
          <a:p xmlns:a="http://schemas.openxmlformats.org/drawingml/2006/main">
            <a:r>
              <a:t>and evidence. Invent no database or API if the example needs neither.</a:t>
            </a:r>
          </a:p>
          <a:p xmlns:a="http://schemas.openxmlformats.org/drawingml/2006/main">
            <a:r>
              <a:t>N/A means not applicable and needs a reason. Planned tests have not</a:t>
            </a:r>
          </a:p>
          <a:p xmlns:a="http://schemas.openxmlformats.org/drawingml/2006/main">
            <a:r>
              <a:t>passed yet. Assess the applicability of all six foundational governance</a:t>
            </a:r>
          </a:p>
          <a:p xmlns:a="http://schemas.openxmlformats.org/drawingml/2006/main">
            <a:r>
              <a:t>areas.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W31</a:t>
            </a:r>
          </a:p>
          <a:p xmlns:a="http://schemas.openxmlformats.org/drawingml/2006/main">
            <a:r>
              <a:t>Example: is the language for an unknown selection specified</a:t>
            </a:r>
          </a:p>
          <a:p xmlns:a="http://schemas.openxmlformats.org/drawingml/2006/main">
            <a:r>
              <a:t>unambiguously? Review instructions name the text and sufficient quality</a:t>
            </a:r>
          </a:p>
          <a:p xmlns:a="http://schemas.openxmlformats.org/drawingml/2006/main">
            <a:r>
              <a:t>criteria. Do not ask whether language switching works; that belongs to a</a:t>
            </a:r>
          </a:p>
          <a:p xmlns:a="http://schemas.openxmlformats.org/drawingml/2006/main">
            <a:r>
              <a:t>later functional test. Name gaps and obtain explicit correction</a:t>
            </a:r>
          </a:p>
          <a:p xmlns:a="http://schemas.openxmlformats.org/drawingml/2006/main">
            <a:r>
              <a:t>authority instead of hiding automatic remediation.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W32</a:t>
            </a:r>
          </a:p>
          <a:p xmlns:a="http://schemas.openxmlformats.org/drawingml/2006/main">
            <a:r>
              <a:t>An MVP is the smallest useful, independently checkable increment.</a:t>
            </a:r>
          </a:p>
          <a:p xmlns:a="http://schemas.openxmlformats.org/drawingml/2006/main">
            <a:r>
              <a:t>User-story tasks use agreed story IDs. [P] does not authorize spawning</a:t>
            </a:r>
          </a:p>
          <a:p xmlns:a="http://schemas.openxmlformats.org/drawingml/2006/main">
            <a:r>
              <a:t>agents without permission. Plan TDD tasks only where product logic and a</a:t>
            </a:r>
          </a:p>
          <a:p xmlns:a="http://schemas.openxmlformats.org/drawingml/2006/main">
            <a:r>
              <a:t>real test route exist; do not inflate documentation work with invented</a:t>
            </a:r>
          </a:p>
          <a:p xmlns:a="http://schemas.openxmlformats.org/drawingml/2006/main">
            <a:r>
              <a:t>runtime tests.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W33</a:t>
            </a:r>
          </a:p>
          <a:p xmlns:a="http://schemas.openxmlformats.org/drawingml/2006/main">
            <a:r>
              <a:t>Traceability maps requirements to tasks and later evidence. Analysis</a:t>
            </a:r>
          </a:p>
          <a:p xmlns:a="http://schemas.openxmlformats.org/drawingml/2006/main">
            <a:r>
              <a:t>must invent no approval or silently drop findings. Current analysis is</a:t>
            </a:r>
          </a:p>
          <a:p xmlns:a="http://schemas.openxmlformats.org/drawingml/2006/main">
            <a:r>
              <a:t>not platform acceptance. Reuse review goals for a new revision and claim</a:t>
            </a:r>
          </a:p>
          <a:p xmlns:a="http://schemas.openxmlformats.org/drawingml/2006/main">
            <a:r>
              <a:t>historical improvement only with an actual previous analysis.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W34</a:t>
            </a:r>
          </a:p>
          <a:p xmlns:a="http://schemas.openxmlformats.org/drawingml/2006/main">
            <a:r>
              <a:t>There is no fixed repeat count and no instruction to review</a:t>
            </a:r>
          </a:p>
          <a:p xmlns:a="http://schemas.openxmlformats.org/drawingml/2006/main">
            <a:r>
              <a:t>indefinitely. A focused pass, concrete fix and targeted recheck suffice</a:t>
            </a:r>
          </a:p>
          <a:p xmlns:a="http://schemas.openxmlformats.org/drawingml/2006/main">
            <a:r>
              <a:t>when no relevant blockers remain. Do not bypass constitution MUST</a:t>
            </a:r>
          </a:p>
          <a:p xmlns:a="http://schemas.openxmlformats.org/drawingml/2006/main">
            <a:r>
              <a:t>violations or confirmed severe findings by changing status labels. Do</a:t>
            </a:r>
          </a:p>
          <a:p xmlns:a="http://schemas.openxmlformats.org/drawingml/2006/main">
            <a:r>
              <a:t>not replace human risk decisions.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W35</a:t>
            </a:r>
          </a:p>
          <a:p xmlns:a="http://schemas.openxmlformats.org/drawingml/2006/main">
            <a:r>
              <a:t>Adapt the example to the actual project. Project tests and rebuilding</a:t>
            </a:r>
          </a:p>
          <a:p xmlns:a="http://schemas.openxmlformats.org/drawingml/2006/main">
            <a:r>
              <a:t>the sandbox image are different actions. A fresh agent session may help</a:t>
            </a:r>
          </a:p>
          <a:p xmlns:a="http://schemas.openxmlformats.org/drawingml/2006/main">
            <a:r>
              <a:t>but must reread repository rules, current artifacts and recorded</a:t>
            </a:r>
          </a:p>
          <a:p xmlns:a="http://schemas.openxmlformats.org/drawingml/2006/main">
            <a:r>
              <a:t>decisions. Do not demand an empty context that discards safeguards.</a:t>
            </a:r>
          </a:p>
          <a:p xmlns:a="http://schemas.openxmlformats.org/drawingml/2006/main">
            <a:r>
              <a:t>Define progress and stop rules for long runs; do not leave sensitive</a:t>
            </a:r>
          </a:p>
          <a:p xmlns:a="http://schemas.openxmlformats.org/drawingml/2006/main">
            <a:r>
              <a:t>work unattended.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W36</a:t>
            </a:r>
          </a:p>
          <a:p xmlns:a="http://schemas.openxmlformats.org/drawingml/2006/main">
            <a:r>
              <a:t>Location: container shell in the application project. Expect a</a:t>
            </a:r>
          </a:p>
          <a:p xmlns:a="http://schemas.openxmlformats.org/drawingml/2006/main">
            <a:r>
              <a:t>reviewable diff and visible new files. A smoke test is a small</a:t>
            </a:r>
          </a:p>
          <a:p xmlns:a="http://schemas.openxmlformats.org/drawingml/2006/main">
            <a:r>
              <a:t>functional check, not full security or accessibility acceptance.</a:t>
            </a:r>
          </a:p>
          <a:p xmlns:a="http://schemas.openxmlformats.org/drawingml/2006/main">
            <a:r>
              <a:t>Persistent agent state may contain credentials; never copy it into the</a:t>
            </a:r>
          </a:p>
          <a:p xmlns:a="http://schemas.openxmlformats.org/drawingml/2006/main">
            <a:r>
              <a:t>repository. Follow the defined process for SBOMs and audit evidence.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W37</a:t>
            </a:r>
          </a:p>
          <a:p xmlns:a="http://schemas.openxmlformats.org/drawingml/2006/main">
            <a:r>
              <a:t>Prerequisite: back in the host terminal at the sandbox checkout. Expect</a:t>
            </a:r>
          </a:p>
          <a:p xmlns:a="http://schemas.openxmlformats.org/drawingml/2006/main">
            <a:r>
              <a:t>successful metadata export before compose down, retaining volumes. Stop</a:t>
            </a:r>
          </a:p>
          <a:p xmlns:a="http://schemas.openxmlformats.org/drawingml/2006/main">
            <a:r>
              <a:t>on export failure instead of bypassing the wrapper. Never add -v or</a:t>
            </a:r>
          </a:p>
          <a:p xmlns:a="http://schemas.openxmlformats.org/drawingml/2006/main">
            <a:r>
              <a:t>-Volumes to routine shutdown; these can delete agent data and sign-in</a:t>
            </a:r>
          </a:p>
          <a:p xmlns:a="http://schemas.openxmlformats.org/drawingml/2006/main">
            <a:r>
              <a:t>state. OpenCode 2 file metadata is not full session coverage. Stopping</a:t>
            </a:r>
          </a:p>
          <a:p xmlns:a="http://schemas.openxmlformats.org/drawingml/2006/main">
            <a:r>
              <a:t>the Podman machine is a separate host action. See daily workflow.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W38</a:t>
            </a:r>
          </a:p>
          <a:p xmlns:a="http://schemas.openxmlformats.org/drawingml/2006/main">
            <a:r>
              <a:t>Additional terms: MSL names the six language paths here, not guaranteed</a:t>
            </a:r>
          </a:p>
          <a:p xmlns:a="http://schemas.openxmlformats.org/drawingml/2006/main">
            <a:r>
              <a:t>code safety. STRIDE supports threat modeling. CIA means confidentiality,</a:t>
            </a:r>
          </a:p>
          <a:p xmlns:a="http://schemas.openxmlformats.org/drawingml/2006/main">
            <a:r>
              <a:t>integrity and availability. SBOM lists components; VEX records reasoned</a:t>
            </a:r>
          </a:p>
          <a:p xmlns:a="http://schemas.openxmlformats.org/drawingml/2006/main">
            <a:r>
              <a:t>vulnerability statements; SLSA concerns supply-chain evidence.</a:t>
            </a:r>
          </a:p>
          <a:p xmlns:a="http://schemas.openxmlformats.org/drawingml/2006/main">
            <a:r>
              <a:t>Applicability depends on the project. See the learner glossary for</a:t>
            </a:r>
          </a:p>
          <a:p xmlns:a="http://schemas.openxmlformats.org/drawingml/2006/main">
            <a:r>
              <a:t>details.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W39</a:t>
            </a:r>
          </a:p>
          <a:p xmlns:a="http://schemas.openxmlformats.org/drawingml/2006/main">
            <a:r>
              <a:t>Materials: the learner index, learning paths, installation, agent/Spec</a:t>
            </a:r>
          </a:p>
          <a:p xmlns:a="http://schemas.openxmlformats.org/drawingml/2006/main">
            <a:r>
              <a:t>Kit and daily workflow guides; current safety boundaries are in the</a:t>
            </a:r>
          </a:p>
          <a:p xmlns:a="http://schemas.openxmlformats.org/drawingml/2006/main">
            <a:r>
              <a:t>dated follow-up register. The profile matrix in this Markdown source and</a:t>
            </a:r>
          </a:p>
          <a:p xmlns:a="http://schemas.openxmlformats.org/drawingml/2006/main">
            <a:r>
              <a:t>the speaker notes comes from existing local configuration. It records a</a:t>
            </a:r>
          </a:p>
          <a:p xmlns:a="http://schemas.openxmlformats.org/drawingml/2006/main">
            <a:r>
              <a:t>revision, not an instruction to install every package. No institutional</a:t>
            </a:r>
          </a:p>
          <a:p xmlns:a="http://schemas.openxmlformats.org/drawingml/2006/main">
            <a:r>
              <a:t>access or external presentation template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pilot revision, not installation authority: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Preset                                    Version   Priority</a:t>
            </a:r>
          </a:p>
          <a:p xmlns:a="http://schemas.openxmlformats.org/drawingml/2006/main">
            <a:r>
              <a:t>  ----------------------------------------- --------- ----------</a:t>
            </a:r>
          </a:p>
          <a:p xmlns:a="http://schemas.openxmlformats.org/drawingml/2006/main">
            <a:r>
              <a:t>  security-governance                       v0.7.4    10</a:t>
            </a:r>
          </a:p>
          <a:p xmlns:a="http://schemas.openxmlformats.org/drawingml/2006/main">
            <a:r>
              <a:t>  secure-development-assurance-governance   v0.1.8    15</a:t>
            </a:r>
          </a:p>
          <a:p xmlns:a="http://schemas.openxmlformats.org/drawingml/2006/main">
            <a:r>
              <a:t>  architecture-governance                   v0.6.5    20</a:t>
            </a:r>
          </a:p>
          <a:p xmlns:a="http://schemas.openxmlformats.org/drawingml/2006/main">
            <a:r>
              <a:t>  isaqb-architecture-governance             v0.2.5    30</a:t>
            </a:r>
          </a:p>
          <a:p xmlns:a="http://schemas.openxmlformats.org/drawingml/2006/main">
            <a:r>
              <a:t>  a11y-governance                           v0.4.6    40</a:t>
            </a:r>
          </a:p>
          <a:p xmlns:a="http://schemas.openxmlformats.org/drawingml/2006/main">
            <a:r>
              <a:t>  cross-platform-governance                 v0.2.5    50</a:t>
            </a:r>
          </a:p>
          <a:p xmlns:a="http://schemas.openxmlformats.org/drawingml/2006/main">
            <a:r>
              <a:t>  agent-parity-governance                   v0.4.5    60</a:t>
            </a:r>
          </a:p>
          <a:p xmlns:a="http://schemas.openxmlformats.org/drawingml/2006/main">
            <a:r>
              <a:t>  model-routing-governance                  v0.1.7    61</a:t>
            </a:r>
          </a:p>
          <a:p xmlns:a="http://schemas.openxmlformats.org/drawingml/2006/main">
            <a:r>
              <a:t>  intake-authoring-governance               v0.3.10   64</a:t>
            </a:r>
          </a:p>
          <a:p xmlns:a="http://schemas.openxmlformats.org/drawingml/2006/main">
            <a:r>
              <a:t>  intake-review-governance                  v0.2.7    65</a:t>
            </a:r>
          </a:p>
          <a:p xmlns:a="http://schemas.openxmlformats.org/drawingml/2006/main">
            <a:r>
              <a:t>  intake-sequencing-governance              v0.2.11   66</a:t>
            </a:r>
          </a:p>
          <a:p xmlns:a="http://schemas.openxmlformats.org/drawingml/2006/main">
            <a:r>
              <a:t>  autonomous-run-governance                 v0.4.7    70</a:t>
            </a:r>
          </a:p>
          <a:p xmlns:a="http://schemas.openxmlformats.org/drawingml/2006/main">
            <a:r>
              <a:t>  parallel-autonomous-run-governance        v0.2.9    80</a:t>
            </a:r>
          </a:p>
          <a:p xmlns:a="http://schemas.openxmlformats.org/drawingml/2006/main">
            <a:r>
              <a:t>  project-statistics-governance             v0.1.3   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https://github.com/hindermath/absdd-image-sandbox</a:t>
            </a:r>
          </a:p>
          <a:p xmlns:a="http://schemas.openxmlformats.org/drawingml/2006/main">
            <a:r>
              <a:t>https://github.com/github/spec-kit/tree/v1.2.3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2108250494c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720f635c745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eee3161b14b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ac9f9392d4d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526e54a024c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db98f498940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E29A55-5770-4C2A-9AF3-23F30809F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932AFA-F15A-4BD5-AEF1-575C0D3DC6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0A5B30-469F-4CAC-BEC1-AD414D67B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81025E-393F-4184-B86C-C5AB7CB2C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A7895D-101E-450C-9769-CFD4FCBDDA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0D0444-1156-49E1-8E47-909C507CE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603387-F6C2-401E-8C57-E7357B8138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A3FA02-9A3A-467E-BFC4-3BC75C1720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124741-8B58-4346-A59E-56CDFADD1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1B15E7-F80C-4FCF-9A1E-DC248116E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1637be180c44dd" /><Relationship Type="http://schemas.openxmlformats.org/officeDocument/2006/relationships/slideLayout" Target="/ppt/slideLayouts/slideLayout1.xml" Id="Rd8b2bd7adbd7434e" /><Relationship Type="http://schemas.openxmlformats.org/officeDocument/2006/relationships/slideLayout" Target="/ppt/slideLayouts/slideLayout2.xml" Id="R23a4fd2310494162" /><Relationship Type="http://schemas.openxmlformats.org/officeDocument/2006/relationships/slideLayout" Target="/ppt/slideLayouts/slideLayout3.xml" Id="Rf4183883569647a3" /><Relationship Type="http://schemas.openxmlformats.org/officeDocument/2006/relationships/slideLayout" Target="/ppt/slideLayouts/slideLayout4.xml" Id="R3b0d291a60114894" /><Relationship Type="http://schemas.openxmlformats.org/officeDocument/2006/relationships/slideLayout" Target="/ppt/slideLayouts/slideLayout5.xml" Id="R7384e74362be42f3" /><Relationship Type="http://schemas.openxmlformats.org/officeDocument/2006/relationships/slideLayout" Target="/ppt/slideLayouts/slideLayout6.xml" Id="Rc31768539fd144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2bd7adbd7434e"/>
    <p:sldLayoutId xmlns:r="http://schemas.openxmlformats.org/officeDocument/2006/relationships" id="2147483650" r:id="R23a4fd2310494162"/>
    <p:sldLayoutId xmlns:r="http://schemas.openxmlformats.org/officeDocument/2006/relationships" id="2147483651" r:id="Rf4183883569647a3"/>
    <p:sldLayoutId xmlns:r="http://schemas.openxmlformats.org/officeDocument/2006/relationships" id="2147483652" r:id="R3b0d291a60114894"/>
    <p:sldLayoutId xmlns:r="http://schemas.openxmlformats.org/officeDocument/2006/relationships" id="2147483653" r:id="R7384e74362be42f3"/>
    <p:sldLayoutId xmlns:r="http://schemas.openxmlformats.org/officeDocument/2006/relationships" id="2147483654" r:id="Rc31768539fd1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b0bb16dd24bbd" /><Relationship Type="http://schemas.openxmlformats.org/officeDocument/2006/relationships/notesSlide" Target="/ppt/notesSlides/notesSlide1.xml" Id="Reff21af0772742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5e22f46104cfb" /><Relationship Type="http://schemas.openxmlformats.org/officeDocument/2006/relationships/notesSlide" Target="/ppt/notesSlides/notesSlide2.xml" Id="R00de700e8b17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4fe67b6bf4963" /><Relationship Type="http://schemas.openxmlformats.org/officeDocument/2006/relationships/notesSlide" Target="/ppt/notesSlides/notesSlide3.xml" Id="R6be465fddef843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1a429f6fe442a" /><Relationship Type="http://schemas.openxmlformats.org/officeDocument/2006/relationships/notesSlide" Target="/ppt/notesSlides/notesSlide4.xml" Id="Re673bcb88b78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84b16ddcc45f3" /><Relationship Type="http://schemas.openxmlformats.org/officeDocument/2006/relationships/notesSlide" Target="/ppt/notesSlides/notesSlide5.xml" Id="Rf51729276bb647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ff82284bc4ad8" /><Relationship Type="http://schemas.openxmlformats.org/officeDocument/2006/relationships/notesSlide" Target="/ppt/notesSlides/notesSlide6.xml" Id="R1a1f92eeb98f40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98cba959b4e8d" /><Relationship Type="http://schemas.openxmlformats.org/officeDocument/2006/relationships/notesSlide" Target="/ppt/notesSlides/notesSlide7.xml" Id="R7105ecd35f554f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f1565967f4a8d" /><Relationship Type="http://schemas.openxmlformats.org/officeDocument/2006/relationships/notesSlide" Target="/ppt/notesSlides/notesSlide8.xml" Id="Rc58f2dd8277544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ae67f1bfa4c2c" /><Relationship Type="http://schemas.openxmlformats.org/officeDocument/2006/relationships/notesSlide" Target="/ppt/notesSlides/notesSlide9.xml" Id="R8d02fd7e4e764e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b9aaccda974530" /><Relationship Type="http://schemas.openxmlformats.org/officeDocument/2006/relationships/notesSlide" Target="/ppt/notesSlides/notesSlide10.xml" Id="Rfde9d1afa9b34f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6b7cf2ee24b59" /><Relationship Type="http://schemas.openxmlformats.org/officeDocument/2006/relationships/notesSlide" Target="/ppt/notesSlides/notesSlide11.xml" Id="Rc93e4a8fcadb41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9cc28b3654d5b" /><Relationship Type="http://schemas.openxmlformats.org/officeDocument/2006/relationships/notesSlide" Target="/ppt/notesSlides/notesSlide12.xml" Id="R5ac17e76948f4e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a8822f7cb4932" /><Relationship Type="http://schemas.openxmlformats.org/officeDocument/2006/relationships/notesSlide" Target="/ppt/notesSlides/notesSlide13.xml" Id="R3a5fdca753ce47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b6c71dac342b6" /><Relationship Type="http://schemas.openxmlformats.org/officeDocument/2006/relationships/notesSlide" Target="/ppt/notesSlides/notesSlide14.xml" Id="R785125c3354448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0b4c96f744d54" /><Relationship Type="http://schemas.openxmlformats.org/officeDocument/2006/relationships/notesSlide" Target="/ppt/notesSlides/notesSlide15.xml" Id="R0d691700306746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67a46dce14a1a" /><Relationship Type="http://schemas.openxmlformats.org/officeDocument/2006/relationships/notesSlide" Target="/ppt/notesSlides/notesSlide16.xml" Id="R4b91ce7f2b6147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7c97f0a3e412c" /><Relationship Type="http://schemas.openxmlformats.org/officeDocument/2006/relationships/notesSlide" Target="/ppt/notesSlides/notesSlide17.xml" Id="R06b1095e5cd746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69da3b61e43f7" /><Relationship Type="http://schemas.openxmlformats.org/officeDocument/2006/relationships/notesSlide" Target="/ppt/notesSlides/notesSlide18.xml" Id="Rc4fc5a53346a4b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ca46727bc43ce" /><Relationship Type="http://schemas.openxmlformats.org/officeDocument/2006/relationships/notesSlide" Target="/ppt/notesSlides/notesSlide19.xml" Id="Re4eb62bb155445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abf086797461f" /><Relationship Type="http://schemas.openxmlformats.org/officeDocument/2006/relationships/notesSlide" Target="/ppt/notesSlides/notesSlide20.xml" Id="R4d6cea90cbda4f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3671604fb4ab2" /><Relationship Type="http://schemas.openxmlformats.org/officeDocument/2006/relationships/notesSlide" Target="/ppt/notesSlides/notesSlide21.xml" Id="R83c99b904e4948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8ca45ae734bfa" /><Relationship Type="http://schemas.openxmlformats.org/officeDocument/2006/relationships/notesSlide" Target="/ppt/notesSlides/notesSlide22.xml" Id="Rf328d223d3c040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61812d0d4495c" /><Relationship Type="http://schemas.openxmlformats.org/officeDocument/2006/relationships/notesSlide" Target="/ppt/notesSlides/notesSlide23.xml" Id="R02bd6a995d8a4d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a8f9e5ca44a46" /><Relationship Type="http://schemas.openxmlformats.org/officeDocument/2006/relationships/notesSlide" Target="/ppt/notesSlides/notesSlide24.xml" Id="R4f10f2cc864e4e1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a0b6865984ae1" /><Relationship Type="http://schemas.openxmlformats.org/officeDocument/2006/relationships/notesSlide" Target="/ppt/notesSlides/notesSlide25.xml" Id="Red05ae9dfba448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9a8125ad84586" /><Relationship Type="http://schemas.openxmlformats.org/officeDocument/2006/relationships/notesSlide" Target="/ppt/notesSlides/notesSlide26.xml" Id="R63974da5e0c647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d0c1615fc4727" /><Relationship Type="http://schemas.openxmlformats.org/officeDocument/2006/relationships/notesSlide" Target="/ppt/notesSlides/notesSlide27.xml" Id="Rb4e857d786d348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b0bbb2d21e4900" /><Relationship Type="http://schemas.openxmlformats.org/officeDocument/2006/relationships/notesSlide" Target="/ppt/notesSlides/notesSlide28.xml" Id="Rbd3de86b38ae43e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c5c790deb4a5f" /><Relationship Type="http://schemas.openxmlformats.org/officeDocument/2006/relationships/notesSlide" Target="/ppt/notesSlides/notesSlide29.xml" Id="R6cbbe20e464640d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957503e82454e" /><Relationship Type="http://schemas.openxmlformats.org/officeDocument/2006/relationships/notesSlide" Target="/ppt/notesSlides/notesSlide30.xml" Id="Re4c6d42f220546c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5c758447943d7" /><Relationship Type="http://schemas.openxmlformats.org/officeDocument/2006/relationships/notesSlide" Target="/ppt/notesSlides/notesSlide31.xml" Id="Rb3f86d0f731d42e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9ddef4f7847dc" /><Relationship Type="http://schemas.openxmlformats.org/officeDocument/2006/relationships/notesSlide" Target="/ppt/notesSlides/notesSlide32.xml" Id="R4a6875ff14f94b3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c5d927fe5469d" /><Relationship Type="http://schemas.openxmlformats.org/officeDocument/2006/relationships/notesSlide" Target="/ppt/notesSlides/notesSlide33.xml" Id="R046ed89a02f4491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b994d2dbe456f" /><Relationship Type="http://schemas.openxmlformats.org/officeDocument/2006/relationships/notesSlide" Target="/ppt/notesSlides/notesSlide34.xml" Id="Rffb236be26614e2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066e3f9914234" /><Relationship Type="http://schemas.openxmlformats.org/officeDocument/2006/relationships/notesSlide" Target="/ppt/notesSlides/notesSlide35.xml" Id="R36a19818dc774ae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811dd093d490e" /><Relationship Type="http://schemas.openxmlformats.org/officeDocument/2006/relationships/notesSlide" Target="/ppt/notesSlides/notesSlide36.xml" Id="Rc49643cd6515484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2f751b91c4a15" /><Relationship Type="http://schemas.openxmlformats.org/officeDocument/2006/relationships/notesSlide" Target="/ppt/notesSlides/notesSlide37.xml" Id="R9b923c5b8ddf46c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f31200b65453e" /><Relationship Type="http://schemas.openxmlformats.org/officeDocument/2006/relationships/notesSlide" Target="/ppt/notesSlides/notesSlide38.xml" Id="Rb8381bd7d07c441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e3660484994618" /><Relationship Type="http://schemas.openxmlformats.org/officeDocument/2006/relationships/notesSlide" Target="/ppt/notesSlides/notesSlide39.xml" Id="Rfa0e7d46bba844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7F458-3265-41ED-B9B3-393AC567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3177A5-FA6A-4644-AD59-6594E51E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absdd-image-sandbox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8108C89-D716-402C-88C4-AEEF6700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38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Spec Kit workshop with AI agents</a:t>
            </a:r>
          </a:p>
          <a:p xmlns:a="http://schemas.openxmlformats.org/drawingml/2006/main">
            <a: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For first-year apprentices and non-specialist developers</a:t>
            </a:r>
          </a:p>
          <a:p xmlns:a="http://schemas.openxmlformats.org/drawingml/2006/main">
            <a: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English · Updated 25 October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CF7A11B-747E-444D-A7F6-DDFC4747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01 / 39</a:t>
            </a:r>
          </a:p>
        </p:txBody>
      </p:sp>
    </p:spTree>
    <p:extLst>
      <p:ext uri="{BB962C8B-B14F-4D97-AF65-F5344CB8AC3E}">
        <p14:creationId xmlns:p14="http://schemas.microsoft.com/office/powerpoint/2010/main" val="532446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7327DDD-1B82-4DAC-88C3-04C9527C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Our workflow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39B30ED-A97C-485F-978D-DD216A0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2F948F3-3170-4C03-B1AE-EE0857B8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Understand the environment and your project folder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Prepare Git, agent context and Spec Kit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Review requirements, plans and tasks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Implement within scope and review results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FD248DB-199C-4E19-93F4-0E065BFC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02 / 39</a:t>
            </a:r>
          </a:p>
        </p:txBody>
      </p:sp>
    </p:spTree>
    <p:extLst>
      <p:ext uri="{BB962C8B-B14F-4D97-AF65-F5344CB8AC3E}">
        <p14:creationId xmlns:p14="http://schemas.microsoft.com/office/powerpoint/2010/main" val="1962242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D338B7B5-258D-4531-A9CB-FC21AC1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Host, image and container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CDAB13D-FDBA-473D-AB71-CEB80588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733ED5F-A793-41D4-BA5F-0C85098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286500" cy="2245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Host: your physical computer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Image: a prepared set of tools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Container: a running environment from an image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Mount: a connection to real host files</a:t>
            </a:r>
          </a:p>
        </p:txBody>
      </p:sp>
      <p:sp>
        <p:nvSpPr>
          <p:cNvPr id="4" name="host">
            <a:extLst xmlns:a="http://schemas.openxmlformats.org/drawingml/2006/main">
              <a:ext uri="{FF2B5EF4-FFF2-40B4-BE49-F238E27FC236}">
                <a16:creationId xmlns:a16="http://schemas.microsoft.com/office/drawing/2014/main" id="{E8673056-0DC5-4745-AC5D-04C39880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4000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142875" rIns="142875" bIns="142875">
            <a:noAutofit/>
          </a:bodyPr>
          <a:lstStyle xmlns:a="http://schemas.openxmlformats.org/drawingml/2006/main">
            <a:def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Host</a:t>
            </a:r>
          </a:p>
          <a:p xmlns:a="http://schemas.openxmlformats.org/drawingml/2006/main">
            <a: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selected project folder</a:t>
            </a:r>
          </a:p>
        </p:txBody>
      </p:sp>
      <p:sp>
        <p:nvSpPr>
          <p:cNvPr id="5" name="mount-direction">
            <a:extLst xmlns:a="http://schemas.openxmlformats.org/drawingml/2006/main">
              <a:ext uri="{FF2B5EF4-FFF2-40B4-BE49-F238E27FC236}">
                <a16:creationId xmlns:a16="http://schemas.microsoft.com/office/drawing/2014/main" id="{0F7A84C8-A201-4000-B943-5E949745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32385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6" name="mount-label">
            <a:extLst xmlns:a="http://schemas.openxmlformats.org/drawingml/2006/main">
              <a:ext uri="{FF2B5EF4-FFF2-40B4-BE49-F238E27FC236}">
                <a16:creationId xmlns:a16="http://schemas.microsoft.com/office/drawing/2014/main" id="{76DA82FD-9705-41F0-9E2B-6DD8686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29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6B65"/>
                </a:solidFill>
                <a:latin typeface="Arial"/>
                <a:ea typeface="Arial"/>
                <a:cs typeface="Arial"/>
              </a:rPr>
              <a:t>Mount: real host files</a:t>
            </a:r>
          </a:p>
        </p:txBody>
      </p:sp>
      <p:sp>
        <p:nvSpPr>
          <p:cNvPr id="7" name="container">
            <a:extLst xmlns:a="http://schemas.openxmlformats.org/drawingml/2006/main">
              <a:ext uri="{FF2B5EF4-FFF2-40B4-BE49-F238E27FC236}">
                <a16:creationId xmlns:a16="http://schemas.microsoft.com/office/drawing/2014/main" id="{9E2FE193-C963-40B3-96E4-1EE3D31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142875" rIns="142875" bIns="142875">
            <a:noAutofit/>
          </a:bodyPr>
          <a:lstStyle xmlns:a="http://schemas.openxmlformats.org/drawingml/2006/main">
            <a:def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Linux container</a:t>
            </a:r>
          </a:p>
          <a:p xmlns:a="http://schemas.openxmlformats.org/drawingml/2006/main">
            <a:pPr>
              <a:defRPr sz="217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adedev user</a:t>
            </a:r>
          </a:p>
        </p:txBody>
      </p:sp>
      <p:sp>
        <p:nvSpPr>
          <p:cNvPr id="8" name="volumes">
            <a:extLst xmlns:a="http://schemas.openxmlformats.org/drawingml/2006/main">
              <a:ext uri="{FF2B5EF4-FFF2-40B4-BE49-F238E27FC236}">
                <a16:creationId xmlns:a16="http://schemas.microsoft.com/office/drawing/2014/main" id="{733A9194-AED4-4FDA-B8C1-31D8FA14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626"/>
                </a:solidFill>
                <a:latin typeface="Arial"/>
                <a:ea typeface="Arial"/>
                <a:cs typeface="Arial"/>
              </a:rPr>
              <a:t>Agent state: separate volumes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F8E4EFB7-E748-4FC9-8134-D8902075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03 / 39</a:t>
            </a:r>
          </a:p>
        </p:txBody>
      </p:sp>
    </p:spTree>
    <p:extLst>
      <p:ext uri="{BB962C8B-B14F-4D97-AF65-F5344CB8AC3E}">
        <p14:creationId xmlns:p14="http://schemas.microsoft.com/office/powerpoint/2010/main" val="1332928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8F42AD2-3D2F-43E8-BE74-42AE3F2E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Choose the correct platform path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F72529E-C061-478B-A0A9-19A1AAC4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F5A52F6-834A-41F3-B828-4745B2A6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Apple Silicon: native linux/arm64, no Rosetta fallback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Intel/AMD Windows: PowerShell 7 and Podman machine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Ubuntu/WSL2: its own rootless Linux Podman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Shared hardware does not replace separate evidence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09ED80E3-13EB-4129-9510-2101062C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podman info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podman-compose config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115EE4F-43ED-45C1-8AED-99D9E17A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04 / 39</a:t>
            </a:r>
          </a:p>
        </p:txBody>
      </p:sp>
    </p:spTree>
    <p:extLst>
      <p:ext uri="{BB962C8B-B14F-4D97-AF65-F5344CB8AC3E}">
        <p14:creationId xmlns:p14="http://schemas.microsoft.com/office/powerpoint/2010/main" val="180964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B90265-1469-4D92-9469-4028BF4A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Use your own repository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8C97E03-1F41-41D6-879D-981D730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7DBF340-CA1C-4A1A-A8FE-BA4675B8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Fork by default; template is a later option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origin is your writable remote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upstream needs a suitable reference relationship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GitHub is one route, not a universal requirement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9F75F318-06B1-47D8-B091-FD5DBC4C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status --short --branch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remote -v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58EC82-7F4B-43FD-88BF-1A6BFEBE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05 / 39</a:t>
            </a:r>
          </a:p>
        </p:txBody>
      </p:sp>
    </p:spTree>
    <p:extLst>
      <p:ext uri="{BB962C8B-B14F-4D97-AF65-F5344CB8AC3E}">
        <p14:creationId xmlns:p14="http://schemas.microsoft.com/office/powerpoint/2010/main" val="284916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52682DA-D811-4F7D-A01B-D2EDBC90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Configure project mounts deliberately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32F702B-96D2-4FC9-9BC0-327C3176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4C4F108-48BD-4AFF-8475-C942E46C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.env contains local Compose values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Leave opencode.env unchanged without a provider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Never overwrite existing files with examples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Mount required folders, never your entire home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C7EDA7B7-4EC0-451B-B77D-CD819123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if [ ! -e .env ]; then cp .env.example .env; fi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if [ ! -e opencode.env ]; then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  cp opencode.env.example opencode.env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fi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chmod 600 .env opencode.env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D2EE907-17DD-449C-85CB-04A671E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06 / 39</a:t>
            </a:r>
          </a:p>
        </p:txBody>
      </p:sp>
    </p:spTree>
    <p:extLst>
      <p:ext uri="{BB962C8B-B14F-4D97-AF65-F5344CB8AC3E}">
        <p14:creationId xmlns:p14="http://schemas.microsoft.com/office/powerpoint/2010/main" val="1237701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83BD0E6-1D5B-4E6C-BD4F-1CA30850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 first test without an AI account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EC2F3F1-4A41-4A88-B1DF-8FA364F9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552236A-9CE2-4303-9066-201C4D80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The host opens a container shell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Check user and working directory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Run a small program in the project mount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Matching output is not full platform acceptance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C23DDEA5-AF66-4C06-8789-05D3A2DC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podman compose exec ade bash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Danach im Container / then inside the container: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id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pwd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python -c 'print("Hello from the sandbox")'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77549EF-3A30-46D2-A8F8-98B1217C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07 / 39</a:t>
            </a:r>
          </a:p>
        </p:txBody>
      </p:sp>
    </p:spTree>
    <p:extLst>
      <p:ext uri="{BB962C8B-B14F-4D97-AF65-F5344CB8AC3E}">
        <p14:creationId xmlns:p14="http://schemas.microsoft.com/office/powerpoint/2010/main" val="504896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33A65F-DF80-4AB7-8EEB-E520D7F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Agent context before the task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6948C98-4FD4-46CA-B1E2-119A51D2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DDE40C0-399D-486D-BFC3-5EFD6003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 the project README and existing agent rules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AGENTS.md records durable project conventions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Keep shared rules aligned across maintained agents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Do not automate sign-in or permission escalation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4181699-0302-4DFE-A89A-21E5E101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08 / 39</a:t>
            </a:r>
          </a:p>
        </p:txBody>
      </p:sp>
    </p:spTree>
    <p:extLst>
      <p:ext uri="{BB962C8B-B14F-4D97-AF65-F5344CB8AC3E}">
        <p14:creationId xmlns:p14="http://schemas.microsoft.com/office/powerpoint/2010/main" val="1539498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E5C3E3-361B-4FBA-8803-E0F7C59F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 bounded AGENTS.md request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AECA738-7365-492B-82EB-E45F4B91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9C12C83-7BAC-4639-97BB-E0C5C555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 verifiable repository signals first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Add durable, project-specific rules only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Invent neither commands nor approvals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Request the diff and open assumptions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4407CBF4-6641-440F-BB96-64E189F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Read README, project files, scripts and agent rules.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Add only verifiable project conventions to AGENTS.md.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Preserve safety boundaries and existing guidance.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Show the diff and open assumptions. No commit or push.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333CF7A-A6A1-44A9-83B5-40F1478D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09 / 39</a:t>
            </a:r>
          </a:p>
        </p:txBody>
      </p:sp>
    </p:spTree>
    <p:extLst>
      <p:ext uri="{BB962C8B-B14F-4D97-AF65-F5344CB8AC3E}">
        <p14:creationId xmlns:p14="http://schemas.microsoft.com/office/powerpoint/2010/main" val="343270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EAA2741-55F3-410E-9E05-186434E5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Initialize Spec Kit deliberately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68CE3E-BBA4-4AA1-94EB-22387002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E34021A-E86F-417A-9472-639A79A7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The image pins Spec Kit 1.2.3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Inspect any existing .specify structure first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Select one suitable agent integration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No global installation or unreviewed --force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88D9925C-E3DB-40E5-B39E-9FD61497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--version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check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Nur im vorbereiteten neuen Projekt / new project only: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init . --integration codex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6289F7-2717-4632-873B-D073C8D2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10 / 39</a:t>
            </a:r>
          </a:p>
        </p:txBody>
      </p:sp>
    </p:spTree>
    <p:extLst>
      <p:ext uri="{BB962C8B-B14F-4D97-AF65-F5344CB8AC3E}">
        <p14:creationId xmlns:p14="http://schemas.microsoft.com/office/powerpoint/2010/main" val="335118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AD0859-79D4-40FD-8723-EC5980A4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Shell command or agent invocation?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A1BABB5-FC64-4B01-9910-B52731C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30AC864-CA09-488B-809E-EAFB074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specify init belongs in the shell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$speckit-analyze invokes a Codex skill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Other integrations use different invocation styles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Inspect installed skills instead of guessing syntax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0DD42AC-8ED4-4BAD-8168-98F6FDE5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11 / 39</a:t>
            </a:r>
          </a:p>
        </p:txBody>
      </p:sp>
    </p:spTree>
    <p:extLst>
      <p:ext uri="{BB962C8B-B14F-4D97-AF65-F5344CB8AC3E}">
        <p14:creationId xmlns:p14="http://schemas.microsoft.com/office/powerpoint/2010/main" val="931447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A0ACEC9-4207-4EDB-B6C2-1DA4526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Understand governance presets first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A35F84B-05BF-4572-8D65-6DB7C01B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4A1F0F0-B21C-4438-911E-5F4BDBEA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 preset adds workflow rules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Lower priority numbers take precedence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Installation does not fulfill controls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Inspect installed versions and local changes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88B5D2F6-EEFA-41E1-9A61-AD5FC44A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preset list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status --short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FC04D0C-8674-4335-90FC-6B268DFA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12 / 39</a:t>
            </a:r>
          </a:p>
        </p:txBody>
      </p:sp>
    </p:spTree>
    <p:extLst>
      <p:ext uri="{BB962C8B-B14F-4D97-AF65-F5344CB8AC3E}">
        <p14:creationId xmlns:p14="http://schemas.microsoft.com/office/powerpoint/2010/main" val="1342353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EBF17E9-0AB2-4671-A6D7-4F17EAB6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Six foundational governance presets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9F32C4D-CF04-4370-9094-DB4BFAE3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C7AD7F7-DA34-4CB6-9DFD-7F9FCA16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Security and Architecture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iSAQB Architecture and A11Y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Cross-Platform and Agent Parity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The managed standard profile adds two run-governance presets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2FCBC98-7DE4-4B53-BA4F-B1F78261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13 / 39</a:t>
            </a:r>
          </a:p>
        </p:txBody>
      </p:sp>
    </p:spTree>
    <p:extLst>
      <p:ext uri="{BB962C8B-B14F-4D97-AF65-F5344CB8AC3E}">
        <p14:creationId xmlns:p14="http://schemas.microsoft.com/office/powerpoint/2010/main" val="2985428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C3113CC-787D-41AF-BCC1-26CCC2E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Security and Architecture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E7A6388-76C1-4D59-8422-F916DEE7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0F25897-69D6-4651-AA76-D584991A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Security: protection needs, secrets and supply chains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Architecture: boundaries, decisions and risks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Separate assumptions from evidence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Human approvals remain human decisions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9CDD174-6F77-414C-8ED8-FB6B69D4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14 / 39</a:t>
            </a:r>
          </a:p>
        </p:txBody>
      </p:sp>
    </p:spTree>
    <p:extLst>
      <p:ext uri="{BB962C8B-B14F-4D97-AF65-F5344CB8AC3E}">
        <p14:creationId xmlns:p14="http://schemas.microsoft.com/office/powerpoint/2010/main" val="4220282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0A8EB3E-5669-41B5-951E-7734F3F9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iSAQB and accessibility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BF38A40-5D6B-4D82-A632-7639EBA7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320D651-0B1F-43C7-997A-74DDBEC6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iSAQB: traceable architecture and quality goals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A11Y: understandable content and accessible interaction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German first, equivalent English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Automated checks do not replace human assessment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7987584-D3EB-493E-8EE6-0551478C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15 / 39</a:t>
            </a:r>
          </a:p>
        </p:txBody>
      </p:sp>
    </p:spTree>
    <p:extLst>
      <p:ext uri="{BB962C8B-B14F-4D97-AF65-F5344CB8AC3E}">
        <p14:creationId xmlns:p14="http://schemas.microsoft.com/office/powerpoint/2010/main" val="17700814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82870C-3A10-486F-8456-7A56E07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Cross-Platform and Agent Parity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7545389-BCCF-46D1-B98B-F1CF4810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47FAD8B-0A45-453B-B819-4B5A9578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Label each command's location and shell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Check ARM64 and AMD64 separately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Keep Windows and Ubuntu/WSL2 evidence separate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Synchronize shared agent rules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6588F7D-BB89-4ED8-AC16-640AC1F6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16 / 39</a:t>
            </a:r>
          </a:p>
        </p:txBody>
      </p:sp>
    </p:spTree>
    <p:extLst>
      <p:ext uri="{BB962C8B-B14F-4D97-AF65-F5344CB8AC3E}">
        <p14:creationId xmlns:p14="http://schemas.microsoft.com/office/powerpoint/2010/main" val="7931470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C31F621-4F26-4E96-9D4D-37C9282D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Preview before installation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C934A28-8CD7-437A-970C-8A24E4E0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19D4BE5-BD0A-4213-BB8C-817B89BA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Work in the prepared application project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Select the managed matrix explicitly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Start with --dry-run and human review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Apply nothing without installation authority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20EB8BA1-5BBD-445B-A5A2-FDE3E3F9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repo=/ade-dev-sandbox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matrix="$repo/scripts/config/spec-kit-governance-presets.json"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bash "$repo/scripts/install-spec-kit-governance-presets.sh" \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  --repo "$PWD" --preset-config "$matrix" --dry-run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5DB5B7-A5C6-4803-B264-5DFC983A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17 / 39</a:t>
            </a:r>
          </a:p>
        </p:txBody>
      </p:sp>
    </p:spTree>
    <p:extLst>
      <p:ext uri="{BB962C8B-B14F-4D97-AF65-F5344CB8AC3E}">
        <p14:creationId xmlns:p14="http://schemas.microsoft.com/office/powerpoint/2010/main" val="9781654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545A54-851E-4882-AC23-C39E34F1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Choose additional profiles by need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0F416C0-3CA8-44EE-89A4-48AFA456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DAF3722-94CB-4428-B280-FB2FA461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Intake: capture, review and order requirements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Model Routing: map operational task roles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Assurance: project-specific control evidence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Statistics: optional pilot reporting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E686712-901E-47D9-9742-0F66FBD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18 / 39</a:t>
            </a:r>
          </a:p>
        </p:txBody>
      </p:sp>
    </p:spTree>
    <p:extLst>
      <p:ext uri="{BB962C8B-B14F-4D97-AF65-F5344CB8AC3E}">
        <p14:creationId xmlns:p14="http://schemas.microsoft.com/office/powerpoint/2010/main" val="5080033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408196C-9D57-426A-B9A6-D4E01C52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Record versions and priorities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9BBC981-E1F9-4CA4-8983-F96B5738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7AE8509-2698-4B22-8F5A-ACBFEEEB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Compare the matrix with installed packages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Trace sources and local modifications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Do not broaden profiles accidentally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Record unexplained differences as Open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76B516F5-E936-4A07-9563-76E6C52D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repo=/ade-dev-sandbox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bash "$repo/scripts/install-spec-kit-governance-presets.sh" \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  --repo "$PWD" --check-only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preset list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D30B1E0-A2A2-497D-A856-F8700E6C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19 / 39</a:t>
            </a:r>
          </a:p>
        </p:txBody>
      </p:sp>
    </p:spTree>
    <p:extLst>
      <p:ext uri="{BB962C8B-B14F-4D97-AF65-F5344CB8AC3E}">
        <p14:creationId xmlns:p14="http://schemas.microsoft.com/office/powerpoint/2010/main" val="7274091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1DD253-D9F0-4C2B-8376-1D2052AC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Intake: capture a request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86E6075-70CF-4346-9E54-A940A0E3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45DBF0A-7E9D-4F58-AA04-7BCC9E6B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Name audience, problem and intended result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State scope and non-goals explicitly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Bind ordered, traceable sources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Never guess unresolved decisions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573404C-BF39-4BE4-A078-AA0385E9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20 / 39</a:t>
            </a:r>
          </a:p>
        </p:txBody>
      </p:sp>
    </p:spTree>
    <p:extLst>
      <p:ext uri="{BB962C8B-B14F-4D97-AF65-F5344CB8AC3E}">
        <p14:creationId xmlns:p14="http://schemas.microsoft.com/office/powerpoint/2010/main" val="14201240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BC25F5-C8AD-4BE1-8676-E221808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Review and order before execution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7E3767-4937-43B8-BBAA-7A903E74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CF96B7E-A746-4F95-9A7E-BD591E9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Review requirements fully and independently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State dependencies and handoffs explicitly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Ready and Eligible grant no execution authority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Never bypass a blocked successor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6A627E6-CD9B-4103-B82A-5004BDF1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21 / 39</a:t>
            </a:r>
          </a:p>
        </p:txBody>
      </p:sp>
    </p:spTree>
    <p:extLst>
      <p:ext uri="{BB962C8B-B14F-4D97-AF65-F5344CB8AC3E}">
        <p14:creationId xmlns:p14="http://schemas.microsoft.com/office/powerpoint/2010/main" val="9586313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AA1DBAA-4893-4536-9C10-BA3A5767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Autonomy requires explicit boundaries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5FD928F-8D27-46F6-B4B1-E4FC5676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D7E70C9-C66F-455E-9742-2E0FE2AD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Define goal, files and permitted actions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State stop rules and human-only decisions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Authorize commit, push and merge separately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Model choice remains operational agent guidance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537E800-FD1C-485F-89E8-855483B1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22 / 39</a:t>
            </a:r>
          </a:p>
        </p:txBody>
      </p:sp>
    </p:spTree>
    <p:extLst>
      <p:ext uri="{BB962C8B-B14F-4D97-AF65-F5344CB8AC3E}">
        <p14:creationId xmlns:p14="http://schemas.microsoft.com/office/powerpoint/2010/main" val="18818563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35CCC5-926E-442A-A60C-F1987DE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Evidence instead of green claims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BA1FDF4-CD1F-4283-9272-ED19A152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80E67D5-CC74-4226-BD05-1DF4E07C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Record date, version, platform and result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Open needs owner, follow-up and trigger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N/A needs a reasoned explanation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Statistics do not measure individual performance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82B1714-9797-41C8-A4F4-0770267A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23 / 39</a:t>
            </a:r>
          </a:p>
        </p:txBody>
      </p:sp>
    </p:spTree>
    <p:extLst>
      <p:ext uri="{BB962C8B-B14F-4D97-AF65-F5344CB8AC3E}">
        <p14:creationId xmlns:p14="http://schemas.microsoft.com/office/powerpoint/2010/main" val="1148566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E56FF92-265D-4B31-81AA-D991003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Do not overwrite existing projects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97A0E17-C8BB-437E-A09D-9B51DBA7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9BFC485-F44F-48D1-B21E-C355A5CD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 git status before setup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Preserve local rules and presets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Keep changes small and reviewable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Never repair by applying blanket --force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0B4ED2FA-CC6D-4B8F-B93F-2DED5BF6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status --short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diff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preset list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F539886-C942-4B59-A39E-7A2C411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24 / 39</a:t>
            </a:r>
          </a:p>
        </p:txBody>
      </p:sp>
    </p:spTree>
    <p:extLst>
      <p:ext uri="{BB962C8B-B14F-4D97-AF65-F5344CB8AC3E}">
        <p14:creationId xmlns:p14="http://schemas.microsoft.com/office/powerpoint/2010/main" val="9919801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D2824C-8821-4FEB-834B-C1B2299F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Our example: SysInfoTool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A0E2EA1-78BF-4F95-ABB8-D4FD004A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146ECC5-02B8-4E58-8899-5B59ABB4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 small console program using fictional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Choose one of the six language toolchains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Collect no real user, host or network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Do not start implementation yet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E93621D-A24F-443A-8E55-234FFF3A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25 / 39</a:t>
            </a:r>
          </a:p>
        </p:txBody>
      </p:sp>
    </p:spTree>
    <p:extLst>
      <p:ext uri="{BB962C8B-B14F-4D97-AF65-F5344CB8AC3E}">
        <p14:creationId xmlns:p14="http://schemas.microsoft.com/office/powerpoint/2010/main" val="11344975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EB69045-48BC-4105-B6D1-349ABAC7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Constitution: project principles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06A6DE4-597F-4054-8A0E-E95D85CE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2774F0E-124D-4489-B488-7CEB56D0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Durable rules for the application project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State security, quality and responsibilities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Distinguish MUST, SHOULD and MAY deliberately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 an existing constitution first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B23DBE97-AFF3-4A6D-B767-0128B31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$speckit-constitution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Review existing project principles for SysInfoTool.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Use fictional data only; no secrets or providers.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Show impacts on dependent artifacts.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implementation, commit or push.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5401A3B-C3DC-47BB-8C30-7246A38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26 / 39</a:t>
            </a:r>
          </a:p>
        </p:txBody>
      </p:sp>
    </p:spTree>
    <p:extLst>
      <p:ext uri="{BB962C8B-B14F-4D97-AF65-F5344CB8AC3E}">
        <p14:creationId xmlns:p14="http://schemas.microsoft.com/office/powerpoint/2010/main" val="5654778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2B1D0DC-EF44-4763-A206-3FC9A1E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Specify: describe requirements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DAADF91-0BD9-4371-8A64-8A897B47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50CEB9B-56DC-4747-95FC-C5DEEC2F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Describe audience, value and boundaries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Require verifiability, not design details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State non-goals explicitly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 and understand the resulting spec.md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F5ADFB03-6C14-4D8D-B0D0-48804057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$speckit-specify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Specify SysInfoTool with three fictional example values.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Define DE/EN output, failure cases and success criteria.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real system-data collection or network connection.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implementation or Git delivery.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6BAE933-81A6-483E-9AC0-90BFB205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27 / 39</a:t>
            </a:r>
          </a:p>
        </p:txBody>
      </p:sp>
    </p:spTree>
    <p:extLst>
      <p:ext uri="{BB962C8B-B14F-4D97-AF65-F5344CB8AC3E}">
        <p14:creationId xmlns:p14="http://schemas.microsoft.com/office/powerpoint/2010/main" val="19766177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4DDD04D-9C04-447F-B664-9C012D72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Clarify: resolve important decisions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E6D90EB-3508-4A32-B61F-9637106D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AF36605-E722-423C-8AF7-57DB961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Ask only questions with material consequences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Ask one question at a time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At most five questions per pass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Record decisions and reasoning traceably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A7A6A579-48AE-446B-AF63-167E695B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$speckit-clarify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Inspect the active SysInfoTool spec for material ambiguity.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At most five questions, one at a time, with a recommendation.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implementation; preserve recorded decisions.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90EC475-EC12-4EE2-9E3E-607DDBAB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28 / 39</a:t>
            </a:r>
          </a:p>
        </p:txBody>
      </p:sp>
    </p:spTree>
    <p:extLst>
      <p:ext uri="{BB962C8B-B14F-4D97-AF65-F5344CB8AC3E}">
        <p14:creationId xmlns:p14="http://schemas.microsoft.com/office/powerpoint/2010/main" val="4064772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985B5D-9AEE-47F6-97DB-DE6351FB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Clarify or defer deliberately?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1CADB58-A696-4061-B1FC-04DC94CF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4EDF529-0487-42F4-90D2-E2DF4A4A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Decide requirements and safety boundaries now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Put implementation details in the later plan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Record deferred items with owner and trigger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Stop on blockers instead of inventing approval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F2515A3-92D7-458C-A5A1-627FDC4F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29 / 39</a:t>
            </a:r>
          </a:p>
        </p:txBody>
      </p:sp>
    </p:spTree>
    <p:extLst>
      <p:ext uri="{BB962C8B-B14F-4D97-AF65-F5344CB8AC3E}">
        <p14:creationId xmlns:p14="http://schemas.microsoft.com/office/powerpoint/2010/main" val="21462431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B57E73E-E389-443C-9355-930B5F73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Plan: prepare the technical approach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616D397-12C7-4B22-A71E-0FADED48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88A8BFA-0344-4781-A91E-ACBB3E61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Translate requirements into a suitable technical approach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Preserve security and architecture boundaries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Plan relevant evidence and tests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Do not implement yet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A1A9E6EA-5288-41D4-A775-77C7EA28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$speckit-plan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Plan only the active SysInfoTool specification.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Use existing project conventions and test tools.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Explain N/A and document missing evidence.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Do not generate tasks or start implementation.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378567-CA14-47D5-842E-39F18C23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30 / 39</a:t>
            </a:r>
          </a:p>
        </p:txBody>
      </p:sp>
    </p:spTree>
    <p:extLst>
      <p:ext uri="{BB962C8B-B14F-4D97-AF65-F5344CB8AC3E}">
        <p14:creationId xmlns:p14="http://schemas.microsoft.com/office/powerpoint/2010/main" val="15163984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1030BA7-BCFA-4FFC-90DD-E6E5693B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Checklist: requirements quality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8E8A8EB-BA2A-425E-87F1-C2B1767B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B194BFF-3BA0-41BD-B493-5EB2EDB1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Are statements clear and complete?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Are criteria measurable and consistent?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Does each item explain how to review it?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This is not an implementation or functional test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814D6DF0-37E5-4879-BE1C-74138505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$speckit-checklist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Assess the quality of the active requirements.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Each item needs a reference and review instruction.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builds, runtime tests or implementation checks.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5D6129-F355-400A-B170-D3F574B3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31 / 39</a:t>
            </a:r>
          </a:p>
        </p:txBody>
      </p:sp>
    </p:spTree>
    <p:extLst>
      <p:ext uri="{BB962C8B-B14F-4D97-AF65-F5344CB8AC3E}">
        <p14:creationId xmlns:p14="http://schemas.microsoft.com/office/powerpoint/2010/main" val="19648188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5012A3-53BA-46E1-819D-9CBD1C30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Tasks: small actionable steps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54C01C1-AD9C-4990-9732-F7B0B7C3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452CFFE-DFF3-4360-A170-519085CD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Cover every requirement with tasks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Name dependencies and concrete files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Use [P] only for truly independent work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Mark [X] only after completion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53948E1B-DBF5-4B0A-897F-561816F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$speckit-tasks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Generate tasks.md from the active spec.md and plan.md.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Name dependencies, files and validation.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implementation, commit or push.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EE59B5D-930A-4585-9D2F-297E954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32 / 39</a:t>
            </a:r>
          </a:p>
        </p:txBody>
      </p:sp>
    </p:spTree>
    <p:extLst>
      <p:ext uri="{BB962C8B-B14F-4D97-AF65-F5344CB8AC3E}">
        <p14:creationId xmlns:p14="http://schemas.microsoft.com/office/powerpoint/2010/main" val="2245217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EC19207-ACFB-42BE-81A4-262B9EB9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Analyze: compare artifacts read-only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2066E09-D0A3-4563-969F-62DB0534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0D8830E-903D-4588-AB30-C6FB3336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Check consistency across spec, plan and tasks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Map requirements and success criteria to tasks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Report stable finding IDs and severity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Change no files during Analyze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471F7604-ACCD-41C1-86C8-2BE705DB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$speckit-analyze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Review the active spec, plan and tasks strictly read-only.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Report gaps, conflicts and missing task coverage.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remediation, builds, commits or pushes.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E9BB373-B104-48C9-A5B2-1BB552C1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33 / 39</a:t>
            </a:r>
          </a:p>
        </p:txBody>
      </p:sp>
    </p:spTree>
    <p:extLst>
      <p:ext uri="{BB962C8B-B14F-4D97-AF65-F5344CB8AC3E}">
        <p14:creationId xmlns:p14="http://schemas.microsoft.com/office/powerpoint/2010/main" val="16245640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905C4ED-42BB-4527-A56F-DF499B81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Fix findings with a bounded request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A8A5F2-6AC4-43EC-B36C-9CC52AA8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953CB9F-C213-41E7-80AD-445E6A52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Name findings and affected files first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Authorize corrections separately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Recheck the relevant changed revision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Stop when decisions remain unresolved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92EC7526-1442-41ED-AE86-9BFB92C0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Fix only the confirmed findings C1 and C2.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Preserve safety boundaries and the agreed scope.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feature implementation, commit or push.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Report changes; perform a read-only analysis afterwards.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B4B6385-252D-48F2-9765-666B27F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34 / 39</a:t>
            </a:r>
          </a:p>
        </p:txBody>
      </p:sp>
    </p:spTree>
    <p:extLst>
      <p:ext uri="{BB962C8B-B14F-4D97-AF65-F5344CB8AC3E}">
        <p14:creationId xmlns:p14="http://schemas.microsoft.com/office/powerpoint/2010/main" val="9258039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12CB2E-1EB6-4892-8825-BF299274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Implement: only with current authority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5A3DD10-953B-4B31-B85C-98290832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E07A92A-F5B7-430A-9D5A-C20F351D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Reread the current spec, plan and tasks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Check prerequisites and checklists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Implement in dependency order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Record actual tests and stopping conditions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8F734836-5CAA-48C2-B2C4-34CA1B24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$speckit-implement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Implement only the authorized SysInfoTool tasks.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Mark tasks complete only after verifiable completion.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Stop on secrets or missing human decisions.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No commit, push, container rebuild or hosting changes.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2134D7D-0651-4FDB-987A-C278997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35 / 39</a:t>
            </a:r>
          </a:p>
        </p:txBody>
      </p:sp>
    </p:spTree>
    <p:extLst>
      <p:ext uri="{BB962C8B-B14F-4D97-AF65-F5344CB8AC3E}">
        <p14:creationId xmlns:p14="http://schemas.microsoft.com/office/powerpoint/2010/main" val="13469388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27CB3E2-365F-4BF7-9AA1-2EFBEB55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Review, tests and safe data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01F6CA1-7AB4-44FA-A5EF-CF7A1B74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ED94AEF-94D1-4FDA-AF52-8696869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Review changed and new files with a human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Distinguish planned tests from executed tests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Save project files in the intended mount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Decide on commit and push separately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2DA96E08-541C-4F3B-9A28-586E57E6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status --short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git diff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Im Anwendungsprojekt / in the application project: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dokumentierte Projekttests / documented project tests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6155C9E-5704-444F-B8CC-7EE70D10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36 / 39</a:t>
            </a:r>
          </a:p>
        </p:txBody>
      </p:sp>
    </p:spTree>
    <p:extLst>
      <p:ext uri="{BB962C8B-B14F-4D97-AF65-F5344CB8AC3E}">
        <p14:creationId xmlns:p14="http://schemas.microsoft.com/office/powerpoint/2010/main" val="21188175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6AC127-07C9-40B9-878B-35329FC1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End the session cleanly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BA7AF8F-F87E-432A-B82C-243F85D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C52BD13-444C-4BA1-A702-BCF56799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856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Save work in the project mount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Leave the container shell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Run the audit wrapper on the host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10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Do not remove volumes during routine shutdown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45B16E19-BAFE-4034-A250-56377A31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5082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71450" tIns="171450" rIns="171450" bIns="171450">
            <a:noAutofit/>
          </a:bodyPr>
          <a:lstStyle xmlns:a="http://schemas.openxmlformats.org/drawingml/2006/main">
            <a:def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Host, Bash: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bash scripts/compose-down-with-audit.sh --podman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# Host, PowerShell 7 (Alternative):</a:t>
            </a:r>
          </a:p>
          <a:p xmlns:a="http://schemas.openxmlformats.org/drawingml/2006/main">
            <a:pPr>
              <a:def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82626"/>
                </a:solidFill>
                <a:latin typeface="Courier New"/>
                <a:ea typeface="Courier New"/>
                <a:cs typeface="Courier New"/>
              </a:rPr>
              <a:t>.\scripts\compose-down-with-audit.ps1 -Engine podman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9E308AD-974E-42BC-9831-2AB9D9A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37 / 39</a:t>
            </a:r>
          </a:p>
        </p:txBody>
      </p:sp>
    </p:spTree>
    <p:extLst>
      <p:ext uri="{BB962C8B-B14F-4D97-AF65-F5344CB8AC3E}">
        <p14:creationId xmlns:p14="http://schemas.microsoft.com/office/powerpoint/2010/main" val="2984746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357AFFA-79CD-44E1-9EB2-E272E77A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Key terms to remember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D79E590-B7EA-4AB9-A5EF-D5C25B61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4A0C429-C473-4B61-99F6-3C811B38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Spec: checkable requirements; plan: technical approach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Tasks: small steps; evidence: actual proof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Open: unresolved; N/A: justified non-applicability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Ready grants no execution, product or release approval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9FB7057-9115-458A-A613-D409AB1A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38 / 39</a:t>
            </a:r>
          </a:p>
        </p:txBody>
      </p:sp>
    </p:spTree>
    <p:extLst>
      <p:ext uri="{BB962C8B-B14F-4D97-AF65-F5344CB8AC3E}">
        <p14:creationId xmlns:p14="http://schemas.microsoft.com/office/powerpoint/2010/main" val="18392207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4086C3-854D-43D6-8920-EEDD3C98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626"/>
                </a:solidFill>
                <a:latin typeface="Arial"/>
                <a:ea typeface="Arial"/>
                <a:cs typeface="Arial"/>
              </a:rPr>
              <a:t>Next step and materials</a:t>
            </a:r>
          </a:p>
        </p:txBody>
      </p:sp>
      <p:sp>
        <p:nvSpPr>
          <p:cNvPr id="2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13827D7-9043-4F8B-9B7F-87D4A7BC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5"/>
          </a:solidFill>
          <a:ln xmlns:a="http://schemas.openxmlformats.org/drawingml/2006/main">
            <a:noFill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52B35D0-97DB-4551-A9F8-41DF1EA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139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Choose a learning path and suitable toolchain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Start one small, explicitly authorized project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Discuss questions and missing evidence with the instructor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2550" b="0">
                <a:solidFill>
                  <a:srgbClr val="182626"/>
                </a:solidFill>
                <a:latin typeface="Arial"/>
                <a:ea typeface="Arial"/>
                <a:cs typeface="Arial"/>
              </a:defRPr>
            </a:pPr>
            <a:r>
              <a:t>Keep the Markdown, speaker notes and profile matrix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64BF3C5-896E-4D4A-8D03-F2A73E0A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B5B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B5B"/>
                </a:solidFill>
                <a:latin typeface="Arial"/>
                <a:ea typeface="Arial"/>
                <a:cs typeface="Arial"/>
              </a:rPr>
              <a:t>absdd-image-sandbox  |  EN  |  39 / 39</a:t>
            </a:r>
          </a:p>
        </p:txBody>
      </p:sp>
    </p:spTree>
    <p:extLst>
      <p:ext uri="{BB962C8B-B14F-4D97-AF65-F5344CB8AC3E}">
        <p14:creationId xmlns:p14="http://schemas.microsoft.com/office/powerpoint/2010/main" val="196613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2026-10-25T16:25:35.1760000Z</dcterms:created>
  <dcterms:modified xsi:type="dcterms:W3CDTF">2026-10-25T16:25:35.1760000Z</dcterms:modified>
</coreProperties>
</file>